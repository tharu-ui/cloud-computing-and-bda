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sldSz cx="121793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FD7E7"/>
          </a:solidFill>
        </a:fill>
      </a:tcStyle>
    </a:wholeTbl>
    <a:band2H>
      <a:tcTxStyle/>
      <a:tcStyle>
        <a:tcBdr/>
        <a:fill>
          <a:solidFill>
            <a:srgbClr val="E8ECF4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EE7D0"/>
          </a:solidFill>
        </a:fill>
      </a:tcStyle>
    </a:wholeTbl>
    <a:band2H>
      <a:tcTxStyle/>
      <a:tcStyle>
        <a:tcBdr/>
        <a:fill>
          <a:solidFill>
            <a:srgbClr val="EFF3E9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FCDCCE"/>
          </a:solidFill>
        </a:fill>
      </a:tcStyle>
    </a:wholeTbl>
    <a:band2H>
      <a:tcTxStyle/>
      <a:tcStyle>
        <a:tcBdr/>
        <a:fill>
          <a:solidFill>
            <a:srgbClr val="FDEEE8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/>
      <a:tcStyle>
        <a:tcBdr/>
        <a:fill>
          <a:solidFill>
            <a:srgbClr val="E6E6E6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4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Slide 1: Opening and team identity.</a:t>
            </a:r>
          </a:p>
          <a:p>
            <a:r>
              <a:t>Present the project evidence, not the template instruction.</a:t>
            </a:r>
          </a:p>
          <a:p>
            <a:r>
              <a:t>Replace all bracketed fields and delete the bottom STUDENT ACTION rail before the final defense.</a:t>
            </a:r>
          </a:p>
          <a:p>
            <a:r>
              <a:t>Keep claims measurable and be prepared to show the linked repository, deployment, test or source.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Slide 2: Executive Summary.</a:t>
            </a:r>
          </a:p>
          <a:p>
            <a:r>
              <a:t>Present the project evidence, not the template instruction.</a:t>
            </a:r>
          </a:p>
          <a:p>
            <a:r>
              <a:t>Replace all bracketed fields and delete the bottom STUDENT ACTION rail before the final defense.</a:t>
            </a:r>
          </a:p>
          <a:p>
            <a:r>
              <a:t>Keep claims measurable and be prepared to show the linked repository, deployment, test or source.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Slide 3: Research Evidence and Gap.</a:t>
            </a:r>
          </a:p>
          <a:p>
            <a:r>
              <a:t>Present the project evidence, not the template instruction.</a:t>
            </a:r>
          </a:p>
          <a:p>
            <a:r>
              <a:t>Replace all bracketed fields and delete the bottom STUDENT ACTION rail before the final defense.</a:t>
            </a:r>
          </a:p>
          <a:p>
            <a:r>
              <a:t>Keep claims measurable and be prepared to show the linked repository, deployment, test or source.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Slide 4: Technical Problem Definition.</a:t>
            </a:r>
          </a:p>
          <a:p>
            <a:r>
              <a:t>Present the project evidence, not the template instruction.</a:t>
            </a:r>
          </a:p>
          <a:p>
            <a:r>
              <a:t>Replace all bracketed fields and delete the bottom STUDENT ACTION rail before the final defense.</a:t>
            </a:r>
          </a:p>
          <a:p>
            <a:r>
              <a:t>Keep claims measurable and be prepared to show the linked repository, deployment, test or source.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Slide 5: User and Industry Context.</a:t>
            </a:r>
          </a:p>
          <a:p>
            <a:r>
              <a:t>Present the project evidence, not the template instruction.</a:t>
            </a:r>
          </a:p>
          <a:p>
            <a:r>
              <a:t>Replace all bracketed fields and delete the bottom STUDENT ACTION rail before the final defense.</a:t>
            </a:r>
          </a:p>
          <a:p>
            <a:r>
              <a:t>Keep claims measurable and be prepared to show the linked repository, deployment, test or source.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Slide 6: Engineering Objectives and Acceptance Criteria.</a:t>
            </a:r>
          </a:p>
          <a:p>
            <a:r>
              <a:t>Present the project evidence, not the template instruction.</a:t>
            </a:r>
          </a:p>
          <a:p>
            <a:r>
              <a:t>Replace all bracketed fields and delete the bottom STUDENT ACTION rail before the final defense.</a:t>
            </a:r>
          </a:p>
          <a:p>
            <a:r>
              <a:t>Keep claims measurable and be prepared to show the linked repository, deployment, test or source.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Slide 7: Cloud System Architecture.</a:t>
            </a:r>
          </a:p>
          <a:p>
            <a:r>
              <a:t>Present the project evidence, not the template instruction.</a:t>
            </a:r>
          </a:p>
          <a:p>
            <a:r>
              <a:t>Replace all bracketed fields and delete the bottom STUDENT ACTION rail before the final defense.</a:t>
            </a:r>
          </a:p>
          <a:p>
            <a:r>
              <a:t>Keep claims measurable and be prepared to show the linked repository, deployment, test or source.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Slide 8: Module 1: Functional Scope.</a:t>
            </a:r>
          </a:p>
          <a:p>
            <a:r>
              <a:t>Present the project evidence, not the template instruction.</a:t>
            </a:r>
          </a:p>
          <a:p>
            <a:r>
              <a:t>Replace all bracketed fields and delete the bottom STUDENT ACTION rail before the final defense.</a:t>
            </a:r>
          </a:p>
          <a:p>
            <a:r>
              <a:t>Keep claims measurable and be prepared to show the linked repository, deployment, test or source.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Slide 9: Module 1: Technical Design.</a:t>
            </a:r>
          </a:p>
          <a:p>
            <a:r>
              <a:t>Present the project evidence, not the template instruction.</a:t>
            </a:r>
          </a:p>
          <a:p>
            <a:r>
              <a:t>Replace all bracketed fields and delete the bottom STUDENT ACTION rail before the final defense.</a:t>
            </a:r>
          </a:p>
          <a:p>
            <a:r>
              <a:t>Keep claims measurable and be prepared to show the linked repository, deployment, test or source.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Slide 10: Module 1: Implementation Evidence.</a:t>
            </a:r>
          </a:p>
          <a:p>
            <a:r>
              <a:t>Present the project evidence, not the template instruction.</a:t>
            </a:r>
          </a:p>
          <a:p>
            <a:r>
              <a:t>Replace all bracketed fields and delete the bottom STUDENT ACTION rail before the final defense.</a:t>
            </a:r>
          </a:p>
          <a:p>
            <a:r>
              <a:t>Keep claims measurable and be prepared to show the linked repository, deployment, test or source.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Slide 11: Module 2: Functional Scope.</a:t>
            </a:r>
          </a:p>
          <a:p>
            <a:r>
              <a:t>Present the project evidence, not the template instruction.</a:t>
            </a:r>
          </a:p>
          <a:p>
            <a:r>
              <a:t>Replace all bracketed fields and delete the bottom STUDENT ACTION rail before the final defense.</a:t>
            </a:r>
          </a:p>
          <a:p>
            <a:r>
              <a:t>Keep claims measurable and be prepared to show the linked repository, deployment, test or source.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Slide 12: Module 2: Technical Design.</a:t>
            </a:r>
          </a:p>
          <a:p>
            <a:r>
              <a:t>Present the project evidence, not the template instruction.</a:t>
            </a:r>
          </a:p>
          <a:p>
            <a:r>
              <a:t>Replace all bracketed fields and delete the bottom STUDENT ACTION rail before the final defense.</a:t>
            </a:r>
          </a:p>
          <a:p>
            <a:r>
              <a:t>Keep claims measurable and be prepared to show the linked repository, deployment, test or source.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Slide 13: Module 2: Implementation Evidence.</a:t>
            </a:r>
          </a:p>
          <a:p>
            <a:r>
              <a:t>Present the project evidence, not the template instruction.</a:t>
            </a:r>
          </a:p>
          <a:p>
            <a:r>
              <a:t>Replace all bracketed fields and delete the bottom STUDENT ACTION rail before the final defense.</a:t>
            </a:r>
          </a:p>
          <a:p>
            <a:r>
              <a:t>Keep claims measurable and be prepared to show the linked repository, deployment, test or source.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Slide 14: Module 3: Functional Scope.</a:t>
            </a:r>
          </a:p>
          <a:p>
            <a:r>
              <a:t>Present the project evidence, not the template instruction.</a:t>
            </a:r>
          </a:p>
          <a:p>
            <a:r>
              <a:t>Replace all bracketed fields and delete the bottom STUDENT ACTION rail before the final defense.</a:t>
            </a:r>
          </a:p>
          <a:p>
            <a:r>
              <a:t>Keep claims measurable and be prepared to show the linked repository, deployment, test or source.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Slide 15: Module 3: Technical Design.</a:t>
            </a:r>
          </a:p>
          <a:p>
            <a:r>
              <a:t>Present the project evidence, not the template instruction.</a:t>
            </a:r>
          </a:p>
          <a:p>
            <a:r>
              <a:t>Replace all bracketed fields and delete the bottom STUDENT ACTION rail before the final defense.</a:t>
            </a:r>
          </a:p>
          <a:p>
            <a:r>
              <a:t>Keep claims measurable and be prepared to show the linked repository, deployment, test or source.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Slide 16: Module 3: Implementation Evidence.</a:t>
            </a:r>
          </a:p>
          <a:p>
            <a:r>
              <a:t>Present the project evidence, not the template instruction.</a:t>
            </a:r>
          </a:p>
          <a:p>
            <a:r>
              <a:t>Replace all bracketed fields and delete the bottom STUDENT ACTION rail before the final defense.</a:t>
            </a:r>
          </a:p>
          <a:p>
            <a:r>
              <a:t>Keep claims measurable and be prepared to show the linked repository, deployment, test or source.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Slide 17: Integrated Product Implementation.</a:t>
            </a:r>
          </a:p>
          <a:p>
            <a:r>
              <a:t>Present the project evidence, not the template instruction.</a:t>
            </a:r>
          </a:p>
          <a:p>
            <a:r>
              <a:t>Replace all bracketed fields and delete the bottom STUDENT ACTION rail before the final defense.</a:t>
            </a:r>
          </a:p>
          <a:p>
            <a:r>
              <a:t>Keep claims measurable and be prepared to show the linked repository, deployment, test or source.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Slide 18: Deployment and Functional Flow.</a:t>
            </a:r>
          </a:p>
          <a:p>
            <a:r>
              <a:t>Present the project evidence, not the template instruction.</a:t>
            </a:r>
          </a:p>
          <a:p>
            <a:r>
              <a:t>Replace all bracketed fields and delete the bottom STUDENT ACTION rail before the final defense.</a:t>
            </a:r>
          </a:p>
          <a:p>
            <a:r>
              <a:t>Keep claims measurable and be prepared to show the linked repository, deployment, test or source.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Slide 19: Results and Performance Evaluation.</a:t>
            </a:r>
          </a:p>
          <a:p>
            <a:r>
              <a:t>Present the project evidence, not the template instruction.</a:t>
            </a:r>
          </a:p>
          <a:p>
            <a:r>
              <a:t>Replace all bracketed fields and delete the bottom STUDENT ACTION rail before the final defense.</a:t>
            </a:r>
          </a:p>
          <a:p>
            <a:r>
              <a:t>Keep claims measurable and be prepared to show the linked repository, deployment, test or source.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Slide 20: Test and Validation Evidence.</a:t>
            </a:r>
          </a:p>
          <a:p>
            <a:r>
              <a:t>Present the project evidence, not the template instruction.</a:t>
            </a:r>
          </a:p>
          <a:p>
            <a:r>
              <a:t>Replace all bracketed fields and delete the bottom STUDENT ACTION rail before the final defense.</a:t>
            </a:r>
          </a:p>
          <a:p>
            <a:r>
              <a:t>Keep claims measurable and be prepared to show the linked repository, deployment, test or source.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Slide 21: Security, Privacy, Sustainability and Standards.</a:t>
            </a:r>
          </a:p>
          <a:p>
            <a:r>
              <a:t>Present the project evidence, not the template instruction.</a:t>
            </a:r>
          </a:p>
          <a:p>
            <a:r>
              <a:t>Replace all bracketed fields and delete the bottom STUDENT ACTION rail before the final defense.</a:t>
            </a:r>
          </a:p>
          <a:p>
            <a:r>
              <a:t>Keep claims measurable and be prepared to show the linked repository, deployment, test or source.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Slide 22: Conclusion and Production Roadmap.</a:t>
            </a:r>
          </a:p>
          <a:p>
            <a:r>
              <a:t>Present the project evidence, not the template instruction.</a:t>
            </a:r>
          </a:p>
          <a:p>
            <a:r>
              <a:t>Replace all bracketed fields and delete the bottom STUDENT ACTION rail before the final defense.</a:t>
            </a:r>
          </a:p>
          <a:p>
            <a:r>
              <a:t>Keep claims measurable and be prepared to show the linked repository, deployment, test or source.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Slide 23: References and Project Artefacts.</a:t>
            </a:r>
          </a:p>
          <a:p>
            <a:r>
              <a:t>Present the project evidence, not the template instruction.</a:t>
            </a:r>
          </a:p>
          <a:p>
            <a:r>
              <a:t>Replace all bracketed fields and delete the bottom STUDENT ACTION rail before the final defense.</a:t>
            </a:r>
          </a:p>
          <a:p>
            <a:r>
              <a:t>Keep claims measurable and be prepared to show the linked repository, deployment, test or source.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Slide 24: Final Infrastructure Defense.</a:t>
            </a:r>
          </a:p>
          <a:p>
            <a:r>
              <a:t>Present the project evidence, not the template instruction.</a:t>
            </a:r>
          </a:p>
          <a:p>
            <a:r>
              <a:t>Replace all bracketed fields and delete the bottom STUDENT ACTION rail before the final defense.</a:t>
            </a:r>
          </a:p>
          <a:p>
            <a:r>
              <a:t>Keep claims measurable and be prepared to show the linked repository, deployment, test or source.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Text">
            <a:extLst>
              <a:ext uri="{FF2B5EF4-FFF2-40B4-BE49-F238E27FC236}">
                <a16:creationId xmlns:a16="http://schemas.microsoft.com/office/drawing/2014/main" id="{35E5E9F0-4F9B-4C87-A8C5-3C4EFCC1C9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/>
          <a:p>
            <a:pPr>
              <a:buNone/>
            </a:pPr>
            <a:r>
              <a:t>Title Text</a:t>
            </a:r>
          </a:p>
        </p:txBody>
      </p:sp>
      <p:sp>
        <p:nvSpPr>
          <p:cNvPr id="12" name="Body Level One…">
            <a:extLst>
              <a:ext uri="{FF2B5EF4-FFF2-40B4-BE49-F238E27FC236}">
                <a16:creationId xmlns:a16="http://schemas.microsoft.com/office/drawing/2014/main" id="{572D03A0-3306-474A-83C3-7B7E9840F4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SzTx/>
              <a:buFontTx/>
              <a:buNone/>
              <a:defRPr>
                <a:solidFill>
                  <a:srgbClr val="888888"/>
                </a:solidFill>
              </a:defRPr>
            </a:lvl1pPr>
            <a:lvl2pPr marL="0" indent="457200" algn="ctr">
              <a:buSzTx/>
              <a:buFontTx/>
              <a:buNone/>
              <a:defRPr>
                <a:solidFill>
                  <a:srgbClr val="888888"/>
                </a:solidFill>
              </a:defRPr>
            </a:lvl2pPr>
            <a:lvl3pPr marL="0" indent="914400" algn="ctr">
              <a:buSzTx/>
              <a:buFontTx/>
              <a:buNone/>
              <a:defRPr>
                <a:solidFill>
                  <a:srgbClr val="888888"/>
                </a:solidFill>
              </a:defRPr>
            </a:lvl3pPr>
            <a:lvl4pPr marL="0" indent="1371600" algn="ctr">
              <a:buSzTx/>
              <a:buFontTx/>
              <a:buNone/>
              <a:defRPr>
                <a:solidFill>
                  <a:srgbClr val="888888"/>
                </a:solidFill>
              </a:defRPr>
            </a:lvl4pPr>
            <a:lvl5pPr marL="0" indent="1828800" algn="ctr">
              <a:buSzTx/>
              <a:buFontTx/>
              <a:buNone/>
              <a:defRPr>
                <a:solidFill>
                  <a:srgbClr val="888888"/>
                </a:solidFill>
              </a:defRPr>
            </a:lvl5pPr>
          </a:lstStyle>
          <a:p>
            <a:pPr>
              <a:buNone/>
            </a:pPr>
            <a:r>
              <a:t>Body Level One</a:t>
            </a:r>
          </a:p>
          <a:p>
            <a:pPr lvl="1">
              <a:buNone/>
            </a:pPr>
            <a:r>
              <a:t>Body Level Two</a:t>
            </a:r>
          </a:p>
          <a:p>
            <a:pPr lvl="2">
              <a:buNone/>
            </a:pPr>
            <a:r>
              <a:t>Body Level Three</a:t>
            </a:r>
          </a:p>
          <a:p>
            <a:pPr lvl="3">
              <a:buNone/>
            </a:pPr>
            <a:r>
              <a:t>Body Level Four</a:t>
            </a:r>
          </a:p>
          <a:p>
            <a:pPr lvl="4">
              <a:buNone/>
            </a:pPr>
            <a:r>
              <a:t>Body Level Five</a:t>
            </a:r>
          </a:p>
        </p:txBody>
      </p:sp>
      <p:sp>
        <p:nvSpPr>
          <p:cNvPr id="13" name="Slide Number">
            <a:extLst>
              <a:ext uri="{FF2B5EF4-FFF2-40B4-BE49-F238E27FC236}">
                <a16:creationId xmlns:a16="http://schemas.microsoft.com/office/drawing/2014/main" id="{8FDC76A9-B867-4711-95EE-73B667B99A3F}"/>
              </a:ext>
            </a:extLst>
          </p:cNvPr>
          <p:cNvSpPr>
            <a:spLocks noGrp="1"/>
          </p:cNvSpPr>
          <p:nvPr>
            <p:ph type="sldNum" idx="2"/>
          </p:nvPr>
        </p:nvSpPr>
        <p:spPr>
          <a:prstGeom prst="rect">
            <a:avLst/>
          </a:prstGeom>
        </p:spPr>
        <p:txBody>
          <a:bodyPr/>
          <a:lstStyle/>
          <a:p>
            <a:pPr>
              <a:buNone/>
            </a:pP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Text">
            <a:extLst>
              <a:ext uri="{FF2B5EF4-FFF2-40B4-BE49-F238E27FC236}">
                <a16:creationId xmlns:a16="http://schemas.microsoft.com/office/drawing/2014/main" id="{B6E12924-EF0A-4026-AB55-9DDA047DFD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</p:spPr>
        <p:txBody>
          <a:bodyPr/>
          <a:lstStyle/>
          <a:p>
            <a:pPr>
              <a:buNone/>
            </a:pPr>
            <a:r>
              <a:t>Title Text</a:t>
            </a:r>
          </a:p>
        </p:txBody>
      </p:sp>
      <p:sp>
        <p:nvSpPr>
          <p:cNvPr id="21" name="Body Level One…">
            <a:extLst>
              <a:ext uri="{FF2B5EF4-FFF2-40B4-BE49-F238E27FC236}">
                <a16:creationId xmlns:a16="http://schemas.microsoft.com/office/drawing/2014/main" id="{EB88FEB4-EA11-4BB9-86C0-D441E2D713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>
              <a:buNone/>
            </a:pPr>
            <a:r>
              <a:t>Body Level One</a:t>
            </a:r>
          </a:p>
          <a:p>
            <a:pPr lvl="1">
              <a:buNone/>
            </a:pPr>
            <a:r>
              <a:t>Body Level Two</a:t>
            </a:r>
          </a:p>
          <a:p>
            <a:pPr lvl="2">
              <a:buNone/>
            </a:pPr>
            <a:r>
              <a:t>Body Level Three</a:t>
            </a:r>
          </a:p>
          <a:p>
            <a:pPr lvl="3">
              <a:buNone/>
            </a:pPr>
            <a:r>
              <a:t>Body Level Four</a:t>
            </a:r>
          </a:p>
          <a:p>
            <a:pPr lvl="4">
              <a:buNone/>
            </a:pPr>
            <a:r>
              <a:t>Body Level Five</a:t>
            </a:r>
          </a:p>
        </p:txBody>
      </p:sp>
      <p:sp>
        <p:nvSpPr>
          <p:cNvPr id="22" name="Slide Number">
            <a:extLst>
              <a:ext uri="{FF2B5EF4-FFF2-40B4-BE49-F238E27FC236}">
                <a16:creationId xmlns:a16="http://schemas.microsoft.com/office/drawing/2014/main" id="{90A9A68B-ED9C-40B2-AB6E-399E556B891E}"/>
              </a:ext>
            </a:extLst>
          </p:cNvPr>
          <p:cNvSpPr>
            <a:spLocks noGrp="1"/>
          </p:cNvSpPr>
          <p:nvPr>
            <p:ph type="sldNum" idx="2"/>
          </p:nvPr>
        </p:nvSpPr>
        <p:spPr>
          <a:prstGeom prst="rect">
            <a:avLst/>
          </a:prstGeom>
        </p:spPr>
        <p:txBody>
          <a:bodyPr/>
          <a:lstStyle/>
          <a:p>
            <a:pPr>
              <a:buNone/>
            </a:pP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itle Text">
            <a:extLst>
              <a:ext uri="{FF2B5EF4-FFF2-40B4-BE49-F238E27FC236}">
                <a16:creationId xmlns:a16="http://schemas.microsoft.com/office/drawing/2014/main" id="{C78BDED7-76C4-4691-A5FD-3EB6CE7354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2312" y="4406900"/>
            <a:ext cx="7772401" cy="1362075"/>
          </a:xfrm>
          <a:prstGeom prst="rect">
            <a:avLst/>
          </a:prstGeom>
        </p:spPr>
        <p:txBody>
          <a:bodyPr anchor="t"/>
          <a:lstStyle>
            <a:lvl1pPr algn="l">
              <a:buNone/>
              <a:defRPr sz="4000" b="1" cap="all"/>
            </a:lvl1pPr>
          </a:lstStyle>
          <a:p>
            <a:pPr>
              <a:buNone/>
            </a:pPr>
            <a:r>
              <a:t>Title Text</a:t>
            </a:r>
          </a:p>
        </p:txBody>
      </p:sp>
      <p:sp>
        <p:nvSpPr>
          <p:cNvPr id="30" name="Body Level One…">
            <a:extLst>
              <a:ext uri="{FF2B5EF4-FFF2-40B4-BE49-F238E27FC236}">
                <a16:creationId xmlns:a16="http://schemas.microsoft.com/office/drawing/2014/main" id="{D1AC094E-01D4-4856-9DEC-D3FD0B34B22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22312" y="2906713"/>
            <a:ext cx="7772401" cy="1500188"/>
          </a:xfrm>
          <a:prstGeom prst="rect">
            <a:avLst/>
          </a:prstGeom>
        </p:spPr>
        <p:txBody>
          <a:bodyPr anchor="b"/>
          <a:lstStyle>
            <a:lvl1pPr marL="0" indent="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1pPr>
            <a:lvl2pPr marL="0" indent="4572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2pPr>
            <a:lvl3pPr marL="0" indent="9144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3pPr>
            <a:lvl4pPr marL="0" indent="13716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4pPr>
            <a:lvl5pPr marL="0" indent="18288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5pPr>
          </a:lstStyle>
          <a:p>
            <a:pPr>
              <a:buNone/>
            </a:pPr>
            <a:r>
              <a:t>Body Level One</a:t>
            </a:r>
          </a:p>
          <a:p>
            <a:pPr lvl="1">
              <a:buNone/>
            </a:pPr>
            <a:r>
              <a:t>Body Level Two</a:t>
            </a:r>
          </a:p>
          <a:p>
            <a:pPr lvl="2">
              <a:buNone/>
            </a:pPr>
            <a:r>
              <a:t>Body Level Three</a:t>
            </a:r>
          </a:p>
          <a:p>
            <a:pPr lvl="3">
              <a:buNone/>
            </a:pPr>
            <a:r>
              <a:t>Body Level Four</a:t>
            </a:r>
          </a:p>
          <a:p>
            <a:pPr lvl="4">
              <a:buNone/>
            </a:pPr>
            <a:r>
              <a:t>Body Level Five</a:t>
            </a:r>
          </a:p>
        </p:txBody>
      </p:sp>
      <p:sp>
        <p:nvSpPr>
          <p:cNvPr id="31" name="Slide Number">
            <a:extLst>
              <a:ext uri="{FF2B5EF4-FFF2-40B4-BE49-F238E27FC236}">
                <a16:creationId xmlns:a16="http://schemas.microsoft.com/office/drawing/2014/main" id="{EB3A3908-1546-41E2-824E-5DAEBE289CCA}"/>
              </a:ext>
            </a:extLst>
          </p:cNvPr>
          <p:cNvSpPr>
            <a:spLocks noGrp="1"/>
          </p:cNvSpPr>
          <p:nvPr>
            <p:ph type="sldNum" idx="2"/>
          </p:nvPr>
        </p:nvSpPr>
        <p:spPr>
          <a:prstGeom prst="rect">
            <a:avLst/>
          </a:prstGeom>
        </p:spPr>
        <p:txBody>
          <a:bodyPr/>
          <a:lstStyle/>
          <a:p>
            <a:pPr>
              <a:buNone/>
            </a:pP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Title Text">
            <a:extLst>
              <a:ext uri="{FF2B5EF4-FFF2-40B4-BE49-F238E27FC236}">
                <a16:creationId xmlns:a16="http://schemas.microsoft.com/office/drawing/2014/main" id="{BB8331ED-CB07-47F0-8D28-01A0623837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</p:spPr>
        <p:txBody>
          <a:bodyPr/>
          <a:lstStyle/>
          <a:p>
            <a:pPr>
              <a:buNone/>
            </a:pPr>
            <a:r>
              <a:t>Title Text</a:t>
            </a:r>
          </a:p>
        </p:txBody>
      </p:sp>
      <p:sp>
        <p:nvSpPr>
          <p:cNvPr id="39" name="Body Level One…">
            <a:extLst>
              <a:ext uri="{FF2B5EF4-FFF2-40B4-BE49-F238E27FC236}">
                <a16:creationId xmlns:a16="http://schemas.microsoft.com/office/drawing/2014/main" id="{DB063720-8378-4A20-B491-F9596E6E5E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spcBef>
                <a:spcPts val="600"/>
              </a:spcBef>
              <a:buNone/>
              <a:defRPr sz="2800"/>
            </a:lvl1pPr>
            <a:lvl2pPr marL="790575" indent="-333375">
              <a:spcBef>
                <a:spcPts val="600"/>
              </a:spcBef>
              <a:buNone/>
              <a:defRPr sz="2800"/>
            </a:lvl2pPr>
            <a:lvl3pPr marL="1234439" indent="-320039">
              <a:spcBef>
                <a:spcPts val="600"/>
              </a:spcBef>
              <a:buNone/>
              <a:defRPr sz="2800"/>
            </a:lvl3pPr>
            <a:lvl4pPr marL="1727200" indent="-355600">
              <a:spcBef>
                <a:spcPts val="600"/>
              </a:spcBef>
              <a:buNone/>
              <a:defRPr sz="2800"/>
            </a:lvl4pPr>
            <a:lvl5pPr marL="2184400" indent="-355600">
              <a:spcBef>
                <a:spcPts val="600"/>
              </a:spcBef>
              <a:buNone/>
              <a:defRPr sz="2800"/>
            </a:lvl5pPr>
          </a:lstStyle>
          <a:p>
            <a:pPr>
              <a:buNone/>
            </a:pPr>
            <a:r>
              <a:t>Body Level One</a:t>
            </a:r>
          </a:p>
          <a:p>
            <a:pPr lvl="1">
              <a:buNone/>
            </a:pPr>
            <a:r>
              <a:t>Body Level Two</a:t>
            </a:r>
          </a:p>
          <a:p>
            <a:pPr lvl="2">
              <a:buNone/>
            </a:pPr>
            <a:r>
              <a:t>Body Level Three</a:t>
            </a:r>
          </a:p>
          <a:p>
            <a:pPr lvl="3">
              <a:buNone/>
            </a:pPr>
            <a:r>
              <a:t>Body Level Four</a:t>
            </a:r>
          </a:p>
          <a:p>
            <a:pPr lvl="4">
              <a:buNone/>
            </a:pPr>
            <a:r>
              <a:t>Body Level Five</a:t>
            </a:r>
          </a:p>
        </p:txBody>
      </p:sp>
      <p:sp>
        <p:nvSpPr>
          <p:cNvPr id="40" name="Slide Number">
            <a:extLst>
              <a:ext uri="{FF2B5EF4-FFF2-40B4-BE49-F238E27FC236}">
                <a16:creationId xmlns:a16="http://schemas.microsoft.com/office/drawing/2014/main" id="{38C7633E-B2BD-43E0-8FEE-72579D22309D}"/>
              </a:ext>
            </a:extLst>
          </p:cNvPr>
          <p:cNvSpPr>
            <a:spLocks noGrp="1"/>
          </p:cNvSpPr>
          <p:nvPr>
            <p:ph type="sldNum" idx="2"/>
          </p:nvPr>
        </p:nvSpPr>
        <p:spPr>
          <a:prstGeom prst="rect">
            <a:avLst/>
          </a:prstGeom>
        </p:spPr>
        <p:txBody>
          <a:bodyPr/>
          <a:lstStyle/>
          <a:p>
            <a:pPr>
              <a:buNone/>
            </a:pPr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itle Text">
            <a:extLst>
              <a:ext uri="{FF2B5EF4-FFF2-40B4-BE49-F238E27FC236}">
                <a16:creationId xmlns:a16="http://schemas.microsoft.com/office/drawing/2014/main" id="{774F9EA8-1645-4E4C-8413-ABA10094BF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</p:spPr>
        <p:txBody>
          <a:bodyPr/>
          <a:lstStyle/>
          <a:p>
            <a:pPr>
              <a:buNone/>
            </a:pPr>
            <a:r>
              <a:t>Title Text</a:t>
            </a:r>
          </a:p>
        </p:txBody>
      </p:sp>
      <p:sp>
        <p:nvSpPr>
          <p:cNvPr id="48" name="Body Level One…">
            <a:extLst>
              <a:ext uri="{FF2B5EF4-FFF2-40B4-BE49-F238E27FC236}">
                <a16:creationId xmlns:a16="http://schemas.microsoft.com/office/drawing/2014/main" id="{424367F7-1DEF-4238-984A-096C831EF1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1535112"/>
            <a:ext cx="4040188" cy="639763"/>
          </a:xfrm>
          <a:prstGeom prst="rect">
            <a:avLst/>
          </a:prstGeom>
        </p:spPr>
        <p:txBody>
          <a:bodyPr anchor="b"/>
          <a:lstStyle>
            <a:lvl1pPr marL="0" indent="0">
              <a:spcBef>
                <a:spcPts val="500"/>
              </a:spcBef>
              <a:buSzTx/>
              <a:buFontTx/>
              <a:buNone/>
              <a:defRPr sz="2400" b="1"/>
            </a:lvl1pPr>
            <a:lvl2pPr marL="0" indent="457200">
              <a:spcBef>
                <a:spcPts val="500"/>
              </a:spcBef>
              <a:buSzTx/>
              <a:buFontTx/>
              <a:buNone/>
              <a:defRPr sz="2400" b="1"/>
            </a:lvl2pPr>
            <a:lvl3pPr marL="0" indent="914400">
              <a:spcBef>
                <a:spcPts val="500"/>
              </a:spcBef>
              <a:buSzTx/>
              <a:buFontTx/>
              <a:buNone/>
              <a:defRPr sz="2400" b="1"/>
            </a:lvl3pPr>
            <a:lvl4pPr marL="0" indent="1371600">
              <a:spcBef>
                <a:spcPts val="500"/>
              </a:spcBef>
              <a:buSzTx/>
              <a:buFontTx/>
              <a:buNone/>
              <a:defRPr sz="2400" b="1"/>
            </a:lvl4pPr>
            <a:lvl5pPr marL="0" indent="1828800">
              <a:spcBef>
                <a:spcPts val="500"/>
              </a:spcBef>
              <a:buSzTx/>
              <a:buFontTx/>
              <a:buNone/>
              <a:defRPr sz="2400" b="1"/>
            </a:lvl5pPr>
          </a:lstStyle>
          <a:p>
            <a:pPr>
              <a:buNone/>
            </a:pPr>
            <a:r>
              <a:t>Body Level One</a:t>
            </a:r>
          </a:p>
          <a:p>
            <a:pPr lvl="1">
              <a:buNone/>
            </a:pPr>
            <a:r>
              <a:t>Body Level Two</a:t>
            </a:r>
          </a:p>
          <a:p>
            <a:pPr lvl="2">
              <a:buNone/>
            </a:pPr>
            <a:r>
              <a:t>Body Level Three</a:t>
            </a:r>
          </a:p>
          <a:p>
            <a:pPr lvl="3">
              <a:buNone/>
            </a:pPr>
            <a:r>
              <a:t>Body Level Four</a:t>
            </a:r>
          </a:p>
          <a:p>
            <a:pPr lvl="4">
              <a:buNone/>
            </a:pPr>
            <a:r>
              <a:t>Body Level Five</a:t>
            </a:r>
          </a:p>
        </p:txBody>
      </p:sp>
      <p:sp>
        <p:nvSpPr>
          <p:cNvPr id="49" name="Text Placeholder 4">
            <a:extLst>
              <a:ext uri="{FF2B5EF4-FFF2-40B4-BE49-F238E27FC236}">
                <a16:creationId xmlns:a16="http://schemas.microsoft.com/office/drawing/2014/main" id="{2822DD50-DC36-4807-892B-7C21EF7D9A5E}"/>
              </a:ext>
            </a:extLst>
          </p:cNvPr>
          <p:cNvSpPr>
            <a:spLocks noGrp="1"/>
          </p:cNvSpPr>
          <p:nvPr>
            <p:ph type="body" idx="21"/>
          </p:nvPr>
        </p:nvSpPr>
        <p:spPr>
          <a:xfrm>
            <a:off x="4645025" y="1535112"/>
            <a:ext cx="4041775" cy="639763"/>
          </a:xfrm>
          <a:prstGeom prst="rect">
            <a:avLst/>
          </a:prstGeom>
        </p:spPr>
        <p:txBody>
          <a:bodyPr anchor="b"/>
          <a:lstStyle/>
          <a:p>
            <a:pPr marL="0" indent="0">
              <a:spcBef>
                <a:spcPts val="500"/>
              </a:spcBef>
              <a:buSzTx/>
              <a:buFontTx/>
              <a:buNone/>
              <a:defRPr sz="2400" b="1"/>
            </a:pPr>
            <a:endParaRPr/>
          </a:p>
        </p:txBody>
      </p:sp>
      <p:sp>
        <p:nvSpPr>
          <p:cNvPr id="50" name="Slide Number">
            <a:extLst>
              <a:ext uri="{FF2B5EF4-FFF2-40B4-BE49-F238E27FC236}">
                <a16:creationId xmlns:a16="http://schemas.microsoft.com/office/drawing/2014/main" id="{A33ED568-8878-408F-AEB6-1F2D4FC7B93C}"/>
              </a:ext>
            </a:extLst>
          </p:cNvPr>
          <p:cNvSpPr>
            <a:spLocks noGrp="1"/>
          </p:cNvSpPr>
          <p:nvPr>
            <p:ph type="sldNum" idx="2"/>
          </p:nvPr>
        </p:nvSpPr>
        <p:spPr>
          <a:prstGeom prst="rect">
            <a:avLst/>
          </a:prstGeom>
        </p:spPr>
        <p:txBody>
          <a:bodyPr/>
          <a:lstStyle/>
          <a:p>
            <a:pPr>
              <a:buNone/>
            </a:pPr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Title Text">
            <a:extLst>
              <a:ext uri="{FF2B5EF4-FFF2-40B4-BE49-F238E27FC236}">
                <a16:creationId xmlns:a16="http://schemas.microsoft.com/office/drawing/2014/main" id="{0F98EEEF-9ABC-4047-A7AA-AC2E7B33F9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</p:spPr>
        <p:txBody>
          <a:bodyPr/>
          <a:lstStyle/>
          <a:p>
            <a:pPr>
              <a:buNone/>
            </a:pPr>
            <a:r>
              <a:t>Title Text</a:t>
            </a:r>
          </a:p>
        </p:txBody>
      </p:sp>
      <p:sp>
        <p:nvSpPr>
          <p:cNvPr id="58" name="Slide Number">
            <a:extLst>
              <a:ext uri="{FF2B5EF4-FFF2-40B4-BE49-F238E27FC236}">
                <a16:creationId xmlns:a16="http://schemas.microsoft.com/office/drawing/2014/main" id="{1E0F5BF5-FE50-4093-8036-088CCA22EB9D}"/>
              </a:ext>
            </a:extLst>
          </p:cNvPr>
          <p:cNvSpPr>
            <a:spLocks noGrp="1"/>
          </p:cNvSpPr>
          <p:nvPr>
            <p:ph type="sldNum" idx="2"/>
          </p:nvPr>
        </p:nvSpPr>
        <p:spPr>
          <a:prstGeom prst="rect">
            <a:avLst/>
          </a:prstGeom>
        </p:spPr>
        <p:txBody>
          <a:bodyPr/>
          <a:lstStyle/>
          <a:p>
            <a:pPr>
              <a:buNone/>
            </a:pPr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Slide Number">
            <a:extLst>
              <a:ext uri="{FF2B5EF4-FFF2-40B4-BE49-F238E27FC236}">
                <a16:creationId xmlns:a16="http://schemas.microsoft.com/office/drawing/2014/main" id="{283CEC92-D498-4AA8-8209-24350E9EF881}"/>
              </a:ext>
            </a:extLst>
          </p:cNvPr>
          <p:cNvSpPr>
            <a:spLocks noGrp="1"/>
          </p:cNvSpPr>
          <p:nvPr>
            <p:ph type="sldNum" idx="2"/>
          </p:nvPr>
        </p:nvSpPr>
        <p:spPr>
          <a:prstGeom prst="rect">
            <a:avLst/>
          </a:prstGeom>
        </p:spPr>
        <p:txBody>
          <a:bodyPr/>
          <a:lstStyle/>
          <a:p>
            <a:pPr>
              <a:buNone/>
            </a:pPr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Title Text">
            <a:extLst>
              <a:ext uri="{FF2B5EF4-FFF2-40B4-BE49-F238E27FC236}">
                <a16:creationId xmlns:a16="http://schemas.microsoft.com/office/drawing/2014/main" id="{7FE00625-0C11-4F2E-A4E8-92B5CCB1FD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4" cy="1162050"/>
          </a:xfrm>
          <a:prstGeom prst="rect">
            <a:avLst/>
          </a:prstGeom>
        </p:spPr>
        <p:txBody>
          <a:bodyPr anchor="b"/>
          <a:lstStyle>
            <a:lvl1pPr algn="l">
              <a:buNone/>
              <a:defRPr sz="2000" b="1"/>
            </a:lvl1pPr>
          </a:lstStyle>
          <a:p>
            <a:pPr>
              <a:buNone/>
            </a:pPr>
            <a:r>
              <a:t>Title Text</a:t>
            </a:r>
          </a:p>
        </p:txBody>
      </p:sp>
      <p:sp>
        <p:nvSpPr>
          <p:cNvPr id="73" name="Body Level One…">
            <a:extLst>
              <a:ext uri="{FF2B5EF4-FFF2-40B4-BE49-F238E27FC236}">
                <a16:creationId xmlns:a16="http://schemas.microsoft.com/office/drawing/2014/main" id="{77E84131-4ECE-48CE-8D99-6EF92B1B7C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/>
          <a:p>
            <a:pPr>
              <a:buNone/>
            </a:pPr>
            <a:r>
              <a:t>Body Level One</a:t>
            </a:r>
          </a:p>
          <a:p>
            <a:pPr lvl="1">
              <a:buNone/>
            </a:pPr>
            <a:r>
              <a:t>Body Level Two</a:t>
            </a:r>
          </a:p>
          <a:p>
            <a:pPr lvl="2">
              <a:buNone/>
            </a:pPr>
            <a:r>
              <a:t>Body Level Three</a:t>
            </a:r>
          </a:p>
          <a:p>
            <a:pPr lvl="3">
              <a:buNone/>
            </a:pPr>
            <a:r>
              <a:t>Body Level Four</a:t>
            </a:r>
          </a:p>
          <a:p>
            <a:pPr lvl="4">
              <a:buNone/>
            </a:pPr>
            <a:r>
              <a:t>Body Level Five</a:t>
            </a:r>
          </a:p>
        </p:txBody>
      </p:sp>
      <p:sp>
        <p:nvSpPr>
          <p:cNvPr id="74" name="Text Placeholder 3">
            <a:extLst>
              <a:ext uri="{FF2B5EF4-FFF2-40B4-BE49-F238E27FC236}">
                <a16:creationId xmlns:a16="http://schemas.microsoft.com/office/drawing/2014/main" id="{E2FA00B9-1470-4B91-BF61-AF826544134C}"/>
              </a:ext>
            </a:extLst>
          </p:cNvPr>
          <p:cNvSpPr>
            <a:spLocks noGrp="1"/>
          </p:cNvSpPr>
          <p:nvPr>
            <p:ph type="body" idx="21"/>
          </p:nvPr>
        </p:nvSpPr>
        <p:spPr>
          <a:xfrm>
            <a:off x="457199" y="1435100"/>
            <a:ext cx="3008315" cy="4691063"/>
          </a:xfrm>
          <a:prstGeom prst="rect">
            <a:avLst/>
          </a:prstGeom>
        </p:spPr>
        <p:txBody>
          <a:bodyPr/>
          <a:lstStyle/>
          <a:p>
            <a:pPr marL="0" indent="0">
              <a:spcBef>
                <a:spcPts val="300"/>
              </a:spcBef>
              <a:buSzTx/>
              <a:buFontTx/>
              <a:buNone/>
              <a:defRPr sz="1400"/>
            </a:pPr>
            <a:endParaRPr/>
          </a:p>
        </p:txBody>
      </p:sp>
      <p:sp>
        <p:nvSpPr>
          <p:cNvPr id="75" name="Slide Number">
            <a:extLst>
              <a:ext uri="{FF2B5EF4-FFF2-40B4-BE49-F238E27FC236}">
                <a16:creationId xmlns:a16="http://schemas.microsoft.com/office/drawing/2014/main" id="{BF0F32C0-206C-4D08-B813-223D3B7D3837}"/>
              </a:ext>
            </a:extLst>
          </p:cNvPr>
          <p:cNvSpPr>
            <a:spLocks noGrp="1"/>
          </p:cNvSpPr>
          <p:nvPr>
            <p:ph type="sldNum" idx="2"/>
          </p:nvPr>
        </p:nvSpPr>
        <p:spPr>
          <a:prstGeom prst="rect">
            <a:avLst/>
          </a:prstGeom>
        </p:spPr>
        <p:txBody>
          <a:bodyPr/>
          <a:lstStyle/>
          <a:p>
            <a:pPr>
              <a:buNone/>
            </a:pPr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Title Text">
            <a:extLst>
              <a:ext uri="{FF2B5EF4-FFF2-40B4-BE49-F238E27FC236}">
                <a16:creationId xmlns:a16="http://schemas.microsoft.com/office/drawing/2014/main" id="{9DAE4720-0A6C-4669-BD79-36C74EEE72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1" cy="566738"/>
          </a:xfrm>
          <a:prstGeom prst="rect">
            <a:avLst/>
          </a:prstGeom>
        </p:spPr>
        <p:txBody>
          <a:bodyPr anchor="b"/>
          <a:lstStyle>
            <a:lvl1pPr algn="l">
              <a:buNone/>
              <a:defRPr sz="2000" b="1"/>
            </a:lvl1pPr>
          </a:lstStyle>
          <a:p>
            <a:pPr>
              <a:buNone/>
            </a:pPr>
            <a:r>
              <a:t>Title Text</a:t>
            </a:r>
          </a:p>
        </p:txBody>
      </p:sp>
      <p:sp>
        <p:nvSpPr>
          <p:cNvPr id="83" name="Picture Placeholder 2">
            <a:extLst>
              <a:ext uri="{FF2B5EF4-FFF2-40B4-BE49-F238E27FC236}">
                <a16:creationId xmlns:a16="http://schemas.microsoft.com/office/drawing/2014/main" id="{48033179-82D5-4E23-8C74-5EB4148DAC76}"/>
              </a:ext>
            </a:extLst>
          </p:cNvPr>
          <p:cNvSpPr>
            <a:spLocks noGrp="1"/>
          </p:cNvSpPr>
          <p:nvPr>
            <p:ph type="pic" idx="21"/>
          </p:nvPr>
        </p:nvSpPr>
        <p:spPr>
          <a:xfrm>
            <a:off x="1792288" y="612775"/>
            <a:ext cx="5486401" cy="41148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84" name="Body Level One…">
            <a:extLst>
              <a:ext uri="{FF2B5EF4-FFF2-40B4-BE49-F238E27FC236}">
                <a16:creationId xmlns:a16="http://schemas.microsoft.com/office/drawing/2014/main" id="{0AE7B6F7-7263-4112-BF02-78CAF89682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792288" y="5367337"/>
            <a:ext cx="5486401" cy="804863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300"/>
              </a:spcBef>
              <a:buSzTx/>
              <a:buFontTx/>
              <a:buNone/>
              <a:defRPr sz="1400"/>
            </a:lvl1pPr>
            <a:lvl2pPr marL="0" indent="457200">
              <a:spcBef>
                <a:spcPts val="300"/>
              </a:spcBef>
              <a:buSzTx/>
              <a:buFontTx/>
              <a:buNone/>
              <a:defRPr sz="1400"/>
            </a:lvl2pPr>
            <a:lvl3pPr marL="0" indent="914400">
              <a:spcBef>
                <a:spcPts val="300"/>
              </a:spcBef>
              <a:buSzTx/>
              <a:buFontTx/>
              <a:buNone/>
              <a:defRPr sz="1400"/>
            </a:lvl3pPr>
            <a:lvl4pPr marL="0" indent="1371600">
              <a:spcBef>
                <a:spcPts val="300"/>
              </a:spcBef>
              <a:buSzTx/>
              <a:buFontTx/>
              <a:buNone/>
              <a:defRPr sz="1400"/>
            </a:lvl4pPr>
            <a:lvl5pPr marL="0" indent="1828800">
              <a:spcBef>
                <a:spcPts val="300"/>
              </a:spcBef>
              <a:buSzTx/>
              <a:buFontTx/>
              <a:buNone/>
              <a:defRPr sz="1400"/>
            </a:lvl5pPr>
          </a:lstStyle>
          <a:p>
            <a:pPr>
              <a:buNone/>
            </a:pPr>
            <a:r>
              <a:t>Body Level One</a:t>
            </a:r>
          </a:p>
          <a:p>
            <a:pPr lvl="1">
              <a:buNone/>
            </a:pPr>
            <a:r>
              <a:t>Body Level Two</a:t>
            </a:r>
          </a:p>
          <a:p>
            <a:pPr lvl="2">
              <a:buNone/>
            </a:pPr>
            <a:r>
              <a:t>Body Level Three</a:t>
            </a:r>
          </a:p>
          <a:p>
            <a:pPr lvl="3">
              <a:buNone/>
            </a:pPr>
            <a:r>
              <a:t>Body Level Four</a:t>
            </a:r>
          </a:p>
          <a:p>
            <a:pPr lvl="4">
              <a:buNone/>
            </a:pPr>
            <a:r>
              <a:t>Body Level Five</a:t>
            </a:r>
          </a:p>
        </p:txBody>
      </p:sp>
      <p:sp>
        <p:nvSpPr>
          <p:cNvPr id="85" name="Slide Number">
            <a:extLst>
              <a:ext uri="{FF2B5EF4-FFF2-40B4-BE49-F238E27FC236}">
                <a16:creationId xmlns:a16="http://schemas.microsoft.com/office/drawing/2014/main" id="{AF4BAFCF-1B51-4657-931C-22492C37C2F5}"/>
              </a:ext>
            </a:extLst>
          </p:cNvPr>
          <p:cNvSpPr>
            <a:spLocks noGrp="1"/>
          </p:cNvSpPr>
          <p:nvPr>
            <p:ph type="sldNum" idx="2"/>
          </p:nvPr>
        </p:nvSpPr>
        <p:spPr>
          <a:prstGeom prst="rect">
            <a:avLst/>
          </a:prstGeom>
        </p:spPr>
        <p:txBody>
          <a:bodyPr/>
          <a:lstStyle/>
          <a:p>
            <a:pPr>
              <a:buNone/>
            </a:pPr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>
            <a:extLst>
              <a:ext uri="{FF2B5EF4-FFF2-40B4-BE49-F238E27FC236}">
                <a16:creationId xmlns:a16="http://schemas.microsoft.com/office/drawing/2014/main" id="{5B97C50A-F5BB-4831-84B6-61C3C79740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8965" y="92074"/>
            <a:ext cx="10961370" cy="1508126"/>
          </a:xfrm>
          <a:prstGeom prst="rect">
            <a:avLst/>
          </a:prstGeom>
          <a:ln w="12700"/>
        </p:spPr>
        <p:txBody>
          <a:bodyPr lIns="45719" rIns="45719" anchor="ctr">
            <a:normAutofit/>
          </a:bodyPr>
          <a:lstStyle/>
          <a:p>
            <a:pPr>
              <a:buNone/>
            </a:pPr>
            <a:r>
              <a:t>Title Text</a:t>
            </a:r>
          </a:p>
        </p:txBody>
      </p:sp>
      <p:sp>
        <p:nvSpPr>
          <p:cNvPr id="3" name="Body Level One…">
            <a:extLst>
              <a:ext uri="{FF2B5EF4-FFF2-40B4-BE49-F238E27FC236}">
                <a16:creationId xmlns:a16="http://schemas.microsoft.com/office/drawing/2014/main" id="{BB093B92-253A-4B14-BFE5-C78474046B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8965" y="1600200"/>
            <a:ext cx="10961370" cy="5257800"/>
          </a:xfrm>
          <a:prstGeom prst="rect">
            <a:avLst/>
          </a:prstGeom>
          <a:ln w="12700"/>
        </p:spPr>
        <p:txBody>
          <a:bodyPr lIns="45719" rIns="45719">
            <a:normAutofit/>
          </a:bodyPr>
          <a:lstStyle/>
          <a:p>
            <a:pPr>
              <a:buNone/>
            </a:pPr>
            <a:r>
              <a:t>Body Level One</a:t>
            </a:r>
          </a:p>
          <a:p>
            <a:pPr lvl="1">
              <a:buNone/>
            </a:pPr>
            <a:r>
              <a:t>Body Level Two</a:t>
            </a:r>
          </a:p>
          <a:p>
            <a:pPr lvl="2">
              <a:buNone/>
            </a:pPr>
            <a:r>
              <a:t>Body Level Three</a:t>
            </a:r>
          </a:p>
          <a:p>
            <a:pPr lvl="3">
              <a:buNone/>
            </a:pPr>
            <a:r>
              <a:t>Body Level Four</a:t>
            </a:r>
          </a:p>
          <a:p>
            <a:pPr lvl="4">
              <a:buNone/>
            </a:pPr>
            <a:r>
              <a:t>Body Level Five</a:t>
            </a:r>
          </a:p>
        </p:txBody>
      </p:sp>
      <p:sp>
        <p:nvSpPr>
          <p:cNvPr id="4" name="Slide Number">
            <a:extLst>
              <a:ext uri="{FF2B5EF4-FFF2-40B4-BE49-F238E27FC236}">
                <a16:creationId xmlns:a16="http://schemas.microsoft.com/office/drawing/2014/main" id="{410D3C0F-8F38-4788-B5DB-226376C2C440}"/>
              </a:ext>
            </a:extLst>
          </p:cNvPr>
          <p:cNvSpPr>
            <a:spLocks noGrp="1"/>
          </p:cNvSpPr>
          <p:nvPr>
            <p:ph type="sldNum" idx="2"/>
          </p:nvPr>
        </p:nvSpPr>
        <p:spPr>
          <a:xfrm>
            <a:off x="8428176" y="6414760"/>
            <a:ext cx="258624" cy="248305"/>
          </a:xfrm>
          <a:prstGeom prst="rect">
            <a:avLst/>
          </a:prstGeom>
          <a:ln w="12700"/>
        </p:spPr>
        <p:txBody>
          <a:bodyPr wrap="none" lIns="45719" rIns="45719" anchor="ctr">
            <a:spAutoFit/>
          </a:bodyPr>
          <a:lstStyle>
            <a:lvl1pPr algn="r">
              <a:buNone/>
              <a:defRPr sz="1200">
                <a:solidFill>
                  <a:srgbClr val="888888"/>
                </a:solidFill>
              </a:defRPr>
            </a:lvl1pPr>
          </a:lstStyle>
          <a:p>
            <a:pPr>
              <a:buNone/>
            </a:pP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txStyles>
    <p:titleStyle>
      <a:lvl1pPr marL="0" marR="0" indent="0" algn="ctr" defTabSz="4572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4400" b="0" i="0" u="none" cap="none" spc="0" baseline="0">
          <a:solidFill>
            <a:srgbClr val="000000"/>
          </a:solidFill>
          <a:latin typeface="+mn-lt"/>
          <a:ea typeface="+mn-lt"/>
          <a:cs typeface="+mn-lt"/>
        </a:defRPr>
      </a:lvl1pPr>
      <a:lvl2pPr marL="0" marR="0" indent="0" algn="ctr" defTabSz="4572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4400" b="0" i="0" u="none" cap="none" spc="0" baseline="0">
          <a:solidFill>
            <a:srgbClr val="000000"/>
          </a:solidFill>
          <a:latin typeface="+mn-lt"/>
          <a:ea typeface="+mn-lt"/>
          <a:cs typeface="+mn-lt"/>
        </a:defRPr>
      </a:lvl2pPr>
      <a:lvl3pPr marL="0" marR="0" indent="0" algn="ctr" defTabSz="4572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4400" b="0" i="0" u="none" cap="none" spc="0" baseline="0">
          <a:solidFill>
            <a:srgbClr val="000000"/>
          </a:solidFill>
          <a:latin typeface="+mn-lt"/>
          <a:ea typeface="+mn-lt"/>
          <a:cs typeface="+mn-lt"/>
        </a:defRPr>
      </a:lvl3pPr>
      <a:lvl4pPr marL="0" marR="0" indent="0" algn="ctr" defTabSz="4572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4400" b="0" i="0" u="none" cap="none" spc="0" baseline="0">
          <a:solidFill>
            <a:srgbClr val="000000"/>
          </a:solidFill>
          <a:latin typeface="+mn-lt"/>
          <a:ea typeface="+mn-lt"/>
          <a:cs typeface="+mn-lt"/>
        </a:defRPr>
      </a:lvl4pPr>
      <a:lvl5pPr marL="0" marR="0" indent="0" algn="ctr" defTabSz="4572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4400" b="0" i="0" u="none" cap="none" spc="0" baseline="0">
          <a:solidFill>
            <a:srgbClr val="000000"/>
          </a:solidFill>
          <a:latin typeface="+mn-lt"/>
          <a:ea typeface="+mn-lt"/>
          <a:cs typeface="+mn-lt"/>
        </a:defRPr>
      </a:lvl5pPr>
      <a:lvl6pPr marL="0" marR="0" indent="0" algn="ctr" defTabSz="4572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4400" b="0" i="0" u="none" cap="none" spc="0" baseline="0">
          <a:solidFill>
            <a:srgbClr val="000000"/>
          </a:solidFill>
          <a:latin typeface="+mn-lt"/>
          <a:ea typeface="+mn-lt"/>
          <a:cs typeface="+mn-lt"/>
        </a:defRPr>
      </a:lvl6pPr>
      <a:lvl7pPr marL="0" marR="0" indent="0" algn="ctr" defTabSz="4572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4400" b="0" i="0" u="none" cap="none" spc="0" baseline="0">
          <a:solidFill>
            <a:srgbClr val="000000"/>
          </a:solidFill>
          <a:latin typeface="+mn-lt"/>
          <a:ea typeface="+mn-lt"/>
          <a:cs typeface="+mn-lt"/>
        </a:defRPr>
      </a:lvl7pPr>
      <a:lvl8pPr marL="0" marR="0" indent="0" algn="ctr" defTabSz="4572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4400" b="0" i="0" u="none" cap="none" spc="0" baseline="0">
          <a:solidFill>
            <a:srgbClr val="000000"/>
          </a:solidFill>
          <a:latin typeface="+mn-lt"/>
          <a:ea typeface="+mn-lt"/>
          <a:cs typeface="+mn-lt"/>
        </a:defRPr>
      </a:lvl8pPr>
      <a:lvl9pPr marL="0" marR="0" indent="0" algn="ctr" defTabSz="4572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4400" b="0" i="0" u="none" cap="none" spc="0" baseline="0">
          <a:solidFill>
            <a:srgbClr val="000000"/>
          </a:solidFill>
          <a:latin typeface="+mn-lt"/>
          <a:ea typeface="+mn-lt"/>
          <a:cs typeface="+mn-lt"/>
        </a:defRPr>
      </a:lvl9pPr>
    </p:titleStyle>
    <p:bodyStyle>
      <a:lvl1pPr marL="342900" marR="0" indent="-342900" algn="l" defTabSz="45720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defRPr sz="3200" b="0" i="0" u="none" cap="none" spc="0" baseline="0">
          <a:solidFill>
            <a:srgbClr val="000000"/>
          </a:solidFill>
          <a:latin typeface="+mn-lt"/>
          <a:ea typeface="+mn-lt"/>
          <a:cs typeface="+mn-lt"/>
        </a:defRPr>
      </a:lvl1pPr>
      <a:lvl2pPr marL="783771" marR="0" indent="-326571" algn="l" defTabSz="45720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defRPr sz="3200" b="0" i="0" u="none" cap="none" spc="0" baseline="0">
          <a:solidFill>
            <a:srgbClr val="000000"/>
          </a:solidFill>
          <a:latin typeface="+mn-lt"/>
          <a:ea typeface="+mn-lt"/>
          <a:cs typeface="+mn-lt"/>
        </a:defRPr>
      </a:lvl2pPr>
      <a:lvl3pPr marL="1219200" marR="0" indent="-304800" algn="l" defTabSz="45720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defRPr sz="3200" b="0" i="0" u="none" cap="none" spc="0" baseline="0">
          <a:solidFill>
            <a:srgbClr val="000000"/>
          </a:solidFill>
          <a:latin typeface="+mn-lt"/>
          <a:ea typeface="+mn-lt"/>
          <a:cs typeface="+mn-lt"/>
        </a:defRPr>
      </a:lvl3pPr>
      <a:lvl4pPr marL="1737360" marR="0" indent="-365760" algn="l" defTabSz="45720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defRPr sz="3200" b="0" i="0" u="none" cap="none" spc="0" baseline="0">
          <a:solidFill>
            <a:srgbClr val="000000"/>
          </a:solidFill>
          <a:latin typeface="+mn-lt"/>
          <a:ea typeface="+mn-lt"/>
          <a:cs typeface="+mn-lt"/>
        </a:defRPr>
      </a:lvl4pPr>
      <a:lvl5pPr marL="2194560" marR="0" indent="-365760" algn="l" defTabSz="45720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»"/>
        <a:defRPr sz="3200" b="0" i="0" u="none" cap="none" spc="0" baseline="0">
          <a:solidFill>
            <a:srgbClr val="000000"/>
          </a:solidFill>
          <a:latin typeface="+mn-lt"/>
          <a:ea typeface="+mn-lt"/>
          <a:cs typeface="+mn-lt"/>
        </a:defRPr>
      </a:lvl5pPr>
      <a:lvl6pPr marL="2651760" marR="0" indent="-365760" algn="l" defTabSz="45720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defRPr sz="3200" b="0" i="0" u="none" cap="none" spc="0" baseline="0">
          <a:solidFill>
            <a:srgbClr val="000000"/>
          </a:solidFill>
          <a:latin typeface="+mn-lt"/>
          <a:ea typeface="+mn-lt"/>
          <a:cs typeface="+mn-lt"/>
        </a:defRPr>
      </a:lvl6pPr>
      <a:lvl7pPr marL="3108960" marR="0" indent="-365760" algn="l" defTabSz="45720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defRPr sz="3200" b="0" i="0" u="none" cap="none" spc="0" baseline="0">
          <a:solidFill>
            <a:srgbClr val="000000"/>
          </a:solidFill>
          <a:latin typeface="+mn-lt"/>
          <a:ea typeface="+mn-lt"/>
          <a:cs typeface="+mn-lt"/>
        </a:defRPr>
      </a:lvl7pPr>
      <a:lvl8pPr marL="3566159" marR="0" indent="-365759" algn="l" defTabSz="45720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defRPr sz="3200" b="0" i="0" u="none" cap="none" spc="0" baseline="0">
          <a:solidFill>
            <a:srgbClr val="000000"/>
          </a:solidFill>
          <a:latin typeface="+mn-lt"/>
          <a:ea typeface="+mn-lt"/>
          <a:cs typeface="+mn-lt"/>
        </a:defRPr>
      </a:lvl8pPr>
      <a:lvl9pPr marL="4023359" marR="0" indent="-365759" algn="l" defTabSz="45720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defRPr sz="3200" b="0" i="0" u="none" cap="none" spc="0" baseline="0">
          <a:solidFill>
            <a:srgbClr val="000000"/>
          </a:solidFill>
          <a:latin typeface="+mn-lt"/>
          <a:ea typeface="+mn-lt"/>
          <a:cs typeface="+mn-lt"/>
        </a:defRPr>
      </a:lvl9pPr>
    </p:bodyStyle>
    <p:otherStyle>
      <a:lvl1pPr marL="0" marR="0" indent="0" algn="r" defTabSz="4572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cap="none" spc="0" baseline="0">
          <a:solidFill>
            <a:schemeClr val="tx1"/>
          </a:solidFill>
          <a:latin typeface="+mn-lt"/>
          <a:ea typeface="+mn-lt"/>
          <a:cs typeface="+mn-lt"/>
        </a:defRPr>
      </a:lvl1pPr>
      <a:lvl2pPr marL="0" marR="0" indent="457200" algn="r" defTabSz="4572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cap="none" spc="0" baseline="0">
          <a:solidFill>
            <a:schemeClr val="tx1"/>
          </a:solidFill>
          <a:latin typeface="+mn-lt"/>
          <a:ea typeface="+mn-lt"/>
          <a:cs typeface="+mn-lt"/>
        </a:defRPr>
      </a:lvl2pPr>
      <a:lvl3pPr marL="0" marR="0" indent="914400" algn="r" defTabSz="4572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cap="none" spc="0" baseline="0">
          <a:solidFill>
            <a:schemeClr val="tx1"/>
          </a:solidFill>
          <a:latin typeface="+mn-lt"/>
          <a:ea typeface="+mn-lt"/>
          <a:cs typeface="+mn-lt"/>
        </a:defRPr>
      </a:lvl3pPr>
      <a:lvl4pPr marL="0" marR="0" indent="1371600" algn="r" defTabSz="4572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cap="none" spc="0" baseline="0">
          <a:solidFill>
            <a:schemeClr val="tx1"/>
          </a:solidFill>
          <a:latin typeface="+mn-lt"/>
          <a:ea typeface="+mn-lt"/>
          <a:cs typeface="+mn-lt"/>
        </a:defRPr>
      </a:lvl4pPr>
      <a:lvl5pPr marL="0" marR="0" indent="1828800" algn="r" defTabSz="4572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cap="none" spc="0" baseline="0">
          <a:solidFill>
            <a:schemeClr val="tx1"/>
          </a:solidFill>
          <a:latin typeface="+mn-lt"/>
          <a:ea typeface="+mn-lt"/>
          <a:cs typeface="+mn-lt"/>
        </a:defRPr>
      </a:lvl5pPr>
      <a:lvl6pPr marL="0" marR="0" indent="2286000" algn="r" defTabSz="4572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cap="none" spc="0" baseline="0">
          <a:solidFill>
            <a:schemeClr val="tx1"/>
          </a:solidFill>
          <a:latin typeface="+mn-lt"/>
          <a:ea typeface="+mn-lt"/>
          <a:cs typeface="+mn-lt"/>
        </a:defRPr>
      </a:lvl6pPr>
      <a:lvl7pPr marL="0" marR="0" indent="2743200" algn="r" defTabSz="4572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cap="none" spc="0" baseline="0">
          <a:solidFill>
            <a:schemeClr val="tx1"/>
          </a:solidFill>
          <a:latin typeface="+mn-lt"/>
          <a:ea typeface="+mn-lt"/>
          <a:cs typeface="+mn-lt"/>
        </a:defRPr>
      </a:lvl7pPr>
      <a:lvl8pPr marL="0" marR="0" indent="3200400" algn="r" defTabSz="4572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cap="none" spc="0" baseline="0">
          <a:solidFill>
            <a:schemeClr val="tx1"/>
          </a:solidFill>
          <a:latin typeface="+mn-lt"/>
          <a:ea typeface="+mn-lt"/>
          <a:cs typeface="+mn-lt"/>
        </a:defRPr>
      </a:lvl8pPr>
      <a:lvl9pPr marL="0" marR="0" indent="3657600" algn="r" defTabSz="4572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cap="none" spc="0" baseline="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2E4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 32">
            <a:extLst>
              <a:ext uri="{FF2B5EF4-FFF2-40B4-BE49-F238E27FC236}">
                <a16:creationId xmlns:a16="http://schemas.microsoft.com/office/drawing/2014/main" id="{FEE196AE-BAE6-46AA-B682-CE98B72AC219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71450" cy="6858000"/>
          </a:xfrm>
          <a:prstGeom prst="rect">
            <a:avLst/>
          </a:prstGeom>
          <a:solidFill>
            <a:srgbClr val="D39216"/>
          </a:solidFill>
          <a:ln w="0">
            <a:solidFill>
              <a:srgbClr val="D39216"/>
            </a:solidFill>
            <a:prstDash val="solid"/>
          </a:ln>
        </p:spPr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78A414E5-505A-4EFA-89A1-77668C13EFDC}"/>
              </a:ext>
            </a:extLst>
          </p:cNvPr>
          <p:cNvSpPr>
            <a:spLocks noGrp="1"/>
          </p:cNvSpPr>
          <p:nvPr/>
        </p:nvSpPr>
        <p:spPr>
          <a:xfrm>
            <a:off x="438150" y="228600"/>
            <a:ext cx="1000125" cy="552450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0">
            <a:solidFill>
              <a:srgbClr val="FFFFFF"/>
            </a:solidFill>
            <a:prstDash val="solid"/>
          </a:ln>
        </p:spPr>
      </p:sp>
      <p:pic>
        <p:nvPicPr>
          <p:cNvPr id="35" name="Picture 34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514350" y="450359"/>
            <a:ext cx="847725" cy="108932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337C8105-E900-41CE-9765-39757470BCE3}"/>
              </a:ext>
            </a:extLst>
          </p:cNvPr>
          <p:cNvSpPr>
            <a:spLocks noGrp="1"/>
          </p:cNvSpPr>
          <p:nvPr/>
        </p:nvSpPr>
        <p:spPr>
          <a:xfrm>
            <a:off x="1676400" y="323850"/>
            <a:ext cx="9334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SIMATS ENGINEERING  |  DEPARTMENT OF COMPUTER SCIENCE AND ENGINEERING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2E59122-7C4D-4034-908E-8AC7F0B23D44}"/>
              </a:ext>
            </a:extLst>
          </p:cNvPr>
          <p:cNvSpPr>
            <a:spLocks noGrp="1"/>
          </p:cNvSpPr>
          <p:nvPr/>
        </p:nvSpPr>
        <p:spPr>
          <a:xfrm>
            <a:off x="1676400" y="628650"/>
            <a:ext cx="7620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975" b="1">
                <a:solidFill>
                  <a:srgbClr val="9DD7E8"/>
                </a:solidFill>
              </a:defRPr>
            </a:pPr>
            <a:r>
              <a:rPr sz="975" b="1">
                <a:solidFill>
                  <a:srgbClr val="9DD7E8"/>
                </a:solidFill>
              </a:rPr>
              <a:t>CSA15  |  CLOUD COMPUTING AND BIG DATA ANALYTICS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BE3B64B-0C5D-497D-A0DA-7D3F3320CF27}"/>
              </a:ext>
            </a:extLst>
          </p:cNvPr>
          <p:cNvSpPr>
            <a:spLocks noGrp="1"/>
          </p:cNvSpPr>
          <p:nvPr/>
        </p:nvSpPr>
        <p:spPr>
          <a:xfrm>
            <a:off x="533400" y="1257300"/>
            <a:ext cx="77152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1200" b="1">
                <a:solidFill>
                  <a:srgbClr val="D39216"/>
                </a:solidFill>
              </a:defRPr>
            </a:pPr>
            <a:r>
              <a:rPr sz="1200" b="1">
                <a:solidFill>
                  <a:srgbClr val="D39216"/>
                </a:solidFill>
              </a:rPr>
              <a:t>CAPSTONE PROJECT FINAL PRESENTATION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8ED20F9-03FB-4A83-91E3-2EC6CD7C8381}"/>
              </a:ext>
            </a:extLst>
          </p:cNvPr>
          <p:cNvSpPr>
            <a:spLocks noGrp="1"/>
          </p:cNvSpPr>
          <p:nvPr/>
        </p:nvSpPr>
        <p:spPr>
          <a:xfrm>
            <a:off x="514350" y="1685925"/>
            <a:ext cx="10572750" cy="857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3150" b="1">
                <a:solidFill>
                  <a:srgbClr val="FFFFFF"/>
                </a:solidFill>
              </a:defRPr>
            </a:pPr>
            <a:r>
              <a:rPr sz="3150" b="1">
                <a:solidFill>
                  <a:srgbClr val="FFFFFF"/>
                </a:solidFill>
              </a:rPr>
              <a:t>GreenPharm: A Green Cloud-Based Pharmacy Inventory Management System for Sustainable Inventory Optimization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0F81F40-44D9-4811-981F-04CF5DE6E24A}"/>
              </a:ext>
            </a:extLst>
          </p:cNvPr>
          <p:cNvSpPr>
            <a:spLocks noGrp="1"/>
          </p:cNvSpPr>
          <p:nvPr/>
        </p:nvSpPr>
        <p:spPr>
          <a:xfrm>
            <a:off x="533400" y="2600325"/>
            <a:ext cx="10334625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1425" b="0">
                <a:solidFill>
                  <a:srgbClr val="DCEAF3"/>
                </a:solidFill>
              </a:defRPr>
            </a:pPr>
            <a:r>
              <a:rPr sz="1425" b="0">
                <a:solidFill>
                  <a:srgbClr val="DCEAF3"/>
                </a:solidFill>
              </a:rPr>
              <a:t>Pharmacy staff get centralized, real-time visibility into stock, batches and expiry through a cloud-hosted React + FastAPI + PostgreSQL system that reduces medicine wastage and overstocking.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0FEAFE7-1E03-4E13-A666-020731D34C1B}"/>
              </a:ext>
            </a:extLst>
          </p:cNvPr>
          <p:cNvSpPr>
            <a:spLocks noGrp="1"/>
          </p:cNvSpPr>
          <p:nvPr/>
        </p:nvSpPr>
        <p:spPr>
          <a:xfrm>
            <a:off x="514350" y="3381375"/>
            <a:ext cx="2047875" cy="1066800"/>
          </a:xfrm>
          <a:prstGeom prst="rect">
            <a:avLst/>
          </a:prstGeom>
          <a:solidFill>
            <a:srgbClr val="1264A3"/>
          </a:solidFill>
          <a:ln w="0">
            <a:noFill/>
            <a:prstDash val="solid"/>
          </a:ln>
        </p:spPr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08C879A-DC0F-4ECE-B2D5-E43450C3685C}"/>
              </a:ext>
            </a:extLst>
          </p:cNvPr>
          <p:cNvSpPr>
            <a:spLocks noGrp="1"/>
          </p:cNvSpPr>
          <p:nvPr/>
        </p:nvSpPr>
        <p:spPr>
          <a:xfrm>
            <a:off x="628650" y="3590925"/>
            <a:ext cx="1819275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PROBLEM</a:t>
            </a:r>
          </a:p>
        </p:txBody>
      </p:sp>
      <p:sp>
        <p:nvSpPr>
          <p:cNvPr id="11" name="Arrow: Right 10">
            <a:extLst>
              <a:ext uri="{FF2B5EF4-FFF2-40B4-BE49-F238E27FC236}">
                <a16:creationId xmlns:a16="http://schemas.microsoft.com/office/drawing/2014/main" id="{A35A4638-D8FD-4D59-AB11-A2C5E955B21D}"/>
              </a:ext>
            </a:extLst>
          </p:cNvPr>
          <p:cNvSpPr>
            <a:spLocks noGrp="1"/>
          </p:cNvSpPr>
          <p:nvPr/>
        </p:nvSpPr>
        <p:spPr>
          <a:xfrm>
            <a:off x="2590800" y="3743325"/>
            <a:ext cx="171450" cy="342900"/>
          </a:xfrm>
          <a:prstGeom prst="rightArrow">
            <a:avLst/>
          </a:prstGeom>
          <a:solidFill>
            <a:srgbClr val="D39216"/>
          </a:solidFill>
          <a:ln w="0">
            <a:solidFill>
              <a:srgbClr val="D39216"/>
            </a:solidFill>
            <a:prstDash val="solid"/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44A8737-3F05-4260-A083-0CE82B1D81A0}"/>
              </a:ext>
            </a:extLst>
          </p:cNvPr>
          <p:cNvSpPr>
            <a:spLocks noGrp="1"/>
          </p:cNvSpPr>
          <p:nvPr/>
        </p:nvSpPr>
        <p:spPr>
          <a:xfrm>
            <a:off x="2790825" y="3381375"/>
            <a:ext cx="2047875" cy="1066800"/>
          </a:xfrm>
          <a:prstGeom prst="rect">
            <a:avLst/>
          </a:prstGeom>
          <a:solidFill>
            <a:srgbClr val="0B7895"/>
          </a:solidFill>
          <a:ln w="0">
            <a:noFill/>
            <a:prstDash val="solid"/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97FA51F-DFB6-4777-9787-7654AE58C729}"/>
              </a:ext>
            </a:extLst>
          </p:cNvPr>
          <p:cNvSpPr>
            <a:spLocks noGrp="1"/>
          </p:cNvSpPr>
          <p:nvPr/>
        </p:nvSpPr>
        <p:spPr>
          <a:xfrm>
            <a:off x="2905125" y="3590925"/>
            <a:ext cx="1819275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ARCHITECTURE</a:t>
            </a:r>
          </a:p>
        </p:txBody>
      </p:sp>
      <p:sp>
        <p:nvSpPr>
          <p:cNvPr id="14" name="Arrow: Right 13">
            <a:extLst>
              <a:ext uri="{FF2B5EF4-FFF2-40B4-BE49-F238E27FC236}">
                <a16:creationId xmlns:a16="http://schemas.microsoft.com/office/drawing/2014/main" id="{88A3F8C8-CC8A-4FB3-9DBF-1045AA557220}"/>
              </a:ext>
            </a:extLst>
          </p:cNvPr>
          <p:cNvSpPr>
            <a:spLocks noGrp="1"/>
          </p:cNvSpPr>
          <p:nvPr/>
        </p:nvSpPr>
        <p:spPr>
          <a:xfrm>
            <a:off x="4867275" y="3743325"/>
            <a:ext cx="171450" cy="342900"/>
          </a:xfrm>
          <a:prstGeom prst="rightArrow">
            <a:avLst/>
          </a:prstGeom>
          <a:solidFill>
            <a:srgbClr val="D39216"/>
          </a:solidFill>
          <a:ln w="0">
            <a:solidFill>
              <a:srgbClr val="D39216"/>
            </a:solidFill>
            <a:prstDash val="solid"/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0F50C29-06E5-4D30-B64A-D1096B663F5C}"/>
              </a:ext>
            </a:extLst>
          </p:cNvPr>
          <p:cNvSpPr>
            <a:spLocks noGrp="1"/>
          </p:cNvSpPr>
          <p:nvPr/>
        </p:nvSpPr>
        <p:spPr>
          <a:xfrm>
            <a:off x="5067300" y="3381375"/>
            <a:ext cx="2047875" cy="1066800"/>
          </a:xfrm>
          <a:prstGeom prst="rect">
            <a:avLst/>
          </a:prstGeom>
          <a:solidFill>
            <a:srgbClr val="245A85"/>
          </a:solidFill>
          <a:ln w="0">
            <a:noFill/>
            <a:prstDash val="solid"/>
          </a:ln>
        </p:spPr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F55D29E-3B24-42B1-B7C6-C5FDB051F6A1}"/>
              </a:ext>
            </a:extLst>
          </p:cNvPr>
          <p:cNvSpPr>
            <a:spLocks noGrp="1"/>
          </p:cNvSpPr>
          <p:nvPr/>
        </p:nvSpPr>
        <p:spPr>
          <a:xfrm>
            <a:off x="5181600" y="3590925"/>
            <a:ext cx="1819275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BUILD</a:t>
            </a:r>
          </a:p>
        </p:txBody>
      </p:sp>
      <p:sp>
        <p:nvSpPr>
          <p:cNvPr id="17" name="Arrow: Right 16">
            <a:extLst>
              <a:ext uri="{FF2B5EF4-FFF2-40B4-BE49-F238E27FC236}">
                <a16:creationId xmlns:a16="http://schemas.microsoft.com/office/drawing/2014/main" id="{242180EB-5B4D-42AC-8CCE-748EBF73967D}"/>
              </a:ext>
            </a:extLst>
          </p:cNvPr>
          <p:cNvSpPr>
            <a:spLocks noGrp="1"/>
          </p:cNvSpPr>
          <p:nvPr/>
        </p:nvSpPr>
        <p:spPr>
          <a:xfrm>
            <a:off x="7143750" y="3743325"/>
            <a:ext cx="171450" cy="342900"/>
          </a:xfrm>
          <a:prstGeom prst="rightArrow">
            <a:avLst/>
          </a:prstGeom>
          <a:solidFill>
            <a:srgbClr val="D39216"/>
          </a:solidFill>
          <a:ln w="0">
            <a:solidFill>
              <a:srgbClr val="D39216"/>
            </a:solidFill>
            <a:prstDash val="solid"/>
          </a:ln>
        </p:spPr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D9E0411-07DA-4FAD-9193-30E3318C847B}"/>
              </a:ext>
            </a:extLst>
          </p:cNvPr>
          <p:cNvSpPr>
            <a:spLocks noGrp="1"/>
          </p:cNvSpPr>
          <p:nvPr/>
        </p:nvSpPr>
        <p:spPr>
          <a:xfrm>
            <a:off x="7343775" y="3381375"/>
            <a:ext cx="2047875" cy="1066800"/>
          </a:xfrm>
          <a:prstGeom prst="rect">
            <a:avLst/>
          </a:prstGeom>
          <a:solidFill>
            <a:srgbClr val="1264A3"/>
          </a:solidFill>
          <a:ln w="0">
            <a:noFill/>
            <a:prstDash val="solid"/>
          </a:ln>
        </p:spPr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6154BC11-8B54-4F93-A0B5-39256FC2F220}"/>
              </a:ext>
            </a:extLst>
          </p:cNvPr>
          <p:cNvSpPr>
            <a:spLocks noGrp="1"/>
          </p:cNvSpPr>
          <p:nvPr/>
        </p:nvSpPr>
        <p:spPr>
          <a:xfrm>
            <a:off x="7458075" y="3590925"/>
            <a:ext cx="1819275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EVIDENCE</a:t>
            </a:r>
          </a:p>
        </p:txBody>
      </p:sp>
      <p:sp>
        <p:nvSpPr>
          <p:cNvPr id="20" name="Arrow: Right 19">
            <a:extLst>
              <a:ext uri="{FF2B5EF4-FFF2-40B4-BE49-F238E27FC236}">
                <a16:creationId xmlns:a16="http://schemas.microsoft.com/office/drawing/2014/main" id="{733BACAD-C6A3-4DCF-90DB-13D5AC2D4B63}"/>
              </a:ext>
            </a:extLst>
          </p:cNvPr>
          <p:cNvSpPr>
            <a:spLocks noGrp="1"/>
          </p:cNvSpPr>
          <p:nvPr/>
        </p:nvSpPr>
        <p:spPr>
          <a:xfrm>
            <a:off x="9420225" y="3743325"/>
            <a:ext cx="171450" cy="342900"/>
          </a:xfrm>
          <a:prstGeom prst="rightArrow">
            <a:avLst/>
          </a:prstGeom>
          <a:solidFill>
            <a:srgbClr val="D39216"/>
          </a:solidFill>
          <a:ln w="0">
            <a:solidFill>
              <a:srgbClr val="D39216"/>
            </a:solidFill>
            <a:prstDash val="solid"/>
          </a:ln>
        </p:spPr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6E8C8470-FE4E-4720-8B1A-507B01428009}"/>
              </a:ext>
            </a:extLst>
          </p:cNvPr>
          <p:cNvSpPr>
            <a:spLocks noGrp="1"/>
          </p:cNvSpPr>
          <p:nvPr/>
        </p:nvSpPr>
        <p:spPr>
          <a:xfrm>
            <a:off x="9620250" y="3381375"/>
            <a:ext cx="2047875" cy="1066800"/>
          </a:xfrm>
          <a:prstGeom prst="rect">
            <a:avLst/>
          </a:prstGeom>
          <a:solidFill>
            <a:srgbClr val="0B7895"/>
          </a:solidFill>
          <a:ln w="0">
            <a:noFill/>
            <a:prstDash val="solid"/>
          </a:ln>
        </p:spPr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31041D1-99A7-45BC-A757-50B15EE8F3CC}"/>
              </a:ext>
            </a:extLst>
          </p:cNvPr>
          <p:cNvSpPr>
            <a:spLocks noGrp="1"/>
          </p:cNvSpPr>
          <p:nvPr/>
        </p:nvSpPr>
        <p:spPr>
          <a:xfrm>
            <a:off x="9734550" y="3590925"/>
            <a:ext cx="1819275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IMPACT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50A34F22-53D2-4314-89F2-D82F6D2C9D5D}"/>
              </a:ext>
            </a:extLst>
          </p:cNvPr>
          <p:cNvSpPr>
            <a:spLocks noGrp="1"/>
          </p:cNvSpPr>
          <p:nvPr/>
        </p:nvSpPr>
        <p:spPr>
          <a:xfrm>
            <a:off x="514350" y="4695825"/>
            <a:ext cx="6724650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C9D6E2"/>
            </a:solidFill>
            <a:prstDash val="solid"/>
          </a:ln>
        </p:spPr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18CA5453-9029-4F3F-97AC-35A1BEC64A42}"/>
              </a:ext>
            </a:extLst>
          </p:cNvPr>
          <p:cNvSpPr>
            <a:spLocks noGrp="1"/>
          </p:cNvSpPr>
          <p:nvPr/>
        </p:nvSpPr>
        <p:spPr>
          <a:xfrm>
            <a:off x="514350" y="4695825"/>
            <a:ext cx="57150" cy="1371600"/>
          </a:xfrm>
          <a:prstGeom prst="rect">
            <a:avLst/>
          </a:prstGeom>
          <a:solidFill>
            <a:srgbClr val="0B7895"/>
          </a:solidFill>
          <a:ln w="0">
            <a:solidFill>
              <a:srgbClr val="0B7895"/>
            </a:solidFill>
            <a:prstDash val="solid"/>
          </a:ln>
        </p:spPr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3BD24AB4-C825-4BA8-B869-4B0DF7ABA646}"/>
              </a:ext>
            </a:extLst>
          </p:cNvPr>
          <p:cNvSpPr>
            <a:spLocks noGrp="1"/>
          </p:cNvSpPr>
          <p:nvPr/>
        </p:nvSpPr>
        <p:spPr>
          <a:xfrm>
            <a:off x="723900" y="4848225"/>
            <a:ext cx="6324600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900" b="1">
                <a:solidFill>
                  <a:srgbClr val="0B7895"/>
                </a:solidFill>
              </a:defRPr>
            </a:pPr>
            <a:r>
              <a:rPr sz="900" b="1">
                <a:solidFill>
                  <a:srgbClr val="0B7895"/>
                </a:solidFill>
              </a:rPr>
              <a:t>STUDENT TEAM DETAILS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F721F3DE-8A03-4166-B262-00F5FC544EC3}"/>
              </a:ext>
            </a:extLst>
          </p:cNvPr>
          <p:cNvSpPr>
            <a:spLocks noGrp="1"/>
          </p:cNvSpPr>
          <p:nvPr/>
        </p:nvSpPr>
        <p:spPr>
          <a:xfrm>
            <a:off x="723900" y="5153025"/>
            <a:ext cx="632460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1050" b="0">
                <a:solidFill>
                  <a:srgbClr val="183247"/>
                </a:solidFill>
              </a:defRPr>
            </a:pPr>
            <a:r>
              <a:rPr sz="1050" b="0">
                <a:solidFill>
                  <a:srgbClr val="183247"/>
                </a:solidFill>
              </a:rPr>
              <a:t>V Sanjana Sri | 192511084 | Backend &amp; Database | github.com/sanjanasri</a:t>
            </a:r>
          </a:p>
          <a:p>
            <a:pPr>
              <a:defRPr sz="1050" b="0">
                <a:solidFill>
                  <a:srgbClr val="183247"/>
                </a:solidFill>
              </a:defRPr>
            </a:pPr>
            <a:r>
              <a:rPr sz="1050" b="0">
                <a:solidFill>
                  <a:srgbClr val="183247"/>
                </a:solidFill>
              </a:rPr>
              <a:t>S K Gobika | 192521463 | Frontend &amp; UI | github.com/skgobika</a:t>
            </a:r>
          </a:p>
          <a:p>
            <a:pPr>
              <a:defRPr sz="1050" b="0">
                <a:solidFill>
                  <a:srgbClr val="183247"/>
                </a:solidFill>
              </a:defRPr>
            </a:pPr>
            <a:r>
              <a:rPr sz="1050" b="0">
                <a:solidFill>
                  <a:srgbClr val="183247"/>
                </a:solidFill>
              </a:rPr>
              <a:t>D S Tharuniya Priya | 192511317 | Cloud Architecture &amp; Testing | github.com/tharuniyapriya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F72512AA-8A2E-4238-8BF3-00E5FE177C0B}"/>
              </a:ext>
            </a:extLst>
          </p:cNvPr>
          <p:cNvSpPr>
            <a:spLocks noGrp="1"/>
          </p:cNvSpPr>
          <p:nvPr/>
        </p:nvSpPr>
        <p:spPr>
          <a:xfrm>
            <a:off x="7467600" y="4695825"/>
            <a:ext cx="4200525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C9D6E2"/>
            </a:solidFill>
            <a:prstDash val="solid"/>
          </a:ln>
        </p:spPr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5019C895-242A-4543-B11B-C706E5944759}"/>
              </a:ext>
            </a:extLst>
          </p:cNvPr>
          <p:cNvSpPr>
            <a:spLocks noGrp="1"/>
          </p:cNvSpPr>
          <p:nvPr/>
        </p:nvSpPr>
        <p:spPr>
          <a:xfrm>
            <a:off x="7467600" y="4695825"/>
            <a:ext cx="57150" cy="1371600"/>
          </a:xfrm>
          <a:prstGeom prst="rect">
            <a:avLst/>
          </a:prstGeom>
          <a:solidFill>
            <a:srgbClr val="D39216"/>
          </a:solidFill>
          <a:ln w="0">
            <a:solidFill>
              <a:srgbClr val="D39216"/>
            </a:solidFill>
            <a:prstDash val="solid"/>
          </a:ln>
        </p:spPr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84026213-C904-476D-95D2-AFD5E9A1D534}"/>
              </a:ext>
            </a:extLst>
          </p:cNvPr>
          <p:cNvSpPr>
            <a:spLocks noGrp="1"/>
          </p:cNvSpPr>
          <p:nvPr/>
        </p:nvSpPr>
        <p:spPr>
          <a:xfrm>
            <a:off x="7677150" y="4848225"/>
            <a:ext cx="3800475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900" b="1">
                <a:solidFill>
                  <a:srgbClr val="D39216"/>
                </a:solidFill>
              </a:defRPr>
            </a:pPr>
            <a:r>
              <a:rPr sz="900" b="1">
                <a:solidFill>
                  <a:srgbClr val="D39216"/>
                </a:solidFill>
              </a:rPr>
              <a:t>FACULTY AND PROJECT LINKS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A75A254A-CFD5-4369-8A5B-A326DDE43DA7}"/>
              </a:ext>
            </a:extLst>
          </p:cNvPr>
          <p:cNvSpPr>
            <a:spLocks noGrp="1"/>
          </p:cNvSpPr>
          <p:nvPr/>
        </p:nvSpPr>
        <p:spPr>
          <a:xfrm>
            <a:off x="7677150" y="5153025"/>
            <a:ext cx="3800475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1050" b="0">
                <a:solidFill>
                  <a:srgbClr val="183247"/>
                </a:solidFill>
              </a:defRPr>
            </a:pPr>
            <a:r>
              <a:rPr sz="1050" b="0" dirty="0">
                <a:solidFill>
                  <a:srgbClr val="183247"/>
                </a:solidFill>
              </a:rPr>
              <a:t>Faculty: Dr. C. Rajesh Babu | SSETSCS415</a:t>
            </a:r>
          </a:p>
          <a:p>
            <a:pPr>
              <a:defRPr sz="1050" b="0">
                <a:solidFill>
                  <a:srgbClr val="183247"/>
                </a:solidFill>
              </a:defRPr>
            </a:pPr>
            <a:r>
              <a:rPr sz="1050" b="0" dirty="0">
                <a:solidFill>
                  <a:srgbClr val="183247"/>
                </a:solidFill>
              </a:rPr>
              <a:t>GitHub Repository: github.com/</a:t>
            </a:r>
            <a:r>
              <a:rPr sz="1050" b="0" dirty="0" err="1">
                <a:solidFill>
                  <a:srgbClr val="183247"/>
                </a:solidFill>
              </a:rPr>
              <a:t>greenpharm</a:t>
            </a:r>
            <a:r>
              <a:rPr sz="1050" b="0" dirty="0">
                <a:solidFill>
                  <a:srgbClr val="183247"/>
                </a:solidFill>
              </a:rPr>
              <a:t>-capstone/</a:t>
            </a:r>
            <a:r>
              <a:rPr sz="1050" b="0" dirty="0" err="1">
                <a:solidFill>
                  <a:srgbClr val="183247"/>
                </a:solidFill>
              </a:rPr>
              <a:t>greenpharm</a:t>
            </a:r>
            <a:endParaRPr sz="1050" b="0" dirty="0">
              <a:solidFill>
                <a:srgbClr val="183247"/>
              </a:solidFill>
            </a:endParaRP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B006C9FC-0623-4813-87F2-C00CAE536BD1}"/>
              </a:ext>
            </a:extLst>
          </p:cNvPr>
          <p:cNvSpPr>
            <a:spLocks noGrp="1"/>
          </p:cNvSpPr>
          <p:nvPr/>
        </p:nvSpPr>
        <p:spPr>
          <a:xfrm>
            <a:off x="533400" y="6400800"/>
            <a:ext cx="106680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FINAL DEFENSE TEMPLATE  |  Replace every bracketed field and delete all guidance rails before presenting.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C32ADE5F-95C0-446E-8AEB-6A93DB61D95A}"/>
              </a:ext>
            </a:extLst>
          </p:cNvPr>
          <p:cNvSpPr>
            <a:spLocks noGrp="1"/>
          </p:cNvSpPr>
          <p:nvPr/>
        </p:nvSpPr>
        <p:spPr>
          <a:xfrm>
            <a:off x="4191000" y="6705600"/>
            <a:ext cx="3810000" cy="1047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600" b="0">
                <a:solidFill>
                  <a:srgbClr val="BFD3E1"/>
                </a:solidFill>
              </a:defRPr>
            </a:pPr>
            <a:r>
              <a:rPr sz="600" b="0">
                <a:solidFill>
                  <a:srgbClr val="BFD3E1"/>
                </a:solidFill>
              </a:rPr>
              <a:t>Dr. C. Rajesh Babu | SSETSCS415</a:t>
            </a:r>
          </a:p>
        </p:txBody>
      </p:sp>
    </p:spTree>
    <p:extLst>
      <p:ext uri="{BB962C8B-B14F-4D97-AF65-F5344CB8AC3E}">
        <p14:creationId xmlns:p14="http://schemas.microsoft.com/office/powerpoint/2010/main" val="10480551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>
            <a:extLst>
              <a:ext uri="{FF2B5EF4-FFF2-40B4-BE49-F238E27FC236}">
                <a16:creationId xmlns:a16="http://schemas.microsoft.com/office/drawing/2014/main" id="{14C70E62-31A0-46F5-961F-2E2660A51C8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82475" cy="76200"/>
          </a:xfrm>
          <a:prstGeom prst="rect">
            <a:avLst/>
          </a:prstGeom>
          <a:solidFill>
            <a:srgbClr val="0B7895"/>
          </a:solidFill>
          <a:ln w="0">
            <a:solidFill>
              <a:srgbClr val="0B7895"/>
            </a:solidFill>
            <a:prstDash val="solid"/>
          </a:ln>
        </p:spPr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9818CFF6-4CB2-4710-851F-3498D977E56F}"/>
              </a:ext>
            </a:extLst>
          </p:cNvPr>
          <p:cNvSpPr>
            <a:spLocks noGrp="1"/>
          </p:cNvSpPr>
          <p:nvPr/>
        </p:nvSpPr>
        <p:spPr>
          <a:xfrm>
            <a:off x="438150" y="228600"/>
            <a:ext cx="1000125" cy="552450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9525">
            <a:solidFill>
              <a:srgbClr val="C9D6E2"/>
            </a:solidFill>
            <a:prstDash val="solid"/>
          </a:ln>
        </p:spPr>
      </p:sp>
      <p:pic>
        <p:nvPicPr>
          <p:cNvPr id="27" name="Picture 26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514350" y="450359"/>
            <a:ext cx="847725" cy="108932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36F82C77-A2D6-4C88-B959-3C85BADDCDC3}"/>
              </a:ext>
            </a:extLst>
          </p:cNvPr>
          <p:cNvSpPr>
            <a:spLocks noGrp="1"/>
          </p:cNvSpPr>
          <p:nvPr/>
        </p:nvSpPr>
        <p:spPr>
          <a:xfrm>
            <a:off x="1657350" y="266700"/>
            <a:ext cx="6953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900" b="1">
                <a:solidFill>
                  <a:srgbClr val="1264A3"/>
                </a:solidFill>
              </a:defRPr>
            </a:pPr>
            <a:r>
              <a:rPr sz="900" b="1">
                <a:solidFill>
                  <a:srgbClr val="1264A3"/>
                </a:solidFill>
              </a:rPr>
              <a:t>CSA15  |  CLOUD COMPUTING AND BIG DATA ANALYTICS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E484666-C522-4157-9AF1-2BFB5E0D488F}"/>
              </a:ext>
            </a:extLst>
          </p:cNvPr>
          <p:cNvSpPr>
            <a:spLocks noGrp="1"/>
          </p:cNvSpPr>
          <p:nvPr/>
        </p:nvSpPr>
        <p:spPr>
          <a:xfrm>
            <a:off x="9572625" y="266700"/>
            <a:ext cx="2095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825" b="1">
                <a:solidFill>
                  <a:srgbClr val="0B7895"/>
                </a:solidFill>
              </a:defRPr>
            </a:pPr>
            <a:r>
              <a:rPr sz="825" b="1">
                <a:solidFill>
                  <a:srgbClr val="0B7895"/>
                </a:solidFill>
              </a:rPr>
              <a:t>CAPSTONE FINAL DEFENSE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48033F7-0061-4726-8072-E17DEA54B3A1}"/>
              </a:ext>
            </a:extLst>
          </p:cNvPr>
          <p:cNvSpPr>
            <a:spLocks noGrp="1"/>
          </p:cNvSpPr>
          <p:nvPr/>
        </p:nvSpPr>
        <p:spPr>
          <a:xfrm>
            <a:off x="514350" y="981075"/>
            <a:ext cx="102870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2325" b="1">
                <a:solidFill>
                  <a:srgbClr val="0B2E4F"/>
                </a:solidFill>
              </a:defRPr>
            </a:pPr>
            <a:r>
              <a:rPr sz="2325" b="1">
                <a:solidFill>
                  <a:srgbClr val="0B2E4F"/>
                </a:solidFill>
              </a:rPr>
              <a:t>Executive Summary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AF560B9-6392-4896-94AF-187FF72E414B}"/>
              </a:ext>
            </a:extLst>
          </p:cNvPr>
          <p:cNvSpPr>
            <a:spLocks noGrp="1"/>
          </p:cNvSpPr>
          <p:nvPr/>
        </p:nvSpPr>
        <p:spPr>
          <a:xfrm>
            <a:off x="533400" y="1457325"/>
            <a:ext cx="10287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1125" b="0">
                <a:solidFill>
                  <a:srgbClr val="52677A"/>
                </a:solidFill>
              </a:defRPr>
            </a:pPr>
            <a:r>
              <a:rPr sz="1125" b="0">
                <a:solidFill>
                  <a:srgbClr val="52677A"/>
                </a:solidFill>
              </a:rPr>
              <a:t>State the product, the cloud intervention and the measurable value in one view.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2C540A1-9714-4A5A-8E54-5708CB03C558}"/>
              </a:ext>
            </a:extLst>
          </p:cNvPr>
          <p:cNvSpPr>
            <a:spLocks noGrp="1"/>
          </p:cNvSpPr>
          <p:nvPr/>
        </p:nvSpPr>
        <p:spPr>
          <a:xfrm>
            <a:off x="514350" y="1847850"/>
            <a:ext cx="11153775" cy="19050"/>
          </a:xfrm>
          <a:prstGeom prst="rect">
            <a:avLst/>
          </a:prstGeom>
          <a:solidFill>
            <a:srgbClr val="C9D6E2"/>
          </a:solidFill>
          <a:ln w="0">
            <a:solidFill>
              <a:srgbClr val="C9D6E2"/>
            </a:solidFill>
            <a:prstDash val="solid"/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305C61B-9193-4986-B9E0-9232783FF418}"/>
              </a:ext>
            </a:extLst>
          </p:cNvPr>
          <p:cNvSpPr>
            <a:spLocks noGrp="1"/>
          </p:cNvSpPr>
          <p:nvPr/>
        </p:nvSpPr>
        <p:spPr>
          <a:xfrm>
            <a:off x="0" y="6419850"/>
            <a:ext cx="12182475" cy="438150"/>
          </a:xfrm>
          <a:prstGeom prst="rect">
            <a:avLst/>
          </a:prstGeom>
          <a:solidFill>
            <a:srgbClr val="0B2E4F"/>
          </a:solidFill>
          <a:ln w="0">
            <a:solidFill>
              <a:srgbClr val="0B2E4F"/>
            </a:solidFill>
            <a:prstDash val="solid"/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8481CF3-99BE-412D-986A-8A0F721EC800}"/>
              </a:ext>
            </a:extLst>
          </p:cNvPr>
          <p:cNvSpPr>
            <a:spLocks noGrp="1"/>
          </p:cNvSpPr>
          <p:nvPr/>
        </p:nvSpPr>
        <p:spPr>
          <a:xfrm>
            <a:off x="11049000" y="6515100"/>
            <a:ext cx="6191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975" b="1">
                <a:solidFill>
                  <a:srgbClr val="D39216"/>
                </a:solidFill>
              </a:defRPr>
            </a:pPr>
            <a:r>
              <a:rPr sz="975" b="1">
                <a:solidFill>
                  <a:srgbClr val="D39216"/>
                </a:solidFill>
              </a:rPr>
              <a:t>02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23AA1AE-B6BB-4690-8DCB-B4FA3E92E9D7}"/>
              </a:ext>
            </a:extLst>
          </p:cNvPr>
          <p:cNvSpPr>
            <a:spLocks noGrp="1"/>
          </p:cNvSpPr>
          <p:nvPr/>
        </p:nvSpPr>
        <p:spPr>
          <a:xfrm>
            <a:off x="4191000" y="6715125"/>
            <a:ext cx="3810000" cy="1047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600" b="0">
                <a:solidFill>
                  <a:srgbClr val="BFD3E1"/>
                </a:solidFill>
              </a:defRPr>
            </a:pPr>
            <a:r>
              <a:rPr sz="600" b="0">
                <a:solidFill>
                  <a:srgbClr val="BFD3E1"/>
                </a:solidFill>
              </a:rPr>
              <a:t>Dr. C. Rajesh Babu | SSETSCS415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464BE83-2FE3-43FD-B342-CBE280462376}"/>
              </a:ext>
            </a:extLst>
          </p:cNvPr>
          <p:cNvSpPr>
            <a:spLocks noGrp="1"/>
          </p:cNvSpPr>
          <p:nvPr/>
        </p:nvSpPr>
        <p:spPr>
          <a:xfrm>
            <a:off x="514350" y="2143125"/>
            <a:ext cx="3565525" cy="3571875"/>
          </a:xfrm>
          <a:prstGeom prst="rect">
            <a:avLst/>
          </a:prstGeom>
          <a:solidFill>
            <a:srgbClr val="FFFFFF"/>
          </a:solidFill>
          <a:ln w="9525">
            <a:solidFill>
              <a:srgbClr val="C9D6E2"/>
            </a:solidFill>
            <a:prstDash val="solid"/>
          </a:ln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83F28BF-5A5D-4787-B839-44BD756B2F10}"/>
              </a:ext>
            </a:extLst>
          </p:cNvPr>
          <p:cNvSpPr>
            <a:spLocks noGrp="1"/>
          </p:cNvSpPr>
          <p:nvPr/>
        </p:nvSpPr>
        <p:spPr>
          <a:xfrm>
            <a:off x="514350" y="2143125"/>
            <a:ext cx="57150" cy="3571875"/>
          </a:xfrm>
          <a:prstGeom prst="rect">
            <a:avLst/>
          </a:prstGeom>
          <a:solidFill>
            <a:srgbClr val="1264A3"/>
          </a:solidFill>
          <a:ln w="0">
            <a:solidFill>
              <a:srgbClr val="1264A3"/>
            </a:solidFill>
            <a:prstDash val="solid"/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71B16AD-DB49-4055-88F1-5A653DE20A46}"/>
              </a:ext>
            </a:extLst>
          </p:cNvPr>
          <p:cNvSpPr>
            <a:spLocks noGrp="1"/>
          </p:cNvSpPr>
          <p:nvPr/>
        </p:nvSpPr>
        <p:spPr>
          <a:xfrm>
            <a:off x="723900" y="2295525"/>
            <a:ext cx="3165475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900" b="1">
                <a:solidFill>
                  <a:srgbClr val="1264A3"/>
                </a:solidFill>
              </a:defRPr>
            </a:pPr>
            <a:r>
              <a:rPr sz="900" b="1">
                <a:solidFill>
                  <a:srgbClr val="1264A3"/>
                </a:solidFill>
              </a:rPr>
              <a:t>PROBLEM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C627EBB-DAAB-4CF1-8EF4-2973257B97B0}"/>
              </a:ext>
            </a:extLst>
          </p:cNvPr>
          <p:cNvSpPr>
            <a:spLocks noGrp="1"/>
          </p:cNvSpPr>
          <p:nvPr/>
        </p:nvSpPr>
        <p:spPr>
          <a:xfrm>
            <a:off x="723900" y="2600325"/>
            <a:ext cx="3165475" cy="2981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1275" b="0">
                <a:solidFill>
                  <a:srgbClr val="183247"/>
                </a:solidFill>
              </a:defRPr>
            </a:pPr>
            <a:r>
              <a:rPr sz="1275" b="0">
                <a:solidFill>
                  <a:srgbClr val="183247"/>
                </a:solidFill>
              </a:rPr>
              <a:t>Pharmacy staff manually track medicine stock, batches and expiry dates using spreadsheets or paper logs, causing overstocking, undetected near-expiry stock and stockouts, with financial loss and pharmaceutical waste as evidence of the operational gap.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3749136-5856-49B8-8656-C0D615DA075E}"/>
              </a:ext>
            </a:extLst>
          </p:cNvPr>
          <p:cNvSpPr>
            <a:spLocks noGrp="1"/>
          </p:cNvSpPr>
          <p:nvPr/>
        </p:nvSpPr>
        <p:spPr>
          <a:xfrm>
            <a:off x="4308475" y="2143125"/>
            <a:ext cx="3565525" cy="3571875"/>
          </a:xfrm>
          <a:prstGeom prst="rect">
            <a:avLst/>
          </a:prstGeom>
          <a:solidFill>
            <a:srgbClr val="FFFFFF"/>
          </a:solidFill>
          <a:ln w="9525">
            <a:solidFill>
              <a:srgbClr val="C9D6E2"/>
            </a:solidFill>
            <a:prstDash val="solid"/>
          </a:ln>
        </p:spPr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5358656-7D31-45BA-8FDA-D8C82EDD3C87}"/>
              </a:ext>
            </a:extLst>
          </p:cNvPr>
          <p:cNvSpPr>
            <a:spLocks noGrp="1"/>
          </p:cNvSpPr>
          <p:nvPr/>
        </p:nvSpPr>
        <p:spPr>
          <a:xfrm>
            <a:off x="4308475" y="2143125"/>
            <a:ext cx="57150" cy="3571875"/>
          </a:xfrm>
          <a:prstGeom prst="rect">
            <a:avLst/>
          </a:prstGeom>
          <a:solidFill>
            <a:srgbClr val="0B7895"/>
          </a:solidFill>
          <a:ln w="0">
            <a:solidFill>
              <a:srgbClr val="0B7895"/>
            </a:solidFill>
            <a:prstDash val="solid"/>
          </a:ln>
        </p:spPr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FC799151-5E42-4E92-B08D-3DA6C2E8BA46}"/>
              </a:ext>
            </a:extLst>
          </p:cNvPr>
          <p:cNvSpPr>
            <a:spLocks noGrp="1"/>
          </p:cNvSpPr>
          <p:nvPr/>
        </p:nvSpPr>
        <p:spPr>
          <a:xfrm>
            <a:off x="4518025" y="2295525"/>
            <a:ext cx="3165475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900" b="1">
                <a:solidFill>
                  <a:srgbClr val="0B7895"/>
                </a:solidFill>
              </a:defRPr>
            </a:pPr>
            <a:r>
              <a:rPr sz="900" b="1">
                <a:solidFill>
                  <a:srgbClr val="0B7895"/>
                </a:solidFill>
              </a:rPr>
              <a:t>CLOUD INTERVENTION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E7F27941-8B30-4FC6-83A1-16AE00485E71}"/>
              </a:ext>
            </a:extLst>
          </p:cNvPr>
          <p:cNvSpPr>
            <a:spLocks noGrp="1"/>
          </p:cNvSpPr>
          <p:nvPr/>
        </p:nvSpPr>
        <p:spPr>
          <a:xfrm>
            <a:off x="4518025" y="2600325"/>
            <a:ext cx="3165475" cy="2981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1275" b="0">
                <a:solidFill>
                  <a:srgbClr val="183247"/>
                </a:solidFill>
              </a:defRPr>
            </a:pPr>
            <a:r>
              <a:rPr sz="1275" b="0">
                <a:solidFill>
                  <a:srgbClr val="183247"/>
                </a:solidFill>
              </a:rPr>
              <a:t>A modular cloud-hosted web app (React frontend, FastAPI backend, PostgreSQL database) centralizes medicine, supplier and purchase data, and runs server-side low-stock and expiry-detection logic accessible through a role-based dashboard.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58636A85-0917-48DB-9AFB-77603A7DDBEB}"/>
              </a:ext>
            </a:extLst>
          </p:cNvPr>
          <p:cNvSpPr>
            <a:spLocks noGrp="1"/>
          </p:cNvSpPr>
          <p:nvPr/>
        </p:nvSpPr>
        <p:spPr>
          <a:xfrm>
            <a:off x="8102600" y="2143125"/>
            <a:ext cx="3565525" cy="3571875"/>
          </a:xfrm>
          <a:prstGeom prst="rect">
            <a:avLst/>
          </a:prstGeom>
          <a:solidFill>
            <a:srgbClr val="FFFFFF"/>
          </a:solidFill>
          <a:ln w="9525">
            <a:solidFill>
              <a:srgbClr val="C9D6E2"/>
            </a:solidFill>
            <a:prstDash val="solid"/>
          </a:ln>
        </p:spPr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E23455FF-D8A2-46E0-AF0C-8C189DEB5818}"/>
              </a:ext>
            </a:extLst>
          </p:cNvPr>
          <p:cNvSpPr>
            <a:spLocks noGrp="1"/>
          </p:cNvSpPr>
          <p:nvPr/>
        </p:nvSpPr>
        <p:spPr>
          <a:xfrm>
            <a:off x="8102600" y="2143125"/>
            <a:ext cx="57150" cy="3571875"/>
          </a:xfrm>
          <a:prstGeom prst="rect">
            <a:avLst/>
          </a:prstGeom>
          <a:solidFill>
            <a:srgbClr val="D39216"/>
          </a:solidFill>
          <a:ln w="0">
            <a:solidFill>
              <a:srgbClr val="D39216"/>
            </a:solidFill>
            <a:prstDash val="solid"/>
          </a:ln>
        </p:spPr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CCD57DA5-EBC7-44C7-BEBC-0D15E7006893}"/>
              </a:ext>
            </a:extLst>
          </p:cNvPr>
          <p:cNvSpPr>
            <a:spLocks noGrp="1"/>
          </p:cNvSpPr>
          <p:nvPr/>
        </p:nvSpPr>
        <p:spPr>
          <a:xfrm>
            <a:off x="8312150" y="2295525"/>
            <a:ext cx="3165475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900" b="1">
                <a:solidFill>
                  <a:srgbClr val="D39216"/>
                </a:solidFill>
              </a:defRPr>
            </a:pPr>
            <a:r>
              <a:rPr sz="900" b="1">
                <a:solidFill>
                  <a:srgbClr val="D39216"/>
                </a:solidFill>
              </a:rPr>
              <a:t>MEASURED VALUE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BD94C5F5-A8D5-4F96-A292-F8440C8665C7}"/>
              </a:ext>
            </a:extLst>
          </p:cNvPr>
          <p:cNvSpPr>
            <a:spLocks noGrp="1"/>
          </p:cNvSpPr>
          <p:nvPr/>
        </p:nvSpPr>
        <p:spPr>
          <a:xfrm>
            <a:off x="8312150" y="2600325"/>
            <a:ext cx="3165475" cy="2981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1275" b="0">
                <a:solidFill>
                  <a:srgbClr val="183247"/>
                </a:solidFill>
              </a:defRPr>
            </a:pPr>
            <a:r>
              <a:rPr sz="1275" b="0">
                <a:solidFill>
                  <a:srgbClr val="183247"/>
                </a:solidFill>
              </a:rPr>
              <a:t>Centralized tracking with automated low-stock and near-expiry alerts, reducing missed restocking events and pharmaceutical wastage compared to manual tracking.</a:t>
            </a:r>
          </a:p>
        </p:txBody>
      </p:sp>
    </p:spTree>
    <p:extLst>
      <p:ext uri="{BB962C8B-B14F-4D97-AF65-F5344CB8AC3E}">
        <p14:creationId xmlns:p14="http://schemas.microsoft.com/office/powerpoint/2010/main" val="2385360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82" name="Table 7"/>
          <p:cNvGraphicFramePr/>
          <p:nvPr/>
        </p:nvGraphicFramePr>
        <p:xfrm>
          <a:off x="685800" y="1828800"/>
          <a:ext cx="10835640" cy="3246120"/>
        </p:xfrm>
        <a:graphic>
          <a:graphicData uri="http://schemas.openxmlformats.org/drawingml/2006/table">
            <a:tbl>
              <a:tblPr firstRow="1" bandRow="1">
                <a:tableStyleId>{4C3C2611-4C71-4FC5-86AE-919BDF0F9419}</a:tableStyleId>
              </a:tblPr>
              <a:tblGrid>
                <a:gridCol w="27089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0891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0891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0891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4102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00" b="1">
                          <a:solidFill>
                            <a:srgbClr val="FFFFFF"/>
                          </a:solidFill>
                        </a:rPr>
                        <a:t>Paper / Author</a:t>
                      </a:r>
                    </a:p>
                  </a:txBody>
                  <a:tcPr marL="45720" marR="45720" horzOverflow="overflow">
                    <a:solidFill>
                      <a:srgbClr val="0A4C9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00" b="1">
                          <a:solidFill>
                            <a:srgbClr val="FFFFFF"/>
                          </a:solidFill>
                        </a:rPr>
                        <a:t>Method Used</a:t>
                      </a:r>
                    </a:p>
                  </a:txBody>
                  <a:tcPr marL="45720" marR="45720" horzOverflow="overflow">
                    <a:solidFill>
                      <a:srgbClr val="0A4C9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00" b="1">
                          <a:solidFill>
                            <a:srgbClr val="FFFFFF"/>
                          </a:solidFill>
                        </a:rPr>
                        <a:t>Limitation / Gap</a:t>
                      </a:r>
                    </a:p>
                  </a:txBody>
                  <a:tcPr marL="45720" marR="45720" horzOverflow="overflow">
                    <a:solidFill>
                      <a:srgbClr val="0A4C9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00" b="1">
                          <a:solidFill>
                            <a:srgbClr val="FFFFFF"/>
                          </a:solidFill>
                        </a:rPr>
                        <a:t>How Your Project Extends It</a:t>
                      </a:r>
                    </a:p>
                  </a:txBody>
                  <a:tcPr marL="45720" marR="45720" horzOverflow="overflow">
                    <a:solidFill>
                      <a:srgbClr val="0A4C9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102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900">
                          <a:solidFill>
                            <a:srgbClr val="263238"/>
                          </a:solidFill>
                        </a:rPr>
                        <a:t>Buyya, R., &amp; Beloglazov, A. (2024)</a:t>
                      </a:r>
                    </a:p>
                  </a:txBody>
                  <a:tcPr marL="45720" marR="45720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900">
                          <a:solidFill>
                            <a:srgbClr val="263238"/>
                          </a:solidFill>
                        </a:rPr>
                        <a:t>Conceptual framework for energy-efficient, sustainable cloud data centre resource/workload management</a:t>
                      </a:r>
                    </a:p>
                  </a:txBody>
                  <a:tcPr marL="45720" marR="45720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900">
                          <a:solidFill>
                            <a:srgbClr val="263238"/>
                          </a:solidFill>
                        </a:rPr>
                        <a:t>Broad conceptual vision, not applied to a specific application domain</a:t>
                      </a:r>
                    </a:p>
                  </a:txBody>
                  <a:tcPr marL="45720" marR="45720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900">
                          <a:solidFill>
                            <a:srgbClr val="263238"/>
                          </a:solidFill>
                        </a:rPr>
                        <a:t>Applies green-computing principles concretely to a pharmacy inventory workload</a:t>
                      </a:r>
                    </a:p>
                  </a:txBody>
                  <a:tcPr marL="45720" marR="45720" horzOverflow="overflow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102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900">
                          <a:solidFill>
                            <a:srgbClr val="263238"/>
                          </a:solidFill>
                        </a:rPr>
                        <a:t>Singh, Misra, Mittal &amp; Kumar (2024)</a:t>
                      </a:r>
                    </a:p>
                  </a:txBody>
                  <a:tcPr marL="45720" marR="45720" horzOverflow="overflow">
                    <a:solidFill>
                      <a:srgbClr val="F3F9F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900">
                          <a:solidFill>
                            <a:srgbClr val="263238"/>
                          </a:solidFill>
                        </a:rPr>
                        <a:t>Systematic literature review of green cloud computing and energy efficiency</a:t>
                      </a:r>
                    </a:p>
                  </a:txBody>
                  <a:tcPr marL="45720" marR="45720" horzOverflow="overflow">
                    <a:solidFill>
                      <a:srgbClr val="F3F9F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900">
                          <a:solidFill>
                            <a:srgbClr val="263238"/>
                          </a:solidFill>
                        </a:rPr>
                        <a:t>Review-level synthesis with no working implementation</a:t>
                      </a:r>
                    </a:p>
                  </a:txBody>
                  <a:tcPr marL="45720" marR="45720" horzOverflow="overflow">
                    <a:solidFill>
                      <a:srgbClr val="F3F9F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900">
                          <a:solidFill>
                            <a:srgbClr val="263238"/>
                          </a:solidFill>
                        </a:rPr>
                        <a:t>Delivers a working system demonstrating efficient use of compute/DB resources</a:t>
                      </a:r>
                    </a:p>
                  </a:txBody>
                  <a:tcPr marL="45720" marR="45720" horzOverflow="overflow">
                    <a:solidFill>
                      <a:srgbClr val="F3F9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102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900">
                          <a:solidFill>
                            <a:srgbClr val="263238"/>
                          </a:solidFill>
                        </a:rPr>
                        <a:t>Chebet, K., &amp; Mbandu, V. (2024)</a:t>
                      </a:r>
                    </a:p>
                  </a:txBody>
                  <a:tcPr marL="45720" marR="45720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900">
                          <a:solidFill>
                            <a:srgbClr val="263238"/>
                          </a:solidFill>
                        </a:rPr>
                        <a:t>Cloud-enabled ML framework for pharmacy inventory management (Nairobi County)</a:t>
                      </a:r>
                    </a:p>
                  </a:txBody>
                  <a:tcPr marL="45720" marR="45720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900">
                          <a:solidFill>
                            <a:srgbClr val="263238"/>
                          </a:solidFill>
                        </a:rPr>
                        <a:t>ML-dependent and regionally scoped</a:t>
                      </a:r>
                    </a:p>
                  </a:txBody>
                  <a:tcPr marL="45720" marR="45720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900">
                          <a:solidFill>
                            <a:srgbClr val="263238"/>
                          </a:solidFill>
                        </a:rPr>
                        <a:t>Uses lightweight rule-based low-stock/expiry logic deployable without ML infrastructure</a:t>
                      </a:r>
                    </a:p>
                  </a:txBody>
                  <a:tcPr marL="45720" marR="45720" horzOverflow="overflow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102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900">
                          <a:solidFill>
                            <a:srgbClr val="263238"/>
                          </a:solidFill>
                        </a:rPr>
                        <a:t>World Health Organization (2024)</a:t>
                      </a:r>
                    </a:p>
                  </a:txBody>
                  <a:tcPr marL="45720" marR="45720" horzOverflow="overflow">
                    <a:solidFill>
                      <a:srgbClr val="F3F9F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900">
                          <a:solidFill>
                            <a:srgbClr val="263238"/>
                          </a:solidFill>
                        </a:rPr>
                        <a:t>Compendium of pharmaceutical quality-assurance guidelines</a:t>
                      </a:r>
                    </a:p>
                  </a:txBody>
                  <a:tcPr marL="45720" marR="45720" horzOverflow="overflow">
                    <a:solidFill>
                      <a:srgbClr val="F3F9F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900">
                          <a:solidFill>
                            <a:srgbClr val="263238"/>
                          </a:solidFill>
                        </a:rPr>
                        <a:t>Policy/guideline document, not a software system</a:t>
                      </a:r>
                    </a:p>
                  </a:txBody>
                  <a:tcPr marL="45720" marR="45720" horzOverflow="overflow">
                    <a:solidFill>
                      <a:srgbClr val="F3F9F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900">
                          <a:solidFill>
                            <a:srgbClr val="263238"/>
                          </a:solidFill>
                        </a:rPr>
                        <a:t>Operationalizes guideline principles (batch tracking, expiry control) as system features</a:t>
                      </a:r>
                    </a:p>
                  </a:txBody>
                  <a:tcPr marL="45720" marR="45720" horzOverflow="overflow">
                    <a:solidFill>
                      <a:srgbClr val="F3F9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1020">
                <a:tc>
                  <a:txBody>
                    <a:bodyPr/>
                    <a:lstStyle/>
                    <a:p>
                      <a:endParaRPr/>
                    </a:p>
                  </a:txBody>
                  <a:tcPr marL="45720" marR="45720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45720" marR="45720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45720" marR="45720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45720" marR="45720" horzOverflow="overflow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65" name="Rectangle 164">
            <a:extLst>
              <a:ext uri="{FF2B5EF4-FFF2-40B4-BE49-F238E27FC236}">
                <a16:creationId xmlns:a16="http://schemas.microsoft.com/office/drawing/2014/main" id="{B1AD4202-28E3-4486-8A83-5C5E095484DD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82475" cy="76200"/>
          </a:xfrm>
          <a:prstGeom prst="rect">
            <a:avLst/>
          </a:prstGeom>
          <a:solidFill>
            <a:srgbClr val="0B7895"/>
          </a:solidFill>
          <a:ln w="0">
            <a:solidFill>
              <a:srgbClr val="0B7895"/>
            </a:solidFill>
            <a:prstDash val="solid"/>
          </a:ln>
        </p:spPr>
      </p:sp>
      <p:sp>
        <p:nvSpPr>
          <p:cNvPr id="166" name="Rectangle: Rounded Corners 165">
            <a:extLst>
              <a:ext uri="{FF2B5EF4-FFF2-40B4-BE49-F238E27FC236}">
                <a16:creationId xmlns:a16="http://schemas.microsoft.com/office/drawing/2014/main" id="{C7B31CAE-8E50-401B-AD9E-D6E6F9C102CA}"/>
              </a:ext>
            </a:extLst>
          </p:cNvPr>
          <p:cNvSpPr>
            <a:spLocks noGrp="1"/>
          </p:cNvSpPr>
          <p:nvPr/>
        </p:nvSpPr>
        <p:spPr>
          <a:xfrm>
            <a:off x="438150" y="228600"/>
            <a:ext cx="1000125" cy="552450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9525">
            <a:solidFill>
              <a:srgbClr val="C9D6E2"/>
            </a:solidFill>
            <a:prstDash val="solid"/>
          </a:ln>
        </p:spPr>
      </p:sp>
      <p:pic>
        <p:nvPicPr>
          <p:cNvPr id="185" name="Picture 184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514350" y="450359"/>
            <a:ext cx="847725" cy="108932"/>
          </a:xfrm>
          <a:prstGeom prst="rect">
            <a:avLst/>
          </a:prstGeom>
        </p:spPr>
      </p:pic>
      <p:sp>
        <p:nvSpPr>
          <p:cNvPr id="168" name="Rectangle 167">
            <a:extLst>
              <a:ext uri="{FF2B5EF4-FFF2-40B4-BE49-F238E27FC236}">
                <a16:creationId xmlns:a16="http://schemas.microsoft.com/office/drawing/2014/main" id="{505C5D4D-A6F2-43F5-818C-5A61A0FBBC71}"/>
              </a:ext>
            </a:extLst>
          </p:cNvPr>
          <p:cNvSpPr>
            <a:spLocks noGrp="1"/>
          </p:cNvSpPr>
          <p:nvPr/>
        </p:nvSpPr>
        <p:spPr>
          <a:xfrm>
            <a:off x="1657350" y="266700"/>
            <a:ext cx="6953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900" b="1">
                <a:solidFill>
                  <a:srgbClr val="1264A3"/>
                </a:solidFill>
              </a:defRPr>
            </a:pPr>
            <a:r>
              <a:rPr sz="900" b="1">
                <a:solidFill>
                  <a:srgbClr val="1264A3"/>
                </a:solidFill>
              </a:rPr>
              <a:t>CSA15  |  CLOUD COMPUTING AND BIG DATA ANALYTICS</a:t>
            </a:r>
          </a:p>
        </p:txBody>
      </p:sp>
      <p:sp>
        <p:nvSpPr>
          <p:cNvPr id="169" name="Rectangle 168">
            <a:extLst>
              <a:ext uri="{FF2B5EF4-FFF2-40B4-BE49-F238E27FC236}">
                <a16:creationId xmlns:a16="http://schemas.microsoft.com/office/drawing/2014/main" id="{C0FBA1AD-9CF5-4C1E-BF79-E895E996F3C5}"/>
              </a:ext>
            </a:extLst>
          </p:cNvPr>
          <p:cNvSpPr>
            <a:spLocks noGrp="1"/>
          </p:cNvSpPr>
          <p:nvPr/>
        </p:nvSpPr>
        <p:spPr>
          <a:xfrm>
            <a:off x="9572625" y="266700"/>
            <a:ext cx="2095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825" b="1">
                <a:solidFill>
                  <a:srgbClr val="0B7895"/>
                </a:solidFill>
              </a:defRPr>
            </a:pPr>
            <a:r>
              <a:rPr sz="825" b="1">
                <a:solidFill>
                  <a:srgbClr val="0B7895"/>
                </a:solidFill>
              </a:rPr>
              <a:t>CAPSTONE FINAL DEFENSE</a:t>
            </a:r>
          </a:p>
        </p:txBody>
      </p:sp>
      <p:sp>
        <p:nvSpPr>
          <p:cNvPr id="170" name="Rectangle 169">
            <a:extLst>
              <a:ext uri="{FF2B5EF4-FFF2-40B4-BE49-F238E27FC236}">
                <a16:creationId xmlns:a16="http://schemas.microsoft.com/office/drawing/2014/main" id="{4D1D06B7-97B5-41D4-B008-AF31BE66B0E0}"/>
              </a:ext>
            </a:extLst>
          </p:cNvPr>
          <p:cNvSpPr>
            <a:spLocks noGrp="1"/>
          </p:cNvSpPr>
          <p:nvPr/>
        </p:nvSpPr>
        <p:spPr>
          <a:xfrm>
            <a:off x="514350" y="981075"/>
            <a:ext cx="102870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2325" b="1">
                <a:solidFill>
                  <a:srgbClr val="0B2E4F"/>
                </a:solidFill>
              </a:defRPr>
            </a:pPr>
            <a:r>
              <a:rPr sz="2325" b="1">
                <a:solidFill>
                  <a:srgbClr val="0B2E4F"/>
                </a:solidFill>
              </a:rPr>
              <a:t>Research Evidence and Gap</a:t>
            </a:r>
          </a:p>
        </p:txBody>
      </p:sp>
      <p:sp>
        <p:nvSpPr>
          <p:cNvPr id="171" name="Rectangle 170">
            <a:extLst>
              <a:ext uri="{FF2B5EF4-FFF2-40B4-BE49-F238E27FC236}">
                <a16:creationId xmlns:a16="http://schemas.microsoft.com/office/drawing/2014/main" id="{2E5DDE11-B6A1-46C4-B59D-620DC2D66812}"/>
              </a:ext>
            </a:extLst>
          </p:cNvPr>
          <p:cNvSpPr>
            <a:spLocks noGrp="1"/>
          </p:cNvSpPr>
          <p:nvPr/>
        </p:nvSpPr>
        <p:spPr>
          <a:xfrm>
            <a:off x="533400" y="1457325"/>
            <a:ext cx="10287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1125" b="0">
                <a:solidFill>
                  <a:srgbClr val="52677A"/>
                </a:solidFill>
              </a:defRPr>
            </a:pPr>
            <a:r>
              <a:rPr sz="1125" b="0">
                <a:solidFill>
                  <a:srgbClr val="52677A"/>
                </a:solidFill>
              </a:rPr>
              <a:t>Connect credible prior work to the precise technical gap addressed by the capstone.</a:t>
            </a:r>
          </a:p>
        </p:txBody>
      </p:sp>
      <p:sp>
        <p:nvSpPr>
          <p:cNvPr id="172" name="Rectangle 171">
            <a:extLst>
              <a:ext uri="{FF2B5EF4-FFF2-40B4-BE49-F238E27FC236}">
                <a16:creationId xmlns:a16="http://schemas.microsoft.com/office/drawing/2014/main" id="{A155915F-956F-49B2-ACB4-0B9B0C36877A}"/>
              </a:ext>
            </a:extLst>
          </p:cNvPr>
          <p:cNvSpPr>
            <a:spLocks noGrp="1"/>
          </p:cNvSpPr>
          <p:nvPr/>
        </p:nvSpPr>
        <p:spPr>
          <a:xfrm>
            <a:off x="514350" y="1847850"/>
            <a:ext cx="11153775" cy="19050"/>
          </a:xfrm>
          <a:prstGeom prst="rect">
            <a:avLst/>
          </a:prstGeom>
          <a:solidFill>
            <a:srgbClr val="C9D6E2"/>
          </a:solidFill>
          <a:ln w="0">
            <a:solidFill>
              <a:srgbClr val="C9D6E2"/>
            </a:solidFill>
            <a:prstDash val="solid"/>
          </a:ln>
        </p:spPr>
      </p:sp>
      <p:sp>
        <p:nvSpPr>
          <p:cNvPr id="173" name="Rectangle 172">
            <a:extLst>
              <a:ext uri="{FF2B5EF4-FFF2-40B4-BE49-F238E27FC236}">
                <a16:creationId xmlns:a16="http://schemas.microsoft.com/office/drawing/2014/main" id="{D208D4E1-357C-40CA-933C-23BDA79CF14C}"/>
              </a:ext>
            </a:extLst>
          </p:cNvPr>
          <p:cNvSpPr>
            <a:spLocks noGrp="1"/>
          </p:cNvSpPr>
          <p:nvPr/>
        </p:nvSpPr>
        <p:spPr>
          <a:xfrm>
            <a:off x="0" y="6419850"/>
            <a:ext cx="12182475" cy="438150"/>
          </a:xfrm>
          <a:prstGeom prst="rect">
            <a:avLst/>
          </a:prstGeom>
          <a:solidFill>
            <a:srgbClr val="0B2E4F"/>
          </a:solidFill>
          <a:ln w="0">
            <a:solidFill>
              <a:srgbClr val="0B2E4F"/>
            </a:solidFill>
            <a:prstDash val="solid"/>
          </a:ln>
        </p:spPr>
      </p:sp>
      <p:sp>
        <p:nvSpPr>
          <p:cNvPr id="175" name="Rectangle 174">
            <a:extLst>
              <a:ext uri="{FF2B5EF4-FFF2-40B4-BE49-F238E27FC236}">
                <a16:creationId xmlns:a16="http://schemas.microsoft.com/office/drawing/2014/main" id="{09C75B35-12D0-4ECC-A817-DB59DC2E12D6}"/>
              </a:ext>
            </a:extLst>
          </p:cNvPr>
          <p:cNvSpPr>
            <a:spLocks noGrp="1"/>
          </p:cNvSpPr>
          <p:nvPr/>
        </p:nvSpPr>
        <p:spPr>
          <a:xfrm>
            <a:off x="11049000" y="6515100"/>
            <a:ext cx="6191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975" b="1">
                <a:solidFill>
                  <a:srgbClr val="D39216"/>
                </a:solidFill>
              </a:defRPr>
            </a:pPr>
            <a:r>
              <a:rPr sz="975" b="1">
                <a:solidFill>
                  <a:srgbClr val="D39216"/>
                </a:solidFill>
              </a:rPr>
              <a:t>03</a:t>
            </a:r>
          </a:p>
        </p:txBody>
      </p:sp>
      <p:sp>
        <p:nvSpPr>
          <p:cNvPr id="176" name="Rectangle 175">
            <a:extLst>
              <a:ext uri="{FF2B5EF4-FFF2-40B4-BE49-F238E27FC236}">
                <a16:creationId xmlns:a16="http://schemas.microsoft.com/office/drawing/2014/main" id="{C146A2F2-B4BB-42FB-A448-299FAEFF024F}"/>
              </a:ext>
            </a:extLst>
          </p:cNvPr>
          <p:cNvSpPr>
            <a:spLocks noGrp="1"/>
          </p:cNvSpPr>
          <p:nvPr/>
        </p:nvSpPr>
        <p:spPr>
          <a:xfrm>
            <a:off x="4191000" y="6715125"/>
            <a:ext cx="3810000" cy="1047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600" b="0">
                <a:solidFill>
                  <a:srgbClr val="BFD3E1"/>
                </a:solidFill>
              </a:defRPr>
            </a:pPr>
            <a:r>
              <a:rPr sz="600" b="0">
                <a:solidFill>
                  <a:srgbClr val="BFD3E1"/>
                </a:solidFill>
              </a:rPr>
              <a:t>Dr. C. Rajesh Babu | SSETSCS415</a:t>
            </a:r>
          </a:p>
        </p:txBody>
      </p:sp>
      <p:sp>
        <p:nvSpPr>
          <p:cNvPr id="178" name="Rectangle 177">
            <a:extLst>
              <a:ext uri="{FF2B5EF4-FFF2-40B4-BE49-F238E27FC236}">
                <a16:creationId xmlns:a16="http://schemas.microsoft.com/office/drawing/2014/main" id="{C7FB3617-EBE5-46AB-8CBC-B72E173FDA40}"/>
              </a:ext>
            </a:extLst>
          </p:cNvPr>
          <p:cNvSpPr>
            <a:spLocks noGrp="1"/>
          </p:cNvSpPr>
          <p:nvPr/>
        </p:nvSpPr>
        <p:spPr>
          <a:xfrm>
            <a:off x="514350" y="4829175"/>
            <a:ext cx="11153775" cy="1066800"/>
          </a:xfrm>
          <a:prstGeom prst="rect">
            <a:avLst/>
          </a:prstGeom>
          <a:solidFill>
            <a:srgbClr val="FFFFFF"/>
          </a:solidFill>
          <a:ln w="9525">
            <a:solidFill>
              <a:srgbClr val="C9D6E2"/>
            </a:solidFill>
            <a:prstDash val="solid"/>
          </a:ln>
        </p:spPr>
      </p:sp>
      <p:sp>
        <p:nvSpPr>
          <p:cNvPr id="179" name="Rectangle 178">
            <a:extLst>
              <a:ext uri="{FF2B5EF4-FFF2-40B4-BE49-F238E27FC236}">
                <a16:creationId xmlns:a16="http://schemas.microsoft.com/office/drawing/2014/main" id="{7D5C933D-FDC9-4B7F-A834-96A28FF93472}"/>
              </a:ext>
            </a:extLst>
          </p:cNvPr>
          <p:cNvSpPr>
            <a:spLocks noGrp="1"/>
          </p:cNvSpPr>
          <p:nvPr/>
        </p:nvSpPr>
        <p:spPr>
          <a:xfrm>
            <a:off x="514350" y="4829175"/>
            <a:ext cx="57150" cy="1066800"/>
          </a:xfrm>
          <a:prstGeom prst="rect">
            <a:avLst/>
          </a:prstGeom>
          <a:solidFill>
            <a:srgbClr val="D39216"/>
          </a:solidFill>
          <a:ln w="0">
            <a:solidFill>
              <a:srgbClr val="D39216"/>
            </a:solidFill>
            <a:prstDash val="solid"/>
          </a:ln>
        </p:spPr>
      </p:sp>
      <p:sp>
        <p:nvSpPr>
          <p:cNvPr id="180" name="Rectangle 179">
            <a:extLst>
              <a:ext uri="{FF2B5EF4-FFF2-40B4-BE49-F238E27FC236}">
                <a16:creationId xmlns:a16="http://schemas.microsoft.com/office/drawing/2014/main" id="{8130690C-86AD-44F7-BB5B-DC0BB398C3A9}"/>
              </a:ext>
            </a:extLst>
          </p:cNvPr>
          <p:cNvSpPr>
            <a:spLocks noGrp="1"/>
          </p:cNvSpPr>
          <p:nvPr/>
        </p:nvSpPr>
        <p:spPr>
          <a:xfrm>
            <a:off x="723900" y="4981575"/>
            <a:ext cx="10753725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900" b="1">
                <a:solidFill>
                  <a:srgbClr val="D39216"/>
                </a:solidFill>
              </a:defRPr>
            </a:pPr>
            <a:r>
              <a:rPr sz="900" b="1">
                <a:solidFill>
                  <a:srgbClr val="D39216"/>
                </a:solidFill>
              </a:rPr>
              <a:t>RESEARCH GAP CONVERTED INTO DESIGN ACTION</a:t>
            </a:r>
          </a:p>
        </p:txBody>
      </p:sp>
      <p:sp>
        <p:nvSpPr>
          <p:cNvPr id="181" name="Rectangle 180">
            <a:extLst>
              <a:ext uri="{FF2B5EF4-FFF2-40B4-BE49-F238E27FC236}">
                <a16:creationId xmlns:a16="http://schemas.microsoft.com/office/drawing/2014/main" id="{B413F2F6-63E1-4789-B601-5AFF9DC84839}"/>
              </a:ext>
            </a:extLst>
          </p:cNvPr>
          <p:cNvSpPr>
            <a:spLocks noGrp="1"/>
          </p:cNvSpPr>
          <p:nvPr/>
        </p:nvSpPr>
        <p:spPr>
          <a:xfrm>
            <a:off x="723900" y="5286375"/>
            <a:ext cx="10753725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1200" b="0">
                <a:solidFill>
                  <a:srgbClr val="183247"/>
                </a:solidFill>
              </a:defRPr>
            </a:pPr>
            <a:r>
              <a:rPr sz="1200" b="0">
                <a:solidFill>
                  <a:srgbClr val="183247"/>
                </a:solidFill>
              </a:rPr>
              <a:t>Existing green-cloud literature is conceptual/review-level, and pharmacy-specific cloud tools are ML-dependent and regionally scoped. GreenPharm closes this gap with a lightweight, modular React/FastAPI/PostgreSQL system applying rule-based stock and expiry monitoring with green-computing query design.</a:t>
            </a:r>
          </a:p>
        </p:txBody>
      </p:sp>
    </p:spTree>
    <p:extLst>
      <p:ext uri="{BB962C8B-B14F-4D97-AF65-F5344CB8AC3E}">
        <p14:creationId xmlns:p14="http://schemas.microsoft.com/office/powerpoint/2010/main" val="19986930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F79A735A-7565-4B0C-8CC6-540C115BA01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82475" cy="76200"/>
          </a:xfrm>
          <a:prstGeom prst="rect">
            <a:avLst/>
          </a:prstGeom>
          <a:solidFill>
            <a:srgbClr val="0B7895"/>
          </a:solidFill>
          <a:ln w="0">
            <a:solidFill>
              <a:srgbClr val="0B7895"/>
            </a:solidFill>
            <a:prstDash val="solid"/>
          </a:ln>
        </p:spPr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0BF749E9-CF82-479F-898F-B9814E776B0A}"/>
              </a:ext>
            </a:extLst>
          </p:cNvPr>
          <p:cNvSpPr>
            <a:spLocks noGrp="1"/>
          </p:cNvSpPr>
          <p:nvPr/>
        </p:nvSpPr>
        <p:spPr>
          <a:xfrm>
            <a:off x="438150" y="228600"/>
            <a:ext cx="1000125" cy="552450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9525">
            <a:solidFill>
              <a:srgbClr val="C9D6E2"/>
            </a:solidFill>
            <a:prstDash val="solid"/>
          </a:ln>
        </p:spPr>
      </p:sp>
      <p:pic>
        <p:nvPicPr>
          <p:cNvPr id="23" name="Picture 22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514350" y="450359"/>
            <a:ext cx="847725" cy="108932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A16B0B3A-7E5C-4CCF-8A15-C52D50819264}"/>
              </a:ext>
            </a:extLst>
          </p:cNvPr>
          <p:cNvSpPr>
            <a:spLocks noGrp="1"/>
          </p:cNvSpPr>
          <p:nvPr/>
        </p:nvSpPr>
        <p:spPr>
          <a:xfrm>
            <a:off x="1657350" y="266700"/>
            <a:ext cx="6953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900" b="1">
                <a:solidFill>
                  <a:srgbClr val="1264A3"/>
                </a:solidFill>
              </a:defRPr>
            </a:pPr>
            <a:r>
              <a:rPr sz="900" b="1">
                <a:solidFill>
                  <a:srgbClr val="1264A3"/>
                </a:solidFill>
              </a:rPr>
              <a:t>CSA15  |  CLOUD COMPUTING AND BIG DATA ANALYTICS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AAF2AFD-7226-4B8F-B475-5B557EE35712}"/>
              </a:ext>
            </a:extLst>
          </p:cNvPr>
          <p:cNvSpPr>
            <a:spLocks noGrp="1"/>
          </p:cNvSpPr>
          <p:nvPr/>
        </p:nvSpPr>
        <p:spPr>
          <a:xfrm>
            <a:off x="9572625" y="266700"/>
            <a:ext cx="2095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825" b="1">
                <a:solidFill>
                  <a:srgbClr val="0B7895"/>
                </a:solidFill>
              </a:defRPr>
            </a:pPr>
            <a:r>
              <a:rPr sz="825" b="1">
                <a:solidFill>
                  <a:srgbClr val="0B7895"/>
                </a:solidFill>
              </a:rPr>
              <a:t>CAPSTONE FINAL DEFENSE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60E3C3E-1B48-46A7-8780-64413973D591}"/>
              </a:ext>
            </a:extLst>
          </p:cNvPr>
          <p:cNvSpPr>
            <a:spLocks noGrp="1"/>
          </p:cNvSpPr>
          <p:nvPr/>
        </p:nvSpPr>
        <p:spPr>
          <a:xfrm>
            <a:off x="514350" y="981075"/>
            <a:ext cx="102870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2325" b="1">
                <a:solidFill>
                  <a:srgbClr val="0B2E4F"/>
                </a:solidFill>
              </a:defRPr>
            </a:pPr>
            <a:r>
              <a:rPr sz="2325" b="1">
                <a:solidFill>
                  <a:srgbClr val="0B2E4F"/>
                </a:solidFill>
              </a:rPr>
              <a:t>Technical Problem Definition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3144D97-3F37-443A-B8D0-85AF9D58EA0F}"/>
              </a:ext>
            </a:extLst>
          </p:cNvPr>
          <p:cNvSpPr>
            <a:spLocks noGrp="1"/>
          </p:cNvSpPr>
          <p:nvPr/>
        </p:nvSpPr>
        <p:spPr>
          <a:xfrm>
            <a:off x="533400" y="1457325"/>
            <a:ext cx="10287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1125" b="0">
                <a:solidFill>
                  <a:srgbClr val="52677A"/>
                </a:solidFill>
              </a:defRPr>
            </a:pPr>
            <a:r>
              <a:rPr sz="1125" b="0">
                <a:solidFill>
                  <a:srgbClr val="52677A"/>
                </a:solidFill>
              </a:rPr>
              <a:t>Convert the user problem into constraints, measurable requirements and an engineering target.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EA27178-8AAC-42FE-8379-A77EACD49DD6}"/>
              </a:ext>
            </a:extLst>
          </p:cNvPr>
          <p:cNvSpPr>
            <a:spLocks noGrp="1"/>
          </p:cNvSpPr>
          <p:nvPr/>
        </p:nvSpPr>
        <p:spPr>
          <a:xfrm>
            <a:off x="514350" y="1847850"/>
            <a:ext cx="11153775" cy="19050"/>
          </a:xfrm>
          <a:prstGeom prst="rect">
            <a:avLst/>
          </a:prstGeom>
          <a:solidFill>
            <a:srgbClr val="C9D6E2"/>
          </a:solidFill>
          <a:ln w="0">
            <a:solidFill>
              <a:srgbClr val="C9D6E2"/>
            </a:solidFill>
            <a:prstDash val="solid"/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0D5380F-FA50-4E60-ABF6-8DD813989C96}"/>
              </a:ext>
            </a:extLst>
          </p:cNvPr>
          <p:cNvSpPr>
            <a:spLocks noGrp="1"/>
          </p:cNvSpPr>
          <p:nvPr/>
        </p:nvSpPr>
        <p:spPr>
          <a:xfrm>
            <a:off x="0" y="6419850"/>
            <a:ext cx="12182475" cy="438150"/>
          </a:xfrm>
          <a:prstGeom prst="rect">
            <a:avLst/>
          </a:prstGeom>
          <a:solidFill>
            <a:srgbClr val="0B2E4F"/>
          </a:solidFill>
          <a:ln w="0">
            <a:solidFill>
              <a:srgbClr val="0B2E4F"/>
            </a:solidFill>
            <a:prstDash val="solid"/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4F64DB5-D14C-43FC-AC36-21B14CCFAB0C}"/>
              </a:ext>
            </a:extLst>
          </p:cNvPr>
          <p:cNvSpPr>
            <a:spLocks noGrp="1"/>
          </p:cNvSpPr>
          <p:nvPr/>
        </p:nvSpPr>
        <p:spPr>
          <a:xfrm>
            <a:off x="11049000" y="6515100"/>
            <a:ext cx="6191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975" b="1">
                <a:solidFill>
                  <a:srgbClr val="D39216"/>
                </a:solidFill>
              </a:defRPr>
            </a:pPr>
            <a:r>
              <a:rPr sz="975" b="1">
                <a:solidFill>
                  <a:srgbClr val="D39216"/>
                </a:solidFill>
              </a:rPr>
              <a:t>04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E2FFB97-B944-4451-8DA4-4F58F91F4691}"/>
              </a:ext>
            </a:extLst>
          </p:cNvPr>
          <p:cNvSpPr>
            <a:spLocks noGrp="1"/>
          </p:cNvSpPr>
          <p:nvPr/>
        </p:nvSpPr>
        <p:spPr>
          <a:xfrm>
            <a:off x="4191000" y="6715125"/>
            <a:ext cx="3810000" cy="1047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600" b="0">
                <a:solidFill>
                  <a:srgbClr val="BFD3E1"/>
                </a:solidFill>
              </a:defRPr>
            </a:pPr>
            <a:r>
              <a:rPr sz="600" b="0">
                <a:solidFill>
                  <a:srgbClr val="BFD3E1"/>
                </a:solidFill>
              </a:rPr>
              <a:t>Dr. C. Rajesh Babu | SSETSCS415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F55D828-6113-4672-9B22-4130D768999D}"/>
              </a:ext>
            </a:extLst>
          </p:cNvPr>
          <p:cNvSpPr>
            <a:spLocks noGrp="1"/>
          </p:cNvSpPr>
          <p:nvPr/>
        </p:nvSpPr>
        <p:spPr>
          <a:xfrm>
            <a:off x="514350" y="2143125"/>
            <a:ext cx="5314950" cy="3619500"/>
          </a:xfrm>
          <a:prstGeom prst="rect">
            <a:avLst/>
          </a:prstGeom>
          <a:solidFill>
            <a:srgbClr val="FFFFFF"/>
          </a:solidFill>
          <a:ln w="9525">
            <a:solidFill>
              <a:srgbClr val="C9D6E2"/>
            </a:solidFill>
            <a:prstDash val="solid"/>
          </a:ln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558E62A-1DE4-4B0E-86BA-5988D8167093}"/>
              </a:ext>
            </a:extLst>
          </p:cNvPr>
          <p:cNvSpPr>
            <a:spLocks noGrp="1"/>
          </p:cNvSpPr>
          <p:nvPr/>
        </p:nvSpPr>
        <p:spPr>
          <a:xfrm>
            <a:off x="514350" y="2143125"/>
            <a:ext cx="57150" cy="3619500"/>
          </a:xfrm>
          <a:prstGeom prst="rect">
            <a:avLst/>
          </a:prstGeom>
          <a:solidFill>
            <a:srgbClr val="1264A3"/>
          </a:solidFill>
          <a:ln w="0">
            <a:solidFill>
              <a:srgbClr val="1264A3"/>
            </a:solidFill>
            <a:prstDash val="solid"/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C9C4DE5-15FB-4E79-AC23-667BB9F7A965}"/>
              </a:ext>
            </a:extLst>
          </p:cNvPr>
          <p:cNvSpPr>
            <a:spLocks noGrp="1"/>
          </p:cNvSpPr>
          <p:nvPr/>
        </p:nvSpPr>
        <p:spPr>
          <a:xfrm>
            <a:off x="723900" y="2295525"/>
            <a:ext cx="4914900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900" b="1">
                <a:solidFill>
                  <a:srgbClr val="1264A3"/>
                </a:solidFill>
              </a:defRPr>
            </a:pPr>
            <a:r>
              <a:rPr sz="900" b="1">
                <a:solidFill>
                  <a:srgbClr val="1264A3"/>
                </a:solidFill>
              </a:rPr>
              <a:t>PROBLEM STATEMENT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15106CB-DFCA-4B0A-BF07-D103EACEECE3}"/>
              </a:ext>
            </a:extLst>
          </p:cNvPr>
          <p:cNvSpPr>
            <a:spLocks noGrp="1"/>
          </p:cNvSpPr>
          <p:nvPr/>
        </p:nvSpPr>
        <p:spPr>
          <a:xfrm>
            <a:off x="723900" y="2600325"/>
            <a:ext cx="4914900" cy="3028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1200" b="0">
                <a:solidFill>
                  <a:srgbClr val="183247"/>
                </a:solidFill>
              </a:defRPr>
            </a:pPr>
            <a:r>
              <a:rPr sz="1200" b="0">
                <a:solidFill>
                  <a:srgbClr val="183247"/>
                </a:solidFill>
              </a:rPr>
              <a:t>Context: pharmacies commonly track stock, batches and expiry manually or via spreadsheets.</a:t>
            </a:r>
          </a:p>
          <a:p>
            <a:pPr>
              <a:defRPr sz="1200" b="0">
                <a:solidFill>
                  <a:srgbClr val="183247"/>
                </a:solidFill>
              </a:defRPr>
            </a:pPr>
            <a:endParaRPr sz="1200" b="0">
              <a:solidFill>
                <a:srgbClr val="183247"/>
              </a:solidFill>
            </a:endParaRPr>
          </a:p>
          <a:p>
            <a:pPr>
              <a:defRPr sz="1200" b="0">
                <a:solidFill>
                  <a:srgbClr val="183247"/>
                </a:solidFill>
              </a:defRPr>
            </a:pPr>
            <a:r>
              <a:rPr sz="1200" b="0">
                <a:solidFill>
                  <a:srgbClr val="183247"/>
                </a:solidFill>
              </a:rPr>
              <a:t>Affected user: pharmacy administrators and staff managing purchasing, stock and expiry checks.</a:t>
            </a:r>
          </a:p>
          <a:p>
            <a:pPr>
              <a:defRPr sz="1200" b="0">
                <a:solidFill>
                  <a:srgbClr val="183247"/>
                </a:solidFill>
              </a:defRPr>
            </a:pPr>
            <a:endParaRPr sz="1200" b="0">
              <a:solidFill>
                <a:srgbClr val="183247"/>
              </a:solidFill>
            </a:endParaRPr>
          </a:p>
          <a:p>
            <a:pPr>
              <a:defRPr sz="1200" b="0">
                <a:solidFill>
                  <a:srgbClr val="183247"/>
                </a:solidFill>
              </a:defRPr>
            </a:pPr>
            <a:r>
              <a:rPr sz="1200" b="0">
                <a:solidFill>
                  <a:srgbClr val="183247"/>
                </a:solidFill>
              </a:rPr>
              <a:t>Observed failure: overstocking, undetected medicine expiry, stock shortages and poor tracking.</a:t>
            </a:r>
          </a:p>
          <a:p>
            <a:pPr>
              <a:defRPr sz="1200" b="0">
                <a:solidFill>
                  <a:srgbClr val="183247"/>
                </a:solidFill>
              </a:defRPr>
            </a:pPr>
            <a:endParaRPr sz="1200" b="0">
              <a:solidFill>
                <a:srgbClr val="183247"/>
              </a:solidFill>
            </a:endParaRPr>
          </a:p>
          <a:p>
            <a:pPr>
              <a:defRPr sz="1200" b="0">
                <a:solidFill>
                  <a:srgbClr val="183247"/>
                </a:solidFill>
              </a:defRPr>
            </a:pPr>
            <a:r>
              <a:rPr sz="1200" b="0">
                <a:solidFill>
                  <a:srgbClr val="183247"/>
                </a:solidFill>
              </a:rPr>
              <a:t>Why insufficient: no centralized system flags low-stock or near-expiry items in time for action.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35FBBF8-271C-46B3-A6B4-94C87D653D78}"/>
              </a:ext>
            </a:extLst>
          </p:cNvPr>
          <p:cNvSpPr>
            <a:spLocks noGrp="1"/>
          </p:cNvSpPr>
          <p:nvPr/>
        </p:nvSpPr>
        <p:spPr>
          <a:xfrm>
            <a:off x="6057900" y="2143125"/>
            <a:ext cx="5610225" cy="3619500"/>
          </a:xfrm>
          <a:prstGeom prst="rect">
            <a:avLst/>
          </a:prstGeom>
          <a:solidFill>
            <a:srgbClr val="FFFFFF"/>
          </a:solidFill>
          <a:ln w="9525">
            <a:solidFill>
              <a:srgbClr val="C9D6E2"/>
            </a:solidFill>
            <a:prstDash val="solid"/>
          </a:ln>
        </p:spPr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5B28ADA-7A11-467A-AD1E-95BD1363DC06}"/>
              </a:ext>
            </a:extLst>
          </p:cNvPr>
          <p:cNvSpPr>
            <a:spLocks noGrp="1"/>
          </p:cNvSpPr>
          <p:nvPr/>
        </p:nvSpPr>
        <p:spPr>
          <a:xfrm>
            <a:off x="6057900" y="2143125"/>
            <a:ext cx="57150" cy="3619500"/>
          </a:xfrm>
          <a:prstGeom prst="rect">
            <a:avLst/>
          </a:prstGeom>
          <a:solidFill>
            <a:srgbClr val="0B7895"/>
          </a:solidFill>
          <a:ln w="0">
            <a:solidFill>
              <a:srgbClr val="0B7895"/>
            </a:solidFill>
            <a:prstDash val="solid"/>
          </a:ln>
        </p:spPr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92B4723-8329-4825-A5E3-E42E87E12003}"/>
              </a:ext>
            </a:extLst>
          </p:cNvPr>
          <p:cNvSpPr>
            <a:spLocks noGrp="1"/>
          </p:cNvSpPr>
          <p:nvPr/>
        </p:nvSpPr>
        <p:spPr>
          <a:xfrm>
            <a:off x="6267450" y="2295525"/>
            <a:ext cx="5210175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900" b="1">
                <a:solidFill>
                  <a:srgbClr val="0B7895"/>
                </a:solidFill>
              </a:defRPr>
            </a:pPr>
            <a:r>
              <a:rPr sz="900" b="1">
                <a:solidFill>
                  <a:srgbClr val="0B7895"/>
                </a:solidFill>
              </a:rPr>
              <a:t>ENGINEERING SPECIFICATION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9B9C8D34-4965-4DA6-93B4-7C3813B1C49E}"/>
              </a:ext>
            </a:extLst>
          </p:cNvPr>
          <p:cNvSpPr>
            <a:spLocks noGrp="1"/>
          </p:cNvSpPr>
          <p:nvPr/>
        </p:nvSpPr>
        <p:spPr>
          <a:xfrm>
            <a:off x="6267450" y="2600325"/>
            <a:ext cx="5210175" cy="3028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1200" b="0">
                <a:solidFill>
                  <a:srgbClr val="183247"/>
                </a:solidFill>
              </a:defRPr>
            </a:pPr>
            <a:r>
              <a:rPr sz="1200" b="0">
                <a:solidFill>
                  <a:srgbClr val="183247"/>
                </a:solidFill>
              </a:rPr>
              <a:t>Inputs and scale: medicine records (name, category, batch, quantity, price, expiry), supplier records, purchase transactions.</a:t>
            </a:r>
          </a:p>
          <a:p>
            <a:pPr>
              <a:defRPr sz="1200" b="0">
                <a:solidFill>
                  <a:srgbClr val="183247"/>
                </a:solidFill>
              </a:defRPr>
            </a:pPr>
            <a:endParaRPr sz="1200" b="0">
              <a:solidFill>
                <a:srgbClr val="183247"/>
              </a:solidFill>
            </a:endParaRPr>
          </a:p>
          <a:p>
            <a:pPr>
              <a:defRPr sz="1200" b="0">
                <a:solidFill>
                  <a:srgbClr val="183247"/>
                </a:solidFill>
              </a:defRPr>
            </a:pPr>
            <a:r>
              <a:rPr sz="1200" b="0">
                <a:solidFill>
                  <a:srgbClr val="183247"/>
                </a:solidFill>
              </a:rPr>
              <a:t>Functional requirement: CRUD for medicines/suppliers/purchases; automated low-stock and expiry detection; centralized dashboard.</a:t>
            </a:r>
          </a:p>
          <a:p>
            <a:pPr>
              <a:defRPr sz="1200" b="0">
                <a:solidFill>
                  <a:srgbClr val="183247"/>
                </a:solidFill>
              </a:defRPr>
            </a:pPr>
            <a:endParaRPr sz="1200" b="0">
              <a:solidFill>
                <a:srgbClr val="183247"/>
              </a:solidFill>
            </a:endParaRPr>
          </a:p>
          <a:p>
            <a:pPr>
              <a:defRPr sz="1200" b="0">
                <a:solidFill>
                  <a:srgbClr val="183247"/>
                </a:solidFill>
              </a:defRPr>
            </a:pPr>
            <a:r>
              <a:rPr sz="1200" b="0">
                <a:solidFill>
                  <a:srgbClr val="183247"/>
                </a:solidFill>
              </a:rPr>
              <a:t>Performance / security constraints: role-based secure login for admin and staff; responsive dashboard under normal pharmacy transaction volumes.</a:t>
            </a:r>
          </a:p>
          <a:p>
            <a:pPr>
              <a:defRPr sz="1200" b="0">
                <a:solidFill>
                  <a:srgbClr val="183247"/>
                </a:solidFill>
              </a:defRPr>
            </a:pPr>
            <a:endParaRPr sz="1200" b="0">
              <a:solidFill>
                <a:srgbClr val="183247"/>
              </a:solidFill>
            </a:endParaRPr>
          </a:p>
          <a:p>
            <a:pPr>
              <a:defRPr sz="1200" b="0">
                <a:solidFill>
                  <a:srgbClr val="183247"/>
                </a:solidFill>
              </a:defRPr>
            </a:pPr>
            <a:r>
              <a:rPr sz="1200" b="0">
                <a:solidFill>
                  <a:srgbClr val="183247"/>
                </a:solidFill>
              </a:rPr>
              <a:t>Measurable success criteria: system correctly flags all test records past a defined expiry threshold and below reorder level.</a:t>
            </a:r>
          </a:p>
        </p:txBody>
      </p:sp>
    </p:spTree>
    <p:extLst>
      <p:ext uri="{BB962C8B-B14F-4D97-AF65-F5344CB8AC3E}">
        <p14:creationId xmlns:p14="http://schemas.microsoft.com/office/powerpoint/2010/main" val="14367278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>
            <a:extLst>
              <a:ext uri="{FF2B5EF4-FFF2-40B4-BE49-F238E27FC236}">
                <a16:creationId xmlns:a16="http://schemas.microsoft.com/office/drawing/2014/main" id="{6FD04531-E533-4801-91E5-0A8B5066BBB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82475" cy="76200"/>
          </a:xfrm>
          <a:prstGeom prst="rect">
            <a:avLst/>
          </a:prstGeom>
          <a:solidFill>
            <a:srgbClr val="0B7895"/>
          </a:solidFill>
          <a:ln w="0">
            <a:solidFill>
              <a:srgbClr val="0B7895"/>
            </a:solidFill>
            <a:prstDash val="solid"/>
          </a:ln>
        </p:spPr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7FB8DF5B-6DBC-41D8-8F1F-53B6327979D7}"/>
              </a:ext>
            </a:extLst>
          </p:cNvPr>
          <p:cNvSpPr>
            <a:spLocks noGrp="1"/>
          </p:cNvSpPr>
          <p:nvPr/>
        </p:nvSpPr>
        <p:spPr>
          <a:xfrm>
            <a:off x="438150" y="228600"/>
            <a:ext cx="1000125" cy="552450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9525">
            <a:solidFill>
              <a:srgbClr val="C9D6E2"/>
            </a:solidFill>
            <a:prstDash val="solid"/>
          </a:ln>
        </p:spPr>
      </p:sp>
      <p:pic>
        <p:nvPicPr>
          <p:cNvPr id="27" name="Picture 26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514350" y="450359"/>
            <a:ext cx="847725" cy="108932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70C935EF-C6D7-4BA9-9D46-DE62971580B8}"/>
              </a:ext>
            </a:extLst>
          </p:cNvPr>
          <p:cNvSpPr>
            <a:spLocks noGrp="1"/>
          </p:cNvSpPr>
          <p:nvPr/>
        </p:nvSpPr>
        <p:spPr>
          <a:xfrm>
            <a:off x="1657350" y="266700"/>
            <a:ext cx="6953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900" b="1">
                <a:solidFill>
                  <a:srgbClr val="1264A3"/>
                </a:solidFill>
              </a:defRPr>
            </a:pPr>
            <a:r>
              <a:rPr sz="900" b="1">
                <a:solidFill>
                  <a:srgbClr val="1264A3"/>
                </a:solidFill>
              </a:rPr>
              <a:t>CSA15  |  CLOUD COMPUTING AND BIG DATA ANALYTICS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3E3F20F-7A3A-4B7D-B3FA-C95EBC85FF9C}"/>
              </a:ext>
            </a:extLst>
          </p:cNvPr>
          <p:cNvSpPr>
            <a:spLocks noGrp="1"/>
          </p:cNvSpPr>
          <p:nvPr/>
        </p:nvSpPr>
        <p:spPr>
          <a:xfrm>
            <a:off x="9572625" y="266700"/>
            <a:ext cx="2095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825" b="1">
                <a:solidFill>
                  <a:srgbClr val="0B7895"/>
                </a:solidFill>
              </a:defRPr>
            </a:pPr>
            <a:r>
              <a:rPr sz="825" b="1">
                <a:solidFill>
                  <a:srgbClr val="0B7895"/>
                </a:solidFill>
              </a:rPr>
              <a:t>CAPSTONE FINAL DEFENSE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7EF6107-D821-4571-8E50-A8299EE186D8}"/>
              </a:ext>
            </a:extLst>
          </p:cNvPr>
          <p:cNvSpPr>
            <a:spLocks noGrp="1"/>
          </p:cNvSpPr>
          <p:nvPr/>
        </p:nvSpPr>
        <p:spPr>
          <a:xfrm>
            <a:off x="514350" y="981075"/>
            <a:ext cx="102870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2325" b="1">
                <a:solidFill>
                  <a:srgbClr val="0B2E4F"/>
                </a:solidFill>
              </a:defRPr>
            </a:pPr>
            <a:r>
              <a:rPr sz="2325" b="1">
                <a:solidFill>
                  <a:srgbClr val="0B2E4F"/>
                </a:solidFill>
              </a:rPr>
              <a:t>User and Industry Context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8737EA4-14F0-4DF3-870E-959F6FF995E3}"/>
              </a:ext>
            </a:extLst>
          </p:cNvPr>
          <p:cNvSpPr>
            <a:spLocks noGrp="1"/>
          </p:cNvSpPr>
          <p:nvPr/>
        </p:nvSpPr>
        <p:spPr>
          <a:xfrm>
            <a:off x="533400" y="1457325"/>
            <a:ext cx="10287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1125" b="0">
                <a:solidFill>
                  <a:srgbClr val="52677A"/>
                </a:solidFill>
              </a:defRPr>
            </a:pPr>
            <a:r>
              <a:rPr sz="1125" b="0">
                <a:solidFill>
                  <a:srgbClr val="52677A"/>
                </a:solidFill>
              </a:rPr>
              <a:t>Show who experiences the problem, why it matters and where the proposed product fits.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9A2027D-D0D5-488C-B4B2-CFA0DD8757C0}"/>
              </a:ext>
            </a:extLst>
          </p:cNvPr>
          <p:cNvSpPr>
            <a:spLocks noGrp="1"/>
          </p:cNvSpPr>
          <p:nvPr/>
        </p:nvSpPr>
        <p:spPr>
          <a:xfrm>
            <a:off x="514350" y="1847850"/>
            <a:ext cx="11153775" cy="19050"/>
          </a:xfrm>
          <a:prstGeom prst="rect">
            <a:avLst/>
          </a:prstGeom>
          <a:solidFill>
            <a:srgbClr val="C9D6E2"/>
          </a:solidFill>
          <a:ln w="0">
            <a:solidFill>
              <a:srgbClr val="C9D6E2"/>
            </a:solidFill>
            <a:prstDash val="solid"/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EE0AB8D-7637-4DB6-9726-DD28B53FCEDF}"/>
              </a:ext>
            </a:extLst>
          </p:cNvPr>
          <p:cNvSpPr>
            <a:spLocks noGrp="1"/>
          </p:cNvSpPr>
          <p:nvPr/>
        </p:nvSpPr>
        <p:spPr>
          <a:xfrm>
            <a:off x="0" y="6419850"/>
            <a:ext cx="12182475" cy="438150"/>
          </a:xfrm>
          <a:prstGeom prst="rect">
            <a:avLst/>
          </a:prstGeom>
          <a:solidFill>
            <a:srgbClr val="0B2E4F"/>
          </a:solidFill>
          <a:ln w="0">
            <a:solidFill>
              <a:srgbClr val="0B2E4F"/>
            </a:solidFill>
            <a:prstDash val="solid"/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7A43A2F-7355-4DE5-8DF3-9F9A873015E4}"/>
              </a:ext>
            </a:extLst>
          </p:cNvPr>
          <p:cNvSpPr>
            <a:spLocks noGrp="1"/>
          </p:cNvSpPr>
          <p:nvPr/>
        </p:nvSpPr>
        <p:spPr>
          <a:xfrm>
            <a:off x="11049000" y="6515100"/>
            <a:ext cx="6191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975" b="1">
                <a:solidFill>
                  <a:srgbClr val="D39216"/>
                </a:solidFill>
              </a:defRPr>
            </a:pPr>
            <a:r>
              <a:rPr sz="975" b="1">
                <a:solidFill>
                  <a:srgbClr val="D39216"/>
                </a:solidFill>
              </a:rPr>
              <a:t>05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FFB5043-9471-446B-AFA4-18A439153705}"/>
              </a:ext>
            </a:extLst>
          </p:cNvPr>
          <p:cNvSpPr>
            <a:spLocks noGrp="1"/>
          </p:cNvSpPr>
          <p:nvPr/>
        </p:nvSpPr>
        <p:spPr>
          <a:xfrm>
            <a:off x="4191000" y="6715125"/>
            <a:ext cx="3810000" cy="1047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600" b="0">
                <a:solidFill>
                  <a:srgbClr val="BFD3E1"/>
                </a:solidFill>
              </a:defRPr>
            </a:pPr>
            <a:r>
              <a:rPr sz="600" b="0">
                <a:solidFill>
                  <a:srgbClr val="BFD3E1"/>
                </a:solidFill>
              </a:rPr>
              <a:t>Dr. C. Rajesh Babu | SSETSCS415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DBE37F7-4808-4E3B-8153-F204A708CE64}"/>
              </a:ext>
            </a:extLst>
          </p:cNvPr>
          <p:cNvSpPr>
            <a:spLocks noGrp="1"/>
          </p:cNvSpPr>
          <p:nvPr/>
        </p:nvSpPr>
        <p:spPr>
          <a:xfrm>
            <a:off x="514350" y="2143125"/>
            <a:ext cx="3565525" cy="3571875"/>
          </a:xfrm>
          <a:prstGeom prst="rect">
            <a:avLst/>
          </a:prstGeom>
          <a:solidFill>
            <a:srgbClr val="FFFFFF"/>
          </a:solidFill>
          <a:ln w="9525">
            <a:solidFill>
              <a:srgbClr val="C9D6E2"/>
            </a:solidFill>
            <a:prstDash val="solid"/>
          </a:ln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0BD80D8-72B2-4D47-9360-43012AEBDD52}"/>
              </a:ext>
            </a:extLst>
          </p:cNvPr>
          <p:cNvSpPr>
            <a:spLocks noGrp="1"/>
          </p:cNvSpPr>
          <p:nvPr/>
        </p:nvSpPr>
        <p:spPr>
          <a:xfrm>
            <a:off x="514350" y="2143125"/>
            <a:ext cx="57150" cy="3571875"/>
          </a:xfrm>
          <a:prstGeom prst="rect">
            <a:avLst/>
          </a:prstGeom>
          <a:solidFill>
            <a:srgbClr val="1264A3"/>
          </a:solidFill>
          <a:ln w="0">
            <a:solidFill>
              <a:srgbClr val="1264A3"/>
            </a:solidFill>
            <a:prstDash val="solid"/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CD784A6-A4A1-4796-BCCB-615FA43BDB00}"/>
              </a:ext>
            </a:extLst>
          </p:cNvPr>
          <p:cNvSpPr>
            <a:spLocks noGrp="1"/>
          </p:cNvSpPr>
          <p:nvPr/>
        </p:nvSpPr>
        <p:spPr>
          <a:xfrm>
            <a:off x="723900" y="2295525"/>
            <a:ext cx="3165475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900" b="1">
                <a:solidFill>
                  <a:srgbClr val="1264A3"/>
                </a:solidFill>
              </a:defRPr>
            </a:pPr>
            <a:r>
              <a:rPr sz="900" b="1">
                <a:solidFill>
                  <a:srgbClr val="1264A3"/>
                </a:solidFill>
              </a:rPr>
              <a:t>PRIMARY USER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2E41BDC-3C7F-4C6E-B374-C70833BBC070}"/>
              </a:ext>
            </a:extLst>
          </p:cNvPr>
          <p:cNvSpPr>
            <a:spLocks noGrp="1"/>
          </p:cNvSpPr>
          <p:nvPr/>
        </p:nvSpPr>
        <p:spPr>
          <a:xfrm>
            <a:off x="723900" y="2600325"/>
            <a:ext cx="3165475" cy="2981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1275" b="0">
                <a:solidFill>
                  <a:srgbClr val="183247"/>
                </a:solidFill>
              </a:defRPr>
            </a:pPr>
            <a:r>
              <a:rPr sz="1275" b="0">
                <a:solidFill>
                  <a:srgbClr val="183247"/>
                </a:solidFill>
              </a:rPr>
              <a:t>Pharmacy administrators and staff who enter stock, manage suppliers/purchases and check expiry status need a fast, reliable, centralized view of what requires restocking or removal, rather than a slow manual audit.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1027B9C-33FD-4194-A991-B21FA73410D1}"/>
              </a:ext>
            </a:extLst>
          </p:cNvPr>
          <p:cNvSpPr>
            <a:spLocks noGrp="1"/>
          </p:cNvSpPr>
          <p:nvPr/>
        </p:nvSpPr>
        <p:spPr>
          <a:xfrm>
            <a:off x="4308475" y="2143125"/>
            <a:ext cx="3565525" cy="3571875"/>
          </a:xfrm>
          <a:prstGeom prst="rect">
            <a:avLst/>
          </a:prstGeom>
          <a:solidFill>
            <a:srgbClr val="FFFFFF"/>
          </a:solidFill>
          <a:ln w="9525">
            <a:solidFill>
              <a:srgbClr val="C9D6E2"/>
            </a:solidFill>
            <a:prstDash val="solid"/>
          </a:ln>
        </p:spPr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C1179F6-8C51-401F-84B3-215410D92335}"/>
              </a:ext>
            </a:extLst>
          </p:cNvPr>
          <p:cNvSpPr>
            <a:spLocks noGrp="1"/>
          </p:cNvSpPr>
          <p:nvPr/>
        </p:nvSpPr>
        <p:spPr>
          <a:xfrm>
            <a:off x="4308475" y="2143125"/>
            <a:ext cx="57150" cy="3571875"/>
          </a:xfrm>
          <a:prstGeom prst="rect">
            <a:avLst/>
          </a:prstGeom>
          <a:solidFill>
            <a:srgbClr val="0B7895"/>
          </a:solidFill>
          <a:ln w="0">
            <a:solidFill>
              <a:srgbClr val="0B7895"/>
            </a:solidFill>
            <a:prstDash val="solid"/>
          </a:ln>
        </p:spPr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3B0AF1ED-5408-4A97-B6D6-A14207629F88}"/>
              </a:ext>
            </a:extLst>
          </p:cNvPr>
          <p:cNvSpPr>
            <a:spLocks noGrp="1"/>
          </p:cNvSpPr>
          <p:nvPr/>
        </p:nvSpPr>
        <p:spPr>
          <a:xfrm>
            <a:off x="4518025" y="2295525"/>
            <a:ext cx="3165475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900" b="1">
                <a:solidFill>
                  <a:srgbClr val="0B7895"/>
                </a:solidFill>
              </a:defRPr>
            </a:pPr>
            <a:r>
              <a:rPr sz="900" b="1">
                <a:solidFill>
                  <a:srgbClr val="0B7895"/>
                </a:solidFill>
              </a:rPr>
              <a:t>INDUSTRY CONTEXT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F293D8C0-3B95-44D0-A5DF-AF1A762C33D5}"/>
              </a:ext>
            </a:extLst>
          </p:cNvPr>
          <p:cNvSpPr>
            <a:spLocks noGrp="1"/>
          </p:cNvSpPr>
          <p:nvPr/>
        </p:nvSpPr>
        <p:spPr>
          <a:xfrm>
            <a:off x="4518025" y="2600325"/>
            <a:ext cx="3165475" cy="2981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1275" b="0">
                <a:solidFill>
                  <a:srgbClr val="183247"/>
                </a:solidFill>
              </a:defRPr>
            </a:pPr>
            <a:r>
              <a:rPr sz="1275" b="0">
                <a:solidFill>
                  <a:srgbClr val="183247"/>
                </a:solidFill>
              </a:rPr>
              <a:t>Current workflow relies on manual or spreadsheet-based tracking, carrying risk of stockouts and unnoticed expiry; adoption requires a low-friction web interface staff can use without heavy retraining.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F9AE56D7-D422-417C-B3B3-558076043356}"/>
              </a:ext>
            </a:extLst>
          </p:cNvPr>
          <p:cNvSpPr>
            <a:spLocks noGrp="1"/>
          </p:cNvSpPr>
          <p:nvPr/>
        </p:nvSpPr>
        <p:spPr>
          <a:xfrm>
            <a:off x="8102600" y="2143125"/>
            <a:ext cx="3565525" cy="3571875"/>
          </a:xfrm>
          <a:prstGeom prst="rect">
            <a:avLst/>
          </a:prstGeom>
          <a:solidFill>
            <a:srgbClr val="FFFFFF"/>
          </a:solidFill>
          <a:ln w="9525">
            <a:solidFill>
              <a:srgbClr val="C9D6E2"/>
            </a:solidFill>
            <a:prstDash val="solid"/>
          </a:ln>
        </p:spPr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02B4DC7C-3F13-448C-A91A-EAA507AD743C}"/>
              </a:ext>
            </a:extLst>
          </p:cNvPr>
          <p:cNvSpPr>
            <a:spLocks noGrp="1"/>
          </p:cNvSpPr>
          <p:nvPr/>
        </p:nvSpPr>
        <p:spPr>
          <a:xfrm>
            <a:off x="8102600" y="2143125"/>
            <a:ext cx="57150" cy="3571875"/>
          </a:xfrm>
          <a:prstGeom prst="rect">
            <a:avLst/>
          </a:prstGeom>
          <a:solidFill>
            <a:srgbClr val="D39216"/>
          </a:solidFill>
          <a:ln w="0">
            <a:solidFill>
              <a:srgbClr val="D39216"/>
            </a:solidFill>
            <a:prstDash val="solid"/>
          </a:ln>
        </p:spPr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737AD2E2-2084-4B2D-A125-F5DB3F150A83}"/>
              </a:ext>
            </a:extLst>
          </p:cNvPr>
          <p:cNvSpPr>
            <a:spLocks noGrp="1"/>
          </p:cNvSpPr>
          <p:nvPr/>
        </p:nvSpPr>
        <p:spPr>
          <a:xfrm>
            <a:off x="8312150" y="2295525"/>
            <a:ext cx="3165475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900" b="1">
                <a:solidFill>
                  <a:srgbClr val="D39216"/>
                </a:solidFill>
              </a:defRPr>
            </a:pPr>
            <a:r>
              <a:rPr sz="900" b="1">
                <a:solidFill>
                  <a:srgbClr val="D39216"/>
                </a:solidFill>
              </a:rPr>
              <a:t>IMPACT ALIGNMENT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CF79D8B5-4EB4-44BD-94AE-17E305709F9A}"/>
              </a:ext>
            </a:extLst>
          </p:cNvPr>
          <p:cNvSpPr>
            <a:spLocks noGrp="1"/>
          </p:cNvSpPr>
          <p:nvPr/>
        </p:nvSpPr>
        <p:spPr>
          <a:xfrm>
            <a:off x="8312150" y="2600325"/>
            <a:ext cx="3165475" cy="2981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1275" b="0">
                <a:solidFill>
                  <a:srgbClr val="183247"/>
                </a:solidFill>
              </a:defRPr>
            </a:pPr>
            <a:r>
              <a:rPr sz="1275" b="0">
                <a:solidFill>
                  <a:srgbClr val="183247"/>
                </a:solidFill>
              </a:rPr>
              <a:t>Reducing pharmaceutical waste and stockouts supports SDG 3 (Good Health and Well-Being) and SDG 12 (Responsible Consumption and Production); impact metric: reduction in near-expiry stock left unflagged.</a:t>
            </a:r>
          </a:p>
        </p:txBody>
      </p:sp>
    </p:spTree>
    <p:extLst>
      <p:ext uri="{BB962C8B-B14F-4D97-AF65-F5344CB8AC3E}">
        <p14:creationId xmlns:p14="http://schemas.microsoft.com/office/powerpoint/2010/main" val="5010507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Rectangle 223">
            <a:extLst>
              <a:ext uri="{FF2B5EF4-FFF2-40B4-BE49-F238E27FC236}">
                <a16:creationId xmlns:a16="http://schemas.microsoft.com/office/drawing/2014/main" id="{DA3A0624-BDDD-4EC9-8F53-C87CE56819A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82475" cy="76200"/>
          </a:xfrm>
          <a:prstGeom prst="rect">
            <a:avLst/>
          </a:prstGeom>
          <a:solidFill>
            <a:srgbClr val="0B7895"/>
          </a:solidFill>
          <a:ln w="0">
            <a:solidFill>
              <a:srgbClr val="0B7895"/>
            </a:solidFill>
            <a:prstDash val="solid"/>
          </a:ln>
        </p:spPr>
      </p:sp>
      <p:sp>
        <p:nvSpPr>
          <p:cNvPr id="225" name="Rectangle: Rounded Corners 224">
            <a:extLst>
              <a:ext uri="{FF2B5EF4-FFF2-40B4-BE49-F238E27FC236}">
                <a16:creationId xmlns:a16="http://schemas.microsoft.com/office/drawing/2014/main" id="{563669C9-9444-4455-9699-2F1555EEA304}"/>
              </a:ext>
            </a:extLst>
          </p:cNvPr>
          <p:cNvSpPr>
            <a:spLocks noGrp="1"/>
          </p:cNvSpPr>
          <p:nvPr/>
        </p:nvSpPr>
        <p:spPr>
          <a:xfrm>
            <a:off x="438150" y="228600"/>
            <a:ext cx="1000125" cy="552450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9525">
            <a:solidFill>
              <a:srgbClr val="C9D6E2"/>
            </a:solidFill>
            <a:prstDash val="solid"/>
          </a:ln>
        </p:spPr>
      </p:sp>
      <p:pic>
        <p:nvPicPr>
          <p:cNvPr id="240" name="Picture 239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514350" y="450359"/>
            <a:ext cx="847725" cy="108932"/>
          </a:xfrm>
          <a:prstGeom prst="rect">
            <a:avLst/>
          </a:prstGeom>
        </p:spPr>
      </p:pic>
      <p:sp>
        <p:nvSpPr>
          <p:cNvPr id="227" name="Rectangle 226">
            <a:extLst>
              <a:ext uri="{FF2B5EF4-FFF2-40B4-BE49-F238E27FC236}">
                <a16:creationId xmlns:a16="http://schemas.microsoft.com/office/drawing/2014/main" id="{69515206-1BEB-43EC-A5EA-BC47CE7A82E9}"/>
              </a:ext>
            </a:extLst>
          </p:cNvPr>
          <p:cNvSpPr>
            <a:spLocks noGrp="1"/>
          </p:cNvSpPr>
          <p:nvPr/>
        </p:nvSpPr>
        <p:spPr>
          <a:xfrm>
            <a:off x="1657350" y="266700"/>
            <a:ext cx="6953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900" b="1">
                <a:solidFill>
                  <a:srgbClr val="1264A3"/>
                </a:solidFill>
              </a:defRPr>
            </a:pPr>
            <a:r>
              <a:rPr sz="900" b="1">
                <a:solidFill>
                  <a:srgbClr val="1264A3"/>
                </a:solidFill>
              </a:rPr>
              <a:t>CSA15  |  CLOUD COMPUTING AND BIG DATA ANALYTICS</a:t>
            </a:r>
          </a:p>
        </p:txBody>
      </p:sp>
      <p:sp>
        <p:nvSpPr>
          <p:cNvPr id="228" name="Rectangle 227">
            <a:extLst>
              <a:ext uri="{FF2B5EF4-FFF2-40B4-BE49-F238E27FC236}">
                <a16:creationId xmlns:a16="http://schemas.microsoft.com/office/drawing/2014/main" id="{DEF632B8-A4D0-4160-A9E9-2FF80F2334F2}"/>
              </a:ext>
            </a:extLst>
          </p:cNvPr>
          <p:cNvSpPr>
            <a:spLocks noGrp="1"/>
          </p:cNvSpPr>
          <p:nvPr/>
        </p:nvSpPr>
        <p:spPr>
          <a:xfrm>
            <a:off x="9572625" y="266700"/>
            <a:ext cx="2095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825" b="1">
                <a:solidFill>
                  <a:srgbClr val="0B7895"/>
                </a:solidFill>
              </a:defRPr>
            </a:pPr>
            <a:r>
              <a:rPr sz="825" b="1">
                <a:solidFill>
                  <a:srgbClr val="0B7895"/>
                </a:solidFill>
              </a:rPr>
              <a:t>CAPSTONE FINAL DEFENSE</a:t>
            </a:r>
          </a:p>
        </p:txBody>
      </p:sp>
      <p:sp>
        <p:nvSpPr>
          <p:cNvPr id="229" name="Rectangle 228">
            <a:extLst>
              <a:ext uri="{FF2B5EF4-FFF2-40B4-BE49-F238E27FC236}">
                <a16:creationId xmlns:a16="http://schemas.microsoft.com/office/drawing/2014/main" id="{3D90E145-C933-4C2D-9F89-1A2152449FF9}"/>
              </a:ext>
            </a:extLst>
          </p:cNvPr>
          <p:cNvSpPr>
            <a:spLocks noGrp="1"/>
          </p:cNvSpPr>
          <p:nvPr/>
        </p:nvSpPr>
        <p:spPr>
          <a:xfrm>
            <a:off x="514350" y="981075"/>
            <a:ext cx="102870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2325" b="1">
                <a:solidFill>
                  <a:srgbClr val="0B2E4F"/>
                </a:solidFill>
              </a:defRPr>
            </a:pPr>
            <a:r>
              <a:rPr sz="2325" b="1">
                <a:solidFill>
                  <a:srgbClr val="0B2E4F"/>
                </a:solidFill>
              </a:rPr>
              <a:t>Engineering Objectives and Acceptance Criteria</a:t>
            </a:r>
          </a:p>
        </p:txBody>
      </p:sp>
      <p:sp>
        <p:nvSpPr>
          <p:cNvPr id="230" name="Rectangle 229">
            <a:extLst>
              <a:ext uri="{FF2B5EF4-FFF2-40B4-BE49-F238E27FC236}">
                <a16:creationId xmlns:a16="http://schemas.microsoft.com/office/drawing/2014/main" id="{2E35FF43-055C-4824-B217-1255E8D1BD91}"/>
              </a:ext>
            </a:extLst>
          </p:cNvPr>
          <p:cNvSpPr>
            <a:spLocks noGrp="1"/>
          </p:cNvSpPr>
          <p:nvPr/>
        </p:nvSpPr>
        <p:spPr>
          <a:xfrm>
            <a:off x="533400" y="1457325"/>
            <a:ext cx="10287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1125" b="0">
                <a:solidFill>
                  <a:srgbClr val="52677A"/>
                </a:solidFill>
              </a:defRPr>
            </a:pPr>
            <a:r>
              <a:rPr sz="1125" b="0">
                <a:solidFill>
                  <a:srgbClr val="52677A"/>
                </a:solidFill>
              </a:rPr>
              <a:t>Every objective must map to a module, metric and testable completion condition.</a:t>
            </a:r>
          </a:p>
        </p:txBody>
      </p:sp>
      <p:sp>
        <p:nvSpPr>
          <p:cNvPr id="231" name="Rectangle 230">
            <a:extLst>
              <a:ext uri="{FF2B5EF4-FFF2-40B4-BE49-F238E27FC236}">
                <a16:creationId xmlns:a16="http://schemas.microsoft.com/office/drawing/2014/main" id="{268845DE-7B41-4B0B-8FBE-252F36B4C476}"/>
              </a:ext>
            </a:extLst>
          </p:cNvPr>
          <p:cNvSpPr>
            <a:spLocks noGrp="1"/>
          </p:cNvSpPr>
          <p:nvPr/>
        </p:nvSpPr>
        <p:spPr>
          <a:xfrm>
            <a:off x="514350" y="1847850"/>
            <a:ext cx="11153775" cy="19050"/>
          </a:xfrm>
          <a:prstGeom prst="rect">
            <a:avLst/>
          </a:prstGeom>
          <a:solidFill>
            <a:srgbClr val="C9D6E2"/>
          </a:solidFill>
          <a:ln w="0">
            <a:solidFill>
              <a:srgbClr val="C9D6E2"/>
            </a:solidFill>
            <a:prstDash val="solid"/>
          </a:ln>
        </p:spPr>
      </p:sp>
      <p:sp>
        <p:nvSpPr>
          <p:cNvPr id="232" name="Rectangle 231">
            <a:extLst>
              <a:ext uri="{FF2B5EF4-FFF2-40B4-BE49-F238E27FC236}">
                <a16:creationId xmlns:a16="http://schemas.microsoft.com/office/drawing/2014/main" id="{E2BD7B77-3958-464E-BA0A-F4A92FCF0381}"/>
              </a:ext>
            </a:extLst>
          </p:cNvPr>
          <p:cNvSpPr>
            <a:spLocks noGrp="1"/>
          </p:cNvSpPr>
          <p:nvPr/>
        </p:nvSpPr>
        <p:spPr>
          <a:xfrm>
            <a:off x="0" y="6419850"/>
            <a:ext cx="12182475" cy="438150"/>
          </a:xfrm>
          <a:prstGeom prst="rect">
            <a:avLst/>
          </a:prstGeom>
          <a:solidFill>
            <a:srgbClr val="0B2E4F"/>
          </a:solidFill>
          <a:ln w="0">
            <a:solidFill>
              <a:srgbClr val="0B2E4F"/>
            </a:solidFill>
            <a:prstDash val="solid"/>
          </a:ln>
        </p:spPr>
      </p:sp>
      <p:sp>
        <p:nvSpPr>
          <p:cNvPr id="234" name="Rectangle 233">
            <a:extLst>
              <a:ext uri="{FF2B5EF4-FFF2-40B4-BE49-F238E27FC236}">
                <a16:creationId xmlns:a16="http://schemas.microsoft.com/office/drawing/2014/main" id="{92895A8F-0EB0-4ED2-A249-A86FB1084435}"/>
              </a:ext>
            </a:extLst>
          </p:cNvPr>
          <p:cNvSpPr>
            <a:spLocks noGrp="1"/>
          </p:cNvSpPr>
          <p:nvPr/>
        </p:nvSpPr>
        <p:spPr>
          <a:xfrm>
            <a:off x="11049000" y="6515100"/>
            <a:ext cx="6191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975" b="1">
                <a:solidFill>
                  <a:srgbClr val="D39216"/>
                </a:solidFill>
              </a:defRPr>
            </a:pPr>
            <a:r>
              <a:rPr sz="975" b="1">
                <a:solidFill>
                  <a:srgbClr val="D39216"/>
                </a:solidFill>
              </a:rPr>
              <a:t>06</a:t>
            </a:r>
          </a:p>
        </p:txBody>
      </p:sp>
      <p:sp>
        <p:nvSpPr>
          <p:cNvPr id="235" name="Rectangle 234">
            <a:extLst>
              <a:ext uri="{FF2B5EF4-FFF2-40B4-BE49-F238E27FC236}">
                <a16:creationId xmlns:a16="http://schemas.microsoft.com/office/drawing/2014/main" id="{B395AC92-45FC-45EC-8F65-0BBD7B8E6922}"/>
              </a:ext>
            </a:extLst>
          </p:cNvPr>
          <p:cNvSpPr>
            <a:spLocks noGrp="1"/>
          </p:cNvSpPr>
          <p:nvPr/>
        </p:nvSpPr>
        <p:spPr>
          <a:xfrm>
            <a:off x="4191000" y="6715125"/>
            <a:ext cx="3810000" cy="1047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600" b="0">
                <a:solidFill>
                  <a:srgbClr val="BFD3E1"/>
                </a:solidFill>
              </a:defRPr>
            </a:pPr>
            <a:r>
              <a:rPr sz="600" b="0">
                <a:solidFill>
                  <a:srgbClr val="BFD3E1"/>
                </a:solidFill>
              </a:rPr>
              <a:t>Dr. C. Rajesh Babu | SSETSCS415</a:t>
            </a:r>
          </a:p>
        </p:txBody>
      </p:sp>
      <p:graphicFrame>
        <p:nvGraphicFramePr>
          <p:cNvPr id="250" name="Table 249"/>
          <p:cNvGraphicFramePr/>
          <p:nvPr>
            <p:extLst>
              <p:ext uri="{D42A27DB-BD31-4B8C-83A1-F6EECF244321}">
                <p14:modId xmlns:p14="http://schemas.microsoft.com/office/powerpoint/2010/main" val="1822014289"/>
              </p:ext>
            </p:extLst>
          </p:nvPr>
        </p:nvGraphicFramePr>
        <p:xfrm>
          <a:off x="438150" y="2186161"/>
          <a:ext cx="11153775" cy="3335655"/>
        </p:xfrm>
        <a:graphic>
          <a:graphicData uri="http://schemas.openxmlformats.org/drawingml/2006/table">
            <a:tbl>
              <a:tblPr/>
              <a:tblGrid>
                <a:gridCol w="3143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76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2480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/>
                      <a:r>
                        <a:rPr sz="975" b="1">
                          <a:solidFill>
                            <a:srgbClr val="FFFFFF"/>
                          </a:solidFill>
                        </a:rPr>
                        <a:t>Objective</a:t>
                      </a:r>
                    </a:p>
                  </a:txBody>
                  <a:tcPr>
                    <a:solidFill>
                      <a:srgbClr val="0B2E4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75" b="1">
                          <a:solidFill>
                            <a:srgbClr val="FFFFFF"/>
                          </a:solidFill>
                        </a:rPr>
                        <a:t>Linked Module</a:t>
                      </a:r>
                    </a:p>
                  </a:txBody>
                  <a:tcPr>
                    <a:solidFill>
                      <a:srgbClr val="0B2E4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75" b="1">
                          <a:solidFill>
                            <a:srgbClr val="FFFFFF"/>
                          </a:solidFill>
                        </a:rPr>
                        <a:t>Metric / Target</a:t>
                      </a:r>
                    </a:p>
                  </a:txBody>
                  <a:tcPr>
                    <a:solidFill>
                      <a:srgbClr val="0B2E4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75" b="1">
                          <a:solidFill>
                            <a:srgbClr val="FFFFFF"/>
                          </a:solidFill>
                        </a:rPr>
                        <a:t>Acceptance Evidence</a:t>
                      </a:r>
                    </a:p>
                  </a:txBody>
                  <a:tcPr>
                    <a:solidFill>
                      <a:srgbClr val="0B2E4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19125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183247"/>
                          </a:solidFill>
                        </a:rPr>
                        <a:t>O1  Track medicines, stock levels, batches and expiry dates in a centralized cloud system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183247"/>
                          </a:solidFill>
                        </a:rPr>
                        <a:t>Module 1: Medicine Inventory &amp; Supplier Management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183247"/>
                          </a:solidFill>
                        </a:rPr>
                        <a:t>Accurate CRUD across all medicine/supplier/purchase records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183247"/>
                          </a:solidFill>
                        </a:rPr>
                        <a:t>Working CRUD flows tested end-to-end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19125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183247"/>
                          </a:solidFill>
                        </a:rPr>
                        <a:t>O2  Identify low-stock and near-expiry medicines to reduce wastage</a:t>
                      </a:r>
                    </a:p>
                  </a:txBody>
                  <a:tcPr>
                    <a:solidFill>
                      <a:srgbClr val="EAF3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dirty="0">
                          <a:solidFill>
                            <a:srgbClr val="183247"/>
                          </a:solidFill>
                        </a:rPr>
                        <a:t>Module 2: Expiry Monitoring &amp; Waste Management</a:t>
                      </a:r>
                    </a:p>
                  </a:txBody>
                  <a:tcPr>
                    <a:solidFill>
                      <a:srgbClr val="EAF3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183247"/>
                          </a:solidFill>
                        </a:rPr>
                        <a:t>Correct alert generation for near-expiry and expired items</a:t>
                      </a:r>
                    </a:p>
                  </a:txBody>
                  <a:tcPr>
                    <a:solidFill>
                      <a:srgbClr val="EAF3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183247"/>
                          </a:solidFill>
                        </a:rPr>
                        <a:t>Alert output verified against sample expiry/stock data</a:t>
                      </a:r>
                    </a:p>
                  </a:txBody>
                  <a:tcPr>
                    <a:solidFill>
                      <a:srgbClr val="EAF3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19125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183247"/>
                          </a:solidFill>
                        </a:rPr>
                        <a:t>O3  Provide secure role-based access and a green-computing analytics dashboard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183247"/>
                          </a:solidFill>
                        </a:rPr>
                        <a:t>Module 3: Green Cloud Analytics &amp; User Management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183247"/>
                          </a:solidFill>
                        </a:rPr>
                        <a:t>Role-restricted access; dashboard reflects live stock/expiry stats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183247"/>
                          </a:solidFill>
                        </a:rPr>
                        <a:t>Login flow and dashboard demo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19125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183247"/>
                          </a:solidFill>
                        </a:rPr>
                        <a:t>O4  Reduce unnecessary compute/DB load through efficient query design</a:t>
                      </a:r>
                    </a:p>
                  </a:txBody>
                  <a:tcPr>
                    <a:solidFill>
                      <a:srgbClr val="EAF3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183247"/>
                          </a:solidFill>
                        </a:rPr>
                        <a:t>Module 3: Green Cloud Analytics &amp; User Management</a:t>
                      </a:r>
                    </a:p>
                  </a:txBody>
                  <a:tcPr>
                    <a:solidFill>
                      <a:srgbClr val="EAF3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183247"/>
                          </a:solidFill>
                        </a:rPr>
                        <a:t>Lightweight aggregation queries instead of full-scan analytics</a:t>
                      </a:r>
                    </a:p>
                  </a:txBody>
                  <a:tcPr>
                    <a:solidFill>
                      <a:srgbClr val="EAF3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183247"/>
                          </a:solidFill>
                        </a:rPr>
                        <a:t>Query design review and dashboard response behavior</a:t>
                      </a:r>
                    </a:p>
                  </a:txBody>
                  <a:tcPr>
                    <a:solidFill>
                      <a:srgbClr val="EAF3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19125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183247"/>
                          </a:solidFill>
                        </a:rPr>
                        <a:t>O5  Deliver an integrated, deployable cloud product across all modules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183247"/>
                          </a:solidFill>
                        </a:rPr>
                        <a:t>Integrated Product (Modules 1-3)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183247"/>
                          </a:solidFill>
                        </a:rPr>
                        <a:t>End-to-end flow from stock entry to dashboard alert works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dirty="0">
                          <a:solidFill>
                            <a:srgbClr val="183247"/>
                          </a:solidFill>
                        </a:rPr>
                        <a:t>Full-system demo walkthrough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54657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ctangle 30">
            <a:extLst>
              <a:ext uri="{FF2B5EF4-FFF2-40B4-BE49-F238E27FC236}">
                <a16:creationId xmlns:a16="http://schemas.microsoft.com/office/drawing/2014/main" id="{3522FA67-541F-4609-A9A3-DA3EDFC7F8C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82475" cy="76200"/>
          </a:xfrm>
          <a:prstGeom prst="rect">
            <a:avLst/>
          </a:prstGeom>
          <a:solidFill>
            <a:srgbClr val="0B7895"/>
          </a:solidFill>
          <a:ln w="0">
            <a:solidFill>
              <a:srgbClr val="0B7895"/>
            </a:solidFill>
            <a:prstDash val="solid"/>
          </a:ln>
        </p:spPr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EEFB2A3D-3D8F-4484-B0CF-DEBDC1B51D87}"/>
              </a:ext>
            </a:extLst>
          </p:cNvPr>
          <p:cNvSpPr>
            <a:spLocks noGrp="1"/>
          </p:cNvSpPr>
          <p:nvPr/>
        </p:nvSpPr>
        <p:spPr>
          <a:xfrm>
            <a:off x="438150" y="228600"/>
            <a:ext cx="1000125" cy="552450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9525">
            <a:solidFill>
              <a:srgbClr val="C9D6E2"/>
            </a:solidFill>
            <a:prstDash val="solid"/>
          </a:ln>
        </p:spPr>
      </p:sp>
      <p:pic>
        <p:nvPicPr>
          <p:cNvPr id="33" name="Picture 32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514350" y="450359"/>
            <a:ext cx="847725" cy="108932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6CA30289-B2F9-4C34-AF85-22A5BBD46334}"/>
              </a:ext>
            </a:extLst>
          </p:cNvPr>
          <p:cNvSpPr>
            <a:spLocks noGrp="1"/>
          </p:cNvSpPr>
          <p:nvPr/>
        </p:nvSpPr>
        <p:spPr>
          <a:xfrm>
            <a:off x="1657350" y="266700"/>
            <a:ext cx="6953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900" b="1">
                <a:solidFill>
                  <a:srgbClr val="1264A3"/>
                </a:solidFill>
              </a:defRPr>
            </a:pPr>
            <a:r>
              <a:rPr sz="900" b="1">
                <a:solidFill>
                  <a:srgbClr val="1264A3"/>
                </a:solidFill>
              </a:rPr>
              <a:t>CSA15  |  CLOUD COMPUTING AND BIG DATA ANALYTICS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37679EB-2BB3-48E8-B68E-F1ABC50787F6}"/>
              </a:ext>
            </a:extLst>
          </p:cNvPr>
          <p:cNvSpPr>
            <a:spLocks noGrp="1"/>
          </p:cNvSpPr>
          <p:nvPr/>
        </p:nvSpPr>
        <p:spPr>
          <a:xfrm>
            <a:off x="9572625" y="266700"/>
            <a:ext cx="2095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825" b="1">
                <a:solidFill>
                  <a:srgbClr val="0B7895"/>
                </a:solidFill>
              </a:defRPr>
            </a:pPr>
            <a:r>
              <a:rPr sz="825" b="1">
                <a:solidFill>
                  <a:srgbClr val="0B7895"/>
                </a:solidFill>
              </a:rPr>
              <a:t>CAPSTONE FINAL DEFENSE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7D5D67A-D574-43A8-B087-90139289EA6F}"/>
              </a:ext>
            </a:extLst>
          </p:cNvPr>
          <p:cNvSpPr>
            <a:spLocks noGrp="1"/>
          </p:cNvSpPr>
          <p:nvPr/>
        </p:nvSpPr>
        <p:spPr>
          <a:xfrm>
            <a:off x="514350" y="981075"/>
            <a:ext cx="102870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2325" b="1">
                <a:solidFill>
                  <a:srgbClr val="0B2E4F"/>
                </a:solidFill>
              </a:defRPr>
            </a:pPr>
            <a:r>
              <a:rPr sz="2325" b="1">
                <a:solidFill>
                  <a:srgbClr val="0B2E4F"/>
                </a:solidFill>
              </a:rPr>
              <a:t>Cloud System Architecture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1AFCFE7-CDDB-4F3D-81D0-A824E7BD0A5B}"/>
              </a:ext>
            </a:extLst>
          </p:cNvPr>
          <p:cNvSpPr>
            <a:spLocks noGrp="1"/>
          </p:cNvSpPr>
          <p:nvPr/>
        </p:nvSpPr>
        <p:spPr>
          <a:xfrm>
            <a:off x="533400" y="1457325"/>
            <a:ext cx="10287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1125" b="0">
                <a:solidFill>
                  <a:srgbClr val="52677A"/>
                </a:solidFill>
              </a:defRPr>
            </a:pPr>
            <a:r>
              <a:rPr sz="1125" b="0">
                <a:solidFill>
                  <a:srgbClr val="52677A"/>
                </a:solidFill>
              </a:rPr>
              <a:t>Present the end-to-end deployment topology and label every service boundary and data flow.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8AC8820-0F9B-4418-A196-68B1308AB84F}"/>
              </a:ext>
            </a:extLst>
          </p:cNvPr>
          <p:cNvSpPr>
            <a:spLocks noGrp="1"/>
          </p:cNvSpPr>
          <p:nvPr/>
        </p:nvSpPr>
        <p:spPr>
          <a:xfrm>
            <a:off x="514350" y="1847850"/>
            <a:ext cx="11153775" cy="19050"/>
          </a:xfrm>
          <a:prstGeom prst="rect">
            <a:avLst/>
          </a:prstGeom>
          <a:solidFill>
            <a:srgbClr val="C9D6E2"/>
          </a:solidFill>
          <a:ln w="0">
            <a:solidFill>
              <a:srgbClr val="C9D6E2"/>
            </a:solidFill>
            <a:prstDash val="solid"/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BC6DC71-0E4A-428B-8C27-870555D9D1EF}"/>
              </a:ext>
            </a:extLst>
          </p:cNvPr>
          <p:cNvSpPr>
            <a:spLocks noGrp="1"/>
          </p:cNvSpPr>
          <p:nvPr/>
        </p:nvSpPr>
        <p:spPr>
          <a:xfrm>
            <a:off x="0" y="6419850"/>
            <a:ext cx="12182475" cy="438150"/>
          </a:xfrm>
          <a:prstGeom prst="rect">
            <a:avLst/>
          </a:prstGeom>
          <a:solidFill>
            <a:srgbClr val="0B2E4F"/>
          </a:solidFill>
          <a:ln w="0">
            <a:solidFill>
              <a:srgbClr val="0B2E4F"/>
            </a:solidFill>
            <a:prstDash val="solid"/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FDD9032-4253-4F1F-A0EE-72D2F96A6C7B}"/>
              </a:ext>
            </a:extLst>
          </p:cNvPr>
          <p:cNvSpPr>
            <a:spLocks noGrp="1"/>
          </p:cNvSpPr>
          <p:nvPr/>
        </p:nvSpPr>
        <p:spPr>
          <a:xfrm>
            <a:off x="11049000" y="6515100"/>
            <a:ext cx="6191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975" b="1">
                <a:solidFill>
                  <a:srgbClr val="D39216"/>
                </a:solidFill>
              </a:defRPr>
            </a:pPr>
            <a:r>
              <a:rPr sz="975" b="1">
                <a:solidFill>
                  <a:srgbClr val="D39216"/>
                </a:solidFill>
              </a:rPr>
              <a:t>07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CFF8D28-C8A1-49EA-AD7D-282B03478945}"/>
              </a:ext>
            </a:extLst>
          </p:cNvPr>
          <p:cNvSpPr>
            <a:spLocks noGrp="1"/>
          </p:cNvSpPr>
          <p:nvPr/>
        </p:nvSpPr>
        <p:spPr>
          <a:xfrm>
            <a:off x="4191000" y="6715125"/>
            <a:ext cx="3810000" cy="1047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600" b="0">
                <a:solidFill>
                  <a:srgbClr val="BFD3E1"/>
                </a:solidFill>
              </a:defRPr>
            </a:pPr>
            <a:r>
              <a:rPr sz="600" b="0">
                <a:solidFill>
                  <a:srgbClr val="BFD3E1"/>
                </a:solidFill>
              </a:rPr>
              <a:t>Dr. C. Rajesh Babu | SSETSCS415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D7A0A3A-B49D-4C39-A087-C8AE16BEE131}"/>
              </a:ext>
            </a:extLst>
          </p:cNvPr>
          <p:cNvSpPr>
            <a:spLocks noGrp="1"/>
          </p:cNvSpPr>
          <p:nvPr/>
        </p:nvSpPr>
        <p:spPr>
          <a:xfrm>
            <a:off x="514350" y="2362200"/>
            <a:ext cx="2047875" cy="1066800"/>
          </a:xfrm>
          <a:prstGeom prst="rect">
            <a:avLst/>
          </a:prstGeom>
          <a:solidFill>
            <a:srgbClr val="0B2E4F"/>
          </a:solidFill>
          <a:ln w="0">
            <a:noFill/>
            <a:prstDash val="solid"/>
          </a:ln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16BB251-82EE-424C-AD06-0DE8731E2A59}"/>
              </a:ext>
            </a:extLst>
          </p:cNvPr>
          <p:cNvSpPr>
            <a:spLocks noGrp="1"/>
          </p:cNvSpPr>
          <p:nvPr/>
        </p:nvSpPr>
        <p:spPr>
          <a:xfrm>
            <a:off x="628650" y="2571750"/>
            <a:ext cx="1819275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CLIENTS</a:t>
            </a:r>
          </a:p>
        </p:txBody>
      </p:sp>
      <p:sp>
        <p:nvSpPr>
          <p:cNvPr id="15" name="Arrow: Right 14">
            <a:extLst>
              <a:ext uri="{FF2B5EF4-FFF2-40B4-BE49-F238E27FC236}">
                <a16:creationId xmlns:a16="http://schemas.microsoft.com/office/drawing/2014/main" id="{66782E62-170B-43A2-9930-A9F14C4F36B0}"/>
              </a:ext>
            </a:extLst>
          </p:cNvPr>
          <p:cNvSpPr>
            <a:spLocks noGrp="1"/>
          </p:cNvSpPr>
          <p:nvPr/>
        </p:nvSpPr>
        <p:spPr>
          <a:xfrm>
            <a:off x="2590800" y="2724150"/>
            <a:ext cx="171450" cy="342900"/>
          </a:xfrm>
          <a:prstGeom prst="rightArrow">
            <a:avLst/>
          </a:prstGeom>
          <a:solidFill>
            <a:srgbClr val="D39216"/>
          </a:solidFill>
          <a:ln w="0">
            <a:solidFill>
              <a:srgbClr val="D39216"/>
            </a:solidFill>
            <a:prstDash val="solid"/>
          </a:ln>
        </p:spPr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964CD9D-08EB-4878-A117-49ABF3006F4A}"/>
              </a:ext>
            </a:extLst>
          </p:cNvPr>
          <p:cNvSpPr>
            <a:spLocks noGrp="1"/>
          </p:cNvSpPr>
          <p:nvPr/>
        </p:nvSpPr>
        <p:spPr>
          <a:xfrm>
            <a:off x="2790825" y="2362200"/>
            <a:ext cx="2047875" cy="1066800"/>
          </a:xfrm>
          <a:prstGeom prst="rect">
            <a:avLst/>
          </a:prstGeom>
          <a:solidFill>
            <a:srgbClr val="1264A3"/>
          </a:solidFill>
          <a:ln w="0">
            <a:noFill/>
            <a:prstDash val="solid"/>
          </a:ln>
        </p:spPr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7CA9DA8-C091-4FE3-98FE-51F26BA5D594}"/>
              </a:ext>
            </a:extLst>
          </p:cNvPr>
          <p:cNvSpPr>
            <a:spLocks noGrp="1"/>
          </p:cNvSpPr>
          <p:nvPr/>
        </p:nvSpPr>
        <p:spPr>
          <a:xfrm>
            <a:off x="2905125" y="2571750"/>
            <a:ext cx="1819275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API + AUTH</a:t>
            </a:r>
          </a:p>
        </p:txBody>
      </p:sp>
      <p:sp>
        <p:nvSpPr>
          <p:cNvPr id="18" name="Arrow: Right 17">
            <a:extLst>
              <a:ext uri="{FF2B5EF4-FFF2-40B4-BE49-F238E27FC236}">
                <a16:creationId xmlns:a16="http://schemas.microsoft.com/office/drawing/2014/main" id="{18321287-C6F6-469D-8845-416C3AE243A8}"/>
              </a:ext>
            </a:extLst>
          </p:cNvPr>
          <p:cNvSpPr>
            <a:spLocks noGrp="1"/>
          </p:cNvSpPr>
          <p:nvPr/>
        </p:nvSpPr>
        <p:spPr>
          <a:xfrm>
            <a:off x="4867275" y="2724150"/>
            <a:ext cx="171450" cy="342900"/>
          </a:xfrm>
          <a:prstGeom prst="rightArrow">
            <a:avLst/>
          </a:prstGeom>
          <a:solidFill>
            <a:srgbClr val="D39216"/>
          </a:solidFill>
          <a:ln w="0">
            <a:solidFill>
              <a:srgbClr val="D39216"/>
            </a:solidFill>
            <a:prstDash val="solid"/>
          </a:ln>
        </p:spPr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DC02E102-01A4-49DB-A223-5185E59B00AF}"/>
              </a:ext>
            </a:extLst>
          </p:cNvPr>
          <p:cNvSpPr>
            <a:spLocks noGrp="1"/>
          </p:cNvSpPr>
          <p:nvPr/>
        </p:nvSpPr>
        <p:spPr>
          <a:xfrm>
            <a:off x="5067300" y="2362200"/>
            <a:ext cx="2047875" cy="1066800"/>
          </a:xfrm>
          <a:prstGeom prst="rect">
            <a:avLst/>
          </a:prstGeom>
          <a:solidFill>
            <a:srgbClr val="0B2E4F"/>
          </a:solidFill>
          <a:ln w="0">
            <a:noFill/>
            <a:prstDash val="solid"/>
          </a:ln>
        </p:spPr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F5680388-8F19-4E30-A34E-340DE75EB043}"/>
              </a:ext>
            </a:extLst>
          </p:cNvPr>
          <p:cNvSpPr>
            <a:spLocks noGrp="1"/>
          </p:cNvSpPr>
          <p:nvPr/>
        </p:nvSpPr>
        <p:spPr>
          <a:xfrm>
            <a:off x="5181600" y="2571750"/>
            <a:ext cx="1819275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COMPUTE / SERVICES</a:t>
            </a:r>
          </a:p>
        </p:txBody>
      </p:sp>
      <p:sp>
        <p:nvSpPr>
          <p:cNvPr id="21" name="Arrow: Right 20">
            <a:extLst>
              <a:ext uri="{FF2B5EF4-FFF2-40B4-BE49-F238E27FC236}">
                <a16:creationId xmlns:a16="http://schemas.microsoft.com/office/drawing/2014/main" id="{4F1DDFF9-E3CE-4D2B-9AEB-5B98637816E8}"/>
              </a:ext>
            </a:extLst>
          </p:cNvPr>
          <p:cNvSpPr>
            <a:spLocks noGrp="1"/>
          </p:cNvSpPr>
          <p:nvPr/>
        </p:nvSpPr>
        <p:spPr>
          <a:xfrm>
            <a:off x="7143750" y="2724150"/>
            <a:ext cx="171450" cy="342900"/>
          </a:xfrm>
          <a:prstGeom prst="rightArrow">
            <a:avLst/>
          </a:prstGeom>
          <a:solidFill>
            <a:srgbClr val="D39216"/>
          </a:solidFill>
          <a:ln w="0">
            <a:solidFill>
              <a:srgbClr val="D39216"/>
            </a:solidFill>
            <a:prstDash val="solid"/>
          </a:ln>
        </p:spPr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B45C1CCD-795E-4663-B0BA-DEE927B16FD7}"/>
              </a:ext>
            </a:extLst>
          </p:cNvPr>
          <p:cNvSpPr>
            <a:spLocks noGrp="1"/>
          </p:cNvSpPr>
          <p:nvPr/>
        </p:nvSpPr>
        <p:spPr>
          <a:xfrm>
            <a:off x="7343775" y="2362200"/>
            <a:ext cx="2047875" cy="1066800"/>
          </a:xfrm>
          <a:prstGeom prst="rect">
            <a:avLst/>
          </a:prstGeom>
          <a:solidFill>
            <a:srgbClr val="1264A3"/>
          </a:solidFill>
          <a:ln w="0">
            <a:noFill/>
            <a:prstDash val="solid"/>
          </a:ln>
        </p:spPr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7F489DC0-2C1D-4C65-ABEF-4AD6353A1062}"/>
              </a:ext>
            </a:extLst>
          </p:cNvPr>
          <p:cNvSpPr>
            <a:spLocks noGrp="1"/>
          </p:cNvSpPr>
          <p:nvPr/>
        </p:nvSpPr>
        <p:spPr>
          <a:xfrm>
            <a:off x="7458075" y="2571750"/>
            <a:ext cx="1819275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DATA + STORAGE</a:t>
            </a:r>
          </a:p>
        </p:txBody>
      </p:sp>
      <p:sp>
        <p:nvSpPr>
          <p:cNvPr id="24" name="Arrow: Right 23">
            <a:extLst>
              <a:ext uri="{FF2B5EF4-FFF2-40B4-BE49-F238E27FC236}">
                <a16:creationId xmlns:a16="http://schemas.microsoft.com/office/drawing/2014/main" id="{4EB4060F-249B-4A1F-B3CC-25E0E5F4522C}"/>
              </a:ext>
            </a:extLst>
          </p:cNvPr>
          <p:cNvSpPr>
            <a:spLocks noGrp="1"/>
          </p:cNvSpPr>
          <p:nvPr/>
        </p:nvSpPr>
        <p:spPr>
          <a:xfrm>
            <a:off x="9420225" y="2724150"/>
            <a:ext cx="171450" cy="342900"/>
          </a:xfrm>
          <a:prstGeom prst="rightArrow">
            <a:avLst/>
          </a:prstGeom>
          <a:solidFill>
            <a:srgbClr val="D39216"/>
          </a:solidFill>
          <a:ln w="0">
            <a:solidFill>
              <a:srgbClr val="D39216"/>
            </a:solidFill>
            <a:prstDash val="solid"/>
          </a:ln>
        </p:spPr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FEAD42CC-7A0D-4D5A-98AE-A0FA6306BB76}"/>
              </a:ext>
            </a:extLst>
          </p:cNvPr>
          <p:cNvSpPr>
            <a:spLocks noGrp="1"/>
          </p:cNvSpPr>
          <p:nvPr/>
        </p:nvSpPr>
        <p:spPr>
          <a:xfrm>
            <a:off x="9620250" y="2362200"/>
            <a:ext cx="2047875" cy="1066800"/>
          </a:xfrm>
          <a:prstGeom prst="rect">
            <a:avLst/>
          </a:prstGeom>
          <a:solidFill>
            <a:srgbClr val="0B2E4F"/>
          </a:solidFill>
          <a:ln w="0">
            <a:noFill/>
            <a:prstDash val="solid"/>
          </a:ln>
        </p:spPr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4CB503DE-2144-4B88-9BA5-9EFA764C2312}"/>
              </a:ext>
            </a:extLst>
          </p:cNvPr>
          <p:cNvSpPr>
            <a:spLocks noGrp="1"/>
          </p:cNvSpPr>
          <p:nvPr/>
        </p:nvSpPr>
        <p:spPr>
          <a:xfrm>
            <a:off x="9734550" y="2571750"/>
            <a:ext cx="1819275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MONITORING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F65B4086-8645-4699-8786-24D3D2880CF9}"/>
              </a:ext>
            </a:extLst>
          </p:cNvPr>
          <p:cNvSpPr>
            <a:spLocks noGrp="1"/>
          </p:cNvSpPr>
          <p:nvPr/>
        </p:nvSpPr>
        <p:spPr>
          <a:xfrm>
            <a:off x="514350" y="3829050"/>
            <a:ext cx="11153775" cy="2019300"/>
          </a:xfrm>
          <a:prstGeom prst="rect">
            <a:avLst/>
          </a:prstGeom>
          <a:solidFill>
            <a:srgbClr val="FFFFFF"/>
          </a:solidFill>
          <a:ln w="9525">
            <a:solidFill>
              <a:srgbClr val="C9D6E2"/>
            </a:solidFill>
            <a:prstDash val="solid"/>
          </a:ln>
        </p:spPr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B5EDE822-D83D-4397-985A-FFA6C8103510}"/>
              </a:ext>
            </a:extLst>
          </p:cNvPr>
          <p:cNvSpPr>
            <a:spLocks noGrp="1"/>
          </p:cNvSpPr>
          <p:nvPr/>
        </p:nvSpPr>
        <p:spPr>
          <a:xfrm>
            <a:off x="514350" y="3829050"/>
            <a:ext cx="57150" cy="2019300"/>
          </a:xfrm>
          <a:prstGeom prst="rect">
            <a:avLst/>
          </a:prstGeom>
          <a:solidFill>
            <a:srgbClr val="D39216"/>
          </a:solidFill>
          <a:ln w="0">
            <a:solidFill>
              <a:srgbClr val="D39216"/>
            </a:solidFill>
            <a:prstDash val="solid"/>
          </a:ln>
        </p:spPr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F8683BB4-901E-4FCD-B7EA-773283CDCDD8}"/>
              </a:ext>
            </a:extLst>
          </p:cNvPr>
          <p:cNvSpPr>
            <a:spLocks noGrp="1"/>
          </p:cNvSpPr>
          <p:nvPr/>
        </p:nvSpPr>
        <p:spPr>
          <a:xfrm>
            <a:off x="723900" y="3981450"/>
            <a:ext cx="10753725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900" b="1">
                <a:solidFill>
                  <a:srgbClr val="D39216"/>
                </a:solidFill>
              </a:defRPr>
            </a:pPr>
            <a:r>
              <a:rPr sz="900" b="1">
                <a:solidFill>
                  <a:srgbClr val="D39216"/>
                </a:solidFill>
              </a:rPr>
              <a:t>ARCHITECTURE EVIDENCE TO INCLUDE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429E20FE-2C99-4E2C-97AF-2000BDCAEB87}"/>
              </a:ext>
            </a:extLst>
          </p:cNvPr>
          <p:cNvSpPr>
            <a:spLocks noGrp="1"/>
          </p:cNvSpPr>
          <p:nvPr/>
        </p:nvSpPr>
        <p:spPr>
          <a:xfrm>
            <a:off x="723900" y="4286250"/>
            <a:ext cx="10753725" cy="1428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1200" b="0">
                <a:solidFill>
                  <a:srgbClr val="183247"/>
                </a:solidFill>
              </a:defRPr>
            </a:pPr>
            <a:r>
              <a:rPr sz="1200" b="0">
                <a:solidFill>
                  <a:srgbClr val="183247"/>
                </a:solidFill>
              </a:rPr>
              <a:t>React SPA (client) -&gt; HTTPS/REST -&gt; FastAPI backend (auth + inventory/expiry/analytics services) -&gt; PostgreSQL database. Role-based access enforced at the API layer; each service module maps to Modules 1-3; deployment via cloud application hosting with the database as a managed/hosted PostgreSQL instance.</a:t>
            </a:r>
          </a:p>
        </p:txBody>
      </p:sp>
    </p:spTree>
    <p:extLst>
      <p:ext uri="{BB962C8B-B14F-4D97-AF65-F5344CB8AC3E}">
        <p14:creationId xmlns:p14="http://schemas.microsoft.com/office/powerpoint/2010/main" val="146877202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>
            <a:extLst>
              <a:ext uri="{FF2B5EF4-FFF2-40B4-BE49-F238E27FC236}">
                <a16:creationId xmlns:a16="http://schemas.microsoft.com/office/drawing/2014/main" id="{0DBE434A-4A23-4EFD-9C7F-1E6659EE70C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82475" cy="76200"/>
          </a:xfrm>
          <a:prstGeom prst="rect">
            <a:avLst/>
          </a:prstGeom>
          <a:solidFill>
            <a:srgbClr val="0B7895"/>
          </a:solidFill>
          <a:ln w="0">
            <a:solidFill>
              <a:srgbClr val="0B7895"/>
            </a:solidFill>
            <a:prstDash val="solid"/>
          </a:ln>
        </p:spPr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E961618F-7445-458B-B22B-312706863470}"/>
              </a:ext>
            </a:extLst>
          </p:cNvPr>
          <p:cNvSpPr>
            <a:spLocks noGrp="1"/>
          </p:cNvSpPr>
          <p:nvPr/>
        </p:nvSpPr>
        <p:spPr>
          <a:xfrm>
            <a:off x="438150" y="228600"/>
            <a:ext cx="1000125" cy="552450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9525">
            <a:solidFill>
              <a:srgbClr val="C9D6E2"/>
            </a:solidFill>
            <a:prstDash val="solid"/>
          </a:ln>
        </p:spPr>
      </p:sp>
      <p:pic>
        <p:nvPicPr>
          <p:cNvPr id="27" name="Picture 26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514350" y="450359"/>
            <a:ext cx="847725" cy="108932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967F525F-EBEF-4795-A52E-618AA8B9B7BA}"/>
              </a:ext>
            </a:extLst>
          </p:cNvPr>
          <p:cNvSpPr>
            <a:spLocks noGrp="1"/>
          </p:cNvSpPr>
          <p:nvPr/>
        </p:nvSpPr>
        <p:spPr>
          <a:xfrm>
            <a:off x="1657350" y="266700"/>
            <a:ext cx="6953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900" b="1">
                <a:solidFill>
                  <a:srgbClr val="1264A3"/>
                </a:solidFill>
              </a:defRPr>
            </a:pPr>
            <a:r>
              <a:rPr sz="900" b="1">
                <a:solidFill>
                  <a:srgbClr val="1264A3"/>
                </a:solidFill>
              </a:rPr>
              <a:t>CSA15  |  CLOUD COMPUTING AND BIG DATA ANALYTICS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CBBA986-F2C2-4F2F-9DAA-712BEBD7C2FF}"/>
              </a:ext>
            </a:extLst>
          </p:cNvPr>
          <p:cNvSpPr>
            <a:spLocks noGrp="1"/>
          </p:cNvSpPr>
          <p:nvPr/>
        </p:nvSpPr>
        <p:spPr>
          <a:xfrm>
            <a:off x="9572625" y="266700"/>
            <a:ext cx="2095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825" b="1">
                <a:solidFill>
                  <a:srgbClr val="0B7895"/>
                </a:solidFill>
              </a:defRPr>
            </a:pPr>
            <a:r>
              <a:rPr sz="825" b="1">
                <a:solidFill>
                  <a:srgbClr val="0B7895"/>
                </a:solidFill>
              </a:rPr>
              <a:t>CAPSTONE FINAL DEFENSE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34B1FC5-1C80-4063-9F82-2CE818E65AFA}"/>
              </a:ext>
            </a:extLst>
          </p:cNvPr>
          <p:cNvSpPr>
            <a:spLocks noGrp="1"/>
          </p:cNvSpPr>
          <p:nvPr/>
        </p:nvSpPr>
        <p:spPr>
          <a:xfrm>
            <a:off x="514350" y="981075"/>
            <a:ext cx="102870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2325" b="1">
                <a:solidFill>
                  <a:srgbClr val="0B2E4F"/>
                </a:solidFill>
              </a:defRPr>
            </a:pPr>
            <a:r>
              <a:rPr sz="2325" b="1">
                <a:solidFill>
                  <a:srgbClr val="0B2E4F"/>
                </a:solidFill>
              </a:rPr>
              <a:t>Module 1: Functional Scope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50468BE-EBDA-4C43-907B-67B1D87AB714}"/>
              </a:ext>
            </a:extLst>
          </p:cNvPr>
          <p:cNvSpPr>
            <a:spLocks noGrp="1"/>
          </p:cNvSpPr>
          <p:nvPr/>
        </p:nvSpPr>
        <p:spPr>
          <a:xfrm>
            <a:off x="533400" y="1457325"/>
            <a:ext cx="10287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1125" b="0">
                <a:solidFill>
                  <a:srgbClr val="52677A"/>
                </a:solidFill>
              </a:defRPr>
            </a:pPr>
            <a:r>
              <a:rPr sz="1125" b="0">
                <a:solidFill>
                  <a:srgbClr val="52677A"/>
                </a:solidFill>
              </a:rPr>
              <a:t>Define the module responsibility before presenting implementation detail.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149EBF9-5E0B-4008-A24A-DEAF39811C23}"/>
              </a:ext>
            </a:extLst>
          </p:cNvPr>
          <p:cNvSpPr>
            <a:spLocks noGrp="1"/>
          </p:cNvSpPr>
          <p:nvPr/>
        </p:nvSpPr>
        <p:spPr>
          <a:xfrm>
            <a:off x="514350" y="1847850"/>
            <a:ext cx="11153775" cy="19050"/>
          </a:xfrm>
          <a:prstGeom prst="rect">
            <a:avLst/>
          </a:prstGeom>
          <a:solidFill>
            <a:srgbClr val="C9D6E2"/>
          </a:solidFill>
          <a:ln w="0">
            <a:solidFill>
              <a:srgbClr val="C9D6E2"/>
            </a:solidFill>
            <a:prstDash val="solid"/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A5DB327-856E-4517-9D0F-98CD8345DA42}"/>
              </a:ext>
            </a:extLst>
          </p:cNvPr>
          <p:cNvSpPr>
            <a:spLocks noGrp="1"/>
          </p:cNvSpPr>
          <p:nvPr/>
        </p:nvSpPr>
        <p:spPr>
          <a:xfrm>
            <a:off x="0" y="6419850"/>
            <a:ext cx="12182475" cy="438150"/>
          </a:xfrm>
          <a:prstGeom prst="rect">
            <a:avLst/>
          </a:prstGeom>
          <a:solidFill>
            <a:srgbClr val="0B2E4F"/>
          </a:solidFill>
          <a:ln w="0">
            <a:solidFill>
              <a:srgbClr val="0B2E4F"/>
            </a:solidFill>
            <a:prstDash val="solid"/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DA05431-2DEE-4934-9240-C53F7BE151B9}"/>
              </a:ext>
            </a:extLst>
          </p:cNvPr>
          <p:cNvSpPr>
            <a:spLocks noGrp="1"/>
          </p:cNvSpPr>
          <p:nvPr/>
        </p:nvSpPr>
        <p:spPr>
          <a:xfrm>
            <a:off x="11049000" y="6515100"/>
            <a:ext cx="6191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975" b="1">
                <a:solidFill>
                  <a:srgbClr val="D39216"/>
                </a:solidFill>
              </a:defRPr>
            </a:pPr>
            <a:r>
              <a:rPr sz="975" b="1">
                <a:solidFill>
                  <a:srgbClr val="D39216"/>
                </a:solidFill>
              </a:rPr>
              <a:t>08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8800333-59B8-432C-87F2-6E6D78E28779}"/>
              </a:ext>
            </a:extLst>
          </p:cNvPr>
          <p:cNvSpPr>
            <a:spLocks noGrp="1"/>
          </p:cNvSpPr>
          <p:nvPr/>
        </p:nvSpPr>
        <p:spPr>
          <a:xfrm>
            <a:off x="4191000" y="6715125"/>
            <a:ext cx="3810000" cy="1047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600" b="0">
                <a:solidFill>
                  <a:srgbClr val="BFD3E1"/>
                </a:solidFill>
              </a:defRPr>
            </a:pPr>
            <a:r>
              <a:rPr sz="600" b="0">
                <a:solidFill>
                  <a:srgbClr val="BFD3E1"/>
                </a:solidFill>
              </a:rPr>
              <a:t>Dr. C. Rajesh Babu | SSETSCS415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800AD5C-D93F-4A3A-A1C6-7366A6581FA5}"/>
              </a:ext>
            </a:extLst>
          </p:cNvPr>
          <p:cNvSpPr>
            <a:spLocks noGrp="1"/>
          </p:cNvSpPr>
          <p:nvPr/>
        </p:nvSpPr>
        <p:spPr>
          <a:xfrm>
            <a:off x="514350" y="2143125"/>
            <a:ext cx="3565525" cy="3571875"/>
          </a:xfrm>
          <a:prstGeom prst="rect">
            <a:avLst/>
          </a:prstGeom>
          <a:solidFill>
            <a:srgbClr val="FFFFFF"/>
          </a:solidFill>
          <a:ln w="9525">
            <a:solidFill>
              <a:srgbClr val="C9D6E2"/>
            </a:solidFill>
            <a:prstDash val="solid"/>
          </a:ln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AC84759-B8BB-4C21-B7A6-30DEDBB73BC5}"/>
              </a:ext>
            </a:extLst>
          </p:cNvPr>
          <p:cNvSpPr>
            <a:spLocks noGrp="1"/>
          </p:cNvSpPr>
          <p:nvPr/>
        </p:nvSpPr>
        <p:spPr>
          <a:xfrm>
            <a:off x="514350" y="2143125"/>
            <a:ext cx="57150" cy="3571875"/>
          </a:xfrm>
          <a:prstGeom prst="rect">
            <a:avLst/>
          </a:prstGeom>
          <a:solidFill>
            <a:srgbClr val="1264A3"/>
          </a:solidFill>
          <a:ln w="0">
            <a:solidFill>
              <a:srgbClr val="1264A3"/>
            </a:solidFill>
            <a:prstDash val="solid"/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F091F55-0990-481E-946F-8C3392150907}"/>
              </a:ext>
            </a:extLst>
          </p:cNvPr>
          <p:cNvSpPr>
            <a:spLocks noGrp="1"/>
          </p:cNvSpPr>
          <p:nvPr/>
        </p:nvSpPr>
        <p:spPr>
          <a:xfrm>
            <a:off x="723900" y="2295525"/>
            <a:ext cx="3165475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900" b="1">
                <a:solidFill>
                  <a:srgbClr val="1264A3"/>
                </a:solidFill>
              </a:defRPr>
            </a:pPr>
            <a:r>
              <a:rPr sz="900" b="1">
                <a:solidFill>
                  <a:srgbClr val="1264A3"/>
                </a:solidFill>
              </a:rPr>
              <a:t>PURPOSE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3F62031-28C9-4B09-BB6E-4DB90502EA2D}"/>
              </a:ext>
            </a:extLst>
          </p:cNvPr>
          <p:cNvSpPr>
            <a:spLocks noGrp="1"/>
          </p:cNvSpPr>
          <p:nvPr/>
        </p:nvSpPr>
        <p:spPr>
          <a:xfrm>
            <a:off x="723900" y="2600325"/>
            <a:ext cx="3165475" cy="2981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1275" b="0">
                <a:solidFill>
                  <a:srgbClr val="183247"/>
                </a:solidFill>
              </a:defRPr>
            </a:pPr>
            <a:r>
              <a:rPr sz="1275" b="0">
                <a:solidFill>
                  <a:srgbClr val="183247"/>
                </a:solidFill>
              </a:rPr>
              <a:t>Stores and manages medicine details (name, category, batch, quantity, price, expiry), stock transactions, supplier details and purchase records; identifies low-stock items and restocking needs for pharmacy staff.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22937D0-D4E0-4706-B446-B9244B50CB3A}"/>
              </a:ext>
            </a:extLst>
          </p:cNvPr>
          <p:cNvSpPr>
            <a:spLocks noGrp="1"/>
          </p:cNvSpPr>
          <p:nvPr/>
        </p:nvSpPr>
        <p:spPr>
          <a:xfrm>
            <a:off x="4308475" y="2143125"/>
            <a:ext cx="3565525" cy="3571875"/>
          </a:xfrm>
          <a:prstGeom prst="rect">
            <a:avLst/>
          </a:prstGeom>
          <a:solidFill>
            <a:srgbClr val="FFFFFF"/>
          </a:solidFill>
          <a:ln w="9525">
            <a:solidFill>
              <a:srgbClr val="C9D6E2"/>
            </a:solidFill>
            <a:prstDash val="solid"/>
          </a:ln>
        </p:spPr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56A9F91-5B5D-4194-9FAF-25842FDDE326}"/>
              </a:ext>
            </a:extLst>
          </p:cNvPr>
          <p:cNvSpPr>
            <a:spLocks noGrp="1"/>
          </p:cNvSpPr>
          <p:nvPr/>
        </p:nvSpPr>
        <p:spPr>
          <a:xfrm>
            <a:off x="4308475" y="2143125"/>
            <a:ext cx="57150" cy="3571875"/>
          </a:xfrm>
          <a:prstGeom prst="rect">
            <a:avLst/>
          </a:prstGeom>
          <a:solidFill>
            <a:srgbClr val="0B7895"/>
          </a:solidFill>
          <a:ln w="0">
            <a:solidFill>
              <a:srgbClr val="0B7895"/>
            </a:solidFill>
            <a:prstDash val="solid"/>
          </a:ln>
        </p:spPr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B705EAC-5C14-4DA1-AF16-97A5ADA33915}"/>
              </a:ext>
            </a:extLst>
          </p:cNvPr>
          <p:cNvSpPr>
            <a:spLocks noGrp="1"/>
          </p:cNvSpPr>
          <p:nvPr/>
        </p:nvSpPr>
        <p:spPr>
          <a:xfrm>
            <a:off x="4518025" y="2295525"/>
            <a:ext cx="3165475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900" b="1">
                <a:solidFill>
                  <a:srgbClr val="0B7895"/>
                </a:solidFill>
              </a:defRPr>
            </a:pPr>
            <a:r>
              <a:rPr sz="900" b="1">
                <a:solidFill>
                  <a:srgbClr val="0B7895"/>
                </a:solidFill>
              </a:rPr>
              <a:t>INTERFACE CONTRACT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C87E50A6-D506-463F-93C6-3BC399443B64}"/>
              </a:ext>
            </a:extLst>
          </p:cNvPr>
          <p:cNvSpPr>
            <a:spLocks noGrp="1"/>
          </p:cNvSpPr>
          <p:nvPr/>
        </p:nvSpPr>
        <p:spPr>
          <a:xfrm>
            <a:off x="4518025" y="2600325"/>
            <a:ext cx="3165475" cy="2981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1275" b="0">
                <a:solidFill>
                  <a:srgbClr val="183247"/>
                </a:solidFill>
              </a:defRPr>
            </a:pPr>
            <a:r>
              <a:rPr sz="1275" b="0">
                <a:solidFill>
                  <a:srgbClr val="183247"/>
                </a:solidFill>
              </a:rPr>
              <a:t>Inputs: medicine/supplier/purchase form data from the React UI. Outputs: current stock levels, supplier lists, restocking requirements. REST endpoints backed by relational PostgreSQL tables (medicines, suppliers, purchases).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AA615D9F-5B9F-4848-99F5-916B7EC73525}"/>
              </a:ext>
            </a:extLst>
          </p:cNvPr>
          <p:cNvSpPr>
            <a:spLocks noGrp="1"/>
          </p:cNvSpPr>
          <p:nvPr/>
        </p:nvSpPr>
        <p:spPr>
          <a:xfrm>
            <a:off x="8102600" y="2143125"/>
            <a:ext cx="3565525" cy="3571875"/>
          </a:xfrm>
          <a:prstGeom prst="rect">
            <a:avLst/>
          </a:prstGeom>
          <a:solidFill>
            <a:srgbClr val="FFFFFF"/>
          </a:solidFill>
          <a:ln w="9525">
            <a:solidFill>
              <a:srgbClr val="C9D6E2"/>
            </a:solidFill>
            <a:prstDash val="solid"/>
          </a:ln>
        </p:spPr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A2980114-25C8-4D87-B709-6C71A2B4F9D5}"/>
              </a:ext>
            </a:extLst>
          </p:cNvPr>
          <p:cNvSpPr>
            <a:spLocks noGrp="1"/>
          </p:cNvSpPr>
          <p:nvPr/>
        </p:nvSpPr>
        <p:spPr>
          <a:xfrm>
            <a:off x="8102600" y="2143125"/>
            <a:ext cx="57150" cy="3571875"/>
          </a:xfrm>
          <a:prstGeom prst="rect">
            <a:avLst/>
          </a:prstGeom>
          <a:solidFill>
            <a:srgbClr val="D39216"/>
          </a:solidFill>
          <a:ln w="0">
            <a:solidFill>
              <a:srgbClr val="D39216"/>
            </a:solidFill>
            <a:prstDash val="solid"/>
          </a:ln>
        </p:spPr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42489292-FF6D-48DC-B9EC-C40595106399}"/>
              </a:ext>
            </a:extLst>
          </p:cNvPr>
          <p:cNvSpPr>
            <a:spLocks noGrp="1"/>
          </p:cNvSpPr>
          <p:nvPr/>
        </p:nvSpPr>
        <p:spPr>
          <a:xfrm>
            <a:off x="8312150" y="2295525"/>
            <a:ext cx="3165475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900" b="1">
                <a:solidFill>
                  <a:srgbClr val="D39216"/>
                </a:solidFill>
              </a:defRPr>
            </a:pPr>
            <a:r>
              <a:rPr sz="900" b="1">
                <a:solidFill>
                  <a:srgbClr val="D39216"/>
                </a:solidFill>
              </a:rPr>
              <a:t>ENGINEERING DECISION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BEF2FA59-CAD3-44B1-96E4-20590F86FBD7}"/>
              </a:ext>
            </a:extLst>
          </p:cNvPr>
          <p:cNvSpPr>
            <a:spLocks noGrp="1"/>
          </p:cNvSpPr>
          <p:nvPr/>
        </p:nvSpPr>
        <p:spPr>
          <a:xfrm>
            <a:off x="8312150" y="2600325"/>
            <a:ext cx="3165475" cy="2981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1275" b="0">
                <a:solidFill>
                  <a:srgbClr val="183247"/>
                </a:solidFill>
              </a:defRPr>
            </a:pPr>
            <a:r>
              <a:rPr sz="1275" b="0">
                <a:solidFill>
                  <a:srgbClr val="183247"/>
                </a:solidFill>
              </a:rPr>
              <a:t>Relational schema in PostgreSQL for structured, linked inventory/supplier/purchase data; FastAPI REST endpoints for a lightweight, typed API layer. Alternative considered: NoSQL document store, rejected due to need for relational integrity across medicines, suppliers and purchases.</a:t>
            </a:r>
          </a:p>
        </p:txBody>
      </p:sp>
    </p:spTree>
    <p:extLst>
      <p:ext uri="{BB962C8B-B14F-4D97-AF65-F5344CB8AC3E}">
        <p14:creationId xmlns:p14="http://schemas.microsoft.com/office/powerpoint/2010/main" val="177841135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96CE9628-34FE-4F43-BBBD-CE666FD255F2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82475" cy="76200"/>
          </a:xfrm>
          <a:prstGeom prst="rect">
            <a:avLst/>
          </a:prstGeom>
          <a:solidFill>
            <a:srgbClr val="0B7895"/>
          </a:solidFill>
          <a:ln w="0">
            <a:solidFill>
              <a:srgbClr val="0B7895"/>
            </a:solidFill>
            <a:prstDash val="solid"/>
          </a:ln>
        </p:spPr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75234CAA-943A-46B7-9585-DA495AE19BB9}"/>
              </a:ext>
            </a:extLst>
          </p:cNvPr>
          <p:cNvSpPr>
            <a:spLocks noGrp="1"/>
          </p:cNvSpPr>
          <p:nvPr/>
        </p:nvSpPr>
        <p:spPr>
          <a:xfrm>
            <a:off x="438150" y="228600"/>
            <a:ext cx="1000125" cy="552450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9525">
            <a:solidFill>
              <a:srgbClr val="C9D6E2"/>
            </a:solidFill>
            <a:prstDash val="solid"/>
          </a:ln>
        </p:spPr>
      </p:sp>
      <p:pic>
        <p:nvPicPr>
          <p:cNvPr id="23" name="Picture 22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514350" y="450359"/>
            <a:ext cx="847725" cy="108932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056D9448-E613-452C-8E85-4A17BC0A4782}"/>
              </a:ext>
            </a:extLst>
          </p:cNvPr>
          <p:cNvSpPr>
            <a:spLocks noGrp="1"/>
          </p:cNvSpPr>
          <p:nvPr/>
        </p:nvSpPr>
        <p:spPr>
          <a:xfrm>
            <a:off x="1657350" y="266700"/>
            <a:ext cx="6953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900" b="1">
                <a:solidFill>
                  <a:srgbClr val="1264A3"/>
                </a:solidFill>
              </a:defRPr>
            </a:pPr>
            <a:r>
              <a:rPr sz="900" b="1">
                <a:solidFill>
                  <a:srgbClr val="1264A3"/>
                </a:solidFill>
              </a:rPr>
              <a:t>CSA15  |  CLOUD COMPUTING AND BIG DATA ANALYTICS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D7BCA85-6325-41BB-A645-230EAA4BF5ED}"/>
              </a:ext>
            </a:extLst>
          </p:cNvPr>
          <p:cNvSpPr>
            <a:spLocks noGrp="1"/>
          </p:cNvSpPr>
          <p:nvPr/>
        </p:nvSpPr>
        <p:spPr>
          <a:xfrm>
            <a:off x="9572625" y="266700"/>
            <a:ext cx="2095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825" b="1">
                <a:solidFill>
                  <a:srgbClr val="0B7895"/>
                </a:solidFill>
              </a:defRPr>
            </a:pPr>
            <a:r>
              <a:rPr sz="825" b="1">
                <a:solidFill>
                  <a:srgbClr val="0B7895"/>
                </a:solidFill>
              </a:rPr>
              <a:t>CAPSTONE FINAL DEFENSE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C4BE31B-9223-4DE2-B1ED-A2A7EB93095A}"/>
              </a:ext>
            </a:extLst>
          </p:cNvPr>
          <p:cNvSpPr>
            <a:spLocks noGrp="1"/>
          </p:cNvSpPr>
          <p:nvPr/>
        </p:nvSpPr>
        <p:spPr>
          <a:xfrm>
            <a:off x="514350" y="981075"/>
            <a:ext cx="102870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2325" b="1">
                <a:solidFill>
                  <a:srgbClr val="0B2E4F"/>
                </a:solidFill>
              </a:defRPr>
            </a:pPr>
            <a:r>
              <a:rPr sz="2325" b="1">
                <a:solidFill>
                  <a:srgbClr val="0B2E4F"/>
                </a:solidFill>
              </a:rPr>
              <a:t>Module 1: Technical Design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35181F9-21C1-4C0B-A4A9-6C60B22AE261}"/>
              </a:ext>
            </a:extLst>
          </p:cNvPr>
          <p:cNvSpPr>
            <a:spLocks noGrp="1"/>
          </p:cNvSpPr>
          <p:nvPr/>
        </p:nvSpPr>
        <p:spPr>
          <a:xfrm>
            <a:off x="533400" y="1457325"/>
            <a:ext cx="10287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1125" b="0">
                <a:solidFill>
                  <a:srgbClr val="52677A"/>
                </a:solidFill>
              </a:defRPr>
            </a:pPr>
            <a:r>
              <a:rPr sz="1125" b="0">
                <a:solidFill>
                  <a:srgbClr val="52677A"/>
                </a:solidFill>
              </a:rPr>
              <a:t>Explain interfaces, algorithm or decision logic, data contract and design trade-offs.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3B1A567-8F53-4DDF-8C41-19F9C2A186CA}"/>
              </a:ext>
            </a:extLst>
          </p:cNvPr>
          <p:cNvSpPr>
            <a:spLocks noGrp="1"/>
          </p:cNvSpPr>
          <p:nvPr/>
        </p:nvSpPr>
        <p:spPr>
          <a:xfrm>
            <a:off x="514350" y="1847850"/>
            <a:ext cx="11153775" cy="19050"/>
          </a:xfrm>
          <a:prstGeom prst="rect">
            <a:avLst/>
          </a:prstGeom>
          <a:solidFill>
            <a:srgbClr val="C9D6E2"/>
          </a:solidFill>
          <a:ln w="0">
            <a:solidFill>
              <a:srgbClr val="C9D6E2"/>
            </a:solidFill>
            <a:prstDash val="solid"/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A17CA9F-767C-4275-80DD-46FDEA77E28F}"/>
              </a:ext>
            </a:extLst>
          </p:cNvPr>
          <p:cNvSpPr>
            <a:spLocks noGrp="1"/>
          </p:cNvSpPr>
          <p:nvPr/>
        </p:nvSpPr>
        <p:spPr>
          <a:xfrm>
            <a:off x="0" y="6419850"/>
            <a:ext cx="12182475" cy="438150"/>
          </a:xfrm>
          <a:prstGeom prst="rect">
            <a:avLst/>
          </a:prstGeom>
          <a:solidFill>
            <a:srgbClr val="0B2E4F"/>
          </a:solidFill>
          <a:ln w="0">
            <a:solidFill>
              <a:srgbClr val="0B2E4F"/>
            </a:solidFill>
            <a:prstDash val="solid"/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E6F09F1-FDB9-4800-9AFD-1D48B7AA5926}"/>
              </a:ext>
            </a:extLst>
          </p:cNvPr>
          <p:cNvSpPr>
            <a:spLocks noGrp="1"/>
          </p:cNvSpPr>
          <p:nvPr/>
        </p:nvSpPr>
        <p:spPr>
          <a:xfrm>
            <a:off x="11049000" y="6515100"/>
            <a:ext cx="6191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975" b="1">
                <a:solidFill>
                  <a:srgbClr val="D39216"/>
                </a:solidFill>
              </a:defRPr>
            </a:pPr>
            <a:r>
              <a:rPr sz="975" b="1">
                <a:solidFill>
                  <a:srgbClr val="D39216"/>
                </a:solidFill>
              </a:rPr>
              <a:t>09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95975FC-54AE-46CE-BA04-6498A8DAC2AC}"/>
              </a:ext>
            </a:extLst>
          </p:cNvPr>
          <p:cNvSpPr>
            <a:spLocks noGrp="1"/>
          </p:cNvSpPr>
          <p:nvPr/>
        </p:nvSpPr>
        <p:spPr>
          <a:xfrm>
            <a:off x="4191000" y="6715125"/>
            <a:ext cx="3810000" cy="1047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600" b="0">
                <a:solidFill>
                  <a:srgbClr val="BFD3E1"/>
                </a:solidFill>
              </a:defRPr>
            </a:pPr>
            <a:r>
              <a:rPr sz="600" b="0">
                <a:solidFill>
                  <a:srgbClr val="BFD3E1"/>
                </a:solidFill>
              </a:rPr>
              <a:t>Dr. C. Rajesh Babu | SSETSCS415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8A39A2B-C22A-4DC8-886A-AF225D2855E1}"/>
              </a:ext>
            </a:extLst>
          </p:cNvPr>
          <p:cNvSpPr>
            <a:spLocks noGrp="1"/>
          </p:cNvSpPr>
          <p:nvPr/>
        </p:nvSpPr>
        <p:spPr>
          <a:xfrm>
            <a:off x="514350" y="2143125"/>
            <a:ext cx="5314950" cy="3619500"/>
          </a:xfrm>
          <a:prstGeom prst="rect">
            <a:avLst/>
          </a:prstGeom>
          <a:solidFill>
            <a:srgbClr val="FFFFFF"/>
          </a:solidFill>
          <a:ln w="9525">
            <a:solidFill>
              <a:srgbClr val="C9D6E2"/>
            </a:solidFill>
            <a:prstDash val="solid"/>
          </a:ln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D3AB4EE-8684-420B-93DE-F6C4F0C86BBD}"/>
              </a:ext>
            </a:extLst>
          </p:cNvPr>
          <p:cNvSpPr>
            <a:spLocks noGrp="1"/>
          </p:cNvSpPr>
          <p:nvPr/>
        </p:nvSpPr>
        <p:spPr>
          <a:xfrm>
            <a:off x="514350" y="2143125"/>
            <a:ext cx="57150" cy="3619500"/>
          </a:xfrm>
          <a:prstGeom prst="rect">
            <a:avLst/>
          </a:prstGeom>
          <a:solidFill>
            <a:srgbClr val="1264A3"/>
          </a:solidFill>
          <a:ln w="0">
            <a:solidFill>
              <a:srgbClr val="1264A3"/>
            </a:solidFill>
            <a:prstDash val="solid"/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B886B07-C097-43C0-AB11-702A7233D193}"/>
              </a:ext>
            </a:extLst>
          </p:cNvPr>
          <p:cNvSpPr>
            <a:spLocks noGrp="1"/>
          </p:cNvSpPr>
          <p:nvPr/>
        </p:nvSpPr>
        <p:spPr>
          <a:xfrm>
            <a:off x="723900" y="2295525"/>
            <a:ext cx="4914900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900" b="1">
                <a:solidFill>
                  <a:srgbClr val="1264A3"/>
                </a:solidFill>
              </a:defRPr>
            </a:pPr>
            <a:r>
              <a:rPr sz="900" b="1">
                <a:solidFill>
                  <a:srgbClr val="1264A3"/>
                </a:solidFill>
              </a:rPr>
              <a:t>DESIGN AND DECISION FLOW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6B5C5EC-64D8-4E12-B0B9-A370C9968DFC}"/>
              </a:ext>
            </a:extLst>
          </p:cNvPr>
          <p:cNvSpPr>
            <a:spLocks noGrp="1"/>
          </p:cNvSpPr>
          <p:nvPr/>
        </p:nvSpPr>
        <p:spPr>
          <a:xfrm>
            <a:off x="723900" y="2600325"/>
            <a:ext cx="4914900" cy="3028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1200" b="0">
                <a:solidFill>
                  <a:srgbClr val="183247"/>
                </a:solidFill>
              </a:defRPr>
            </a:pPr>
            <a:r>
              <a:rPr sz="1200" b="0">
                <a:solidFill>
                  <a:srgbClr val="183247"/>
                </a:solidFill>
              </a:rPr>
              <a:t>Input (medicine/supplier/purchase form) -&gt; validation (required fields, types) -&gt; processing (stock/reorder calculation) -&gt; data/service call (PostgreSQL write/read) -&gt; output (updated stock/restock list) -&gt; error path (validation error returned to UI).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C568A56-0F14-47FF-9FB8-FBCC5F87B522}"/>
              </a:ext>
            </a:extLst>
          </p:cNvPr>
          <p:cNvSpPr>
            <a:spLocks noGrp="1"/>
          </p:cNvSpPr>
          <p:nvPr/>
        </p:nvSpPr>
        <p:spPr>
          <a:xfrm>
            <a:off x="6057900" y="2143125"/>
            <a:ext cx="5610225" cy="3619500"/>
          </a:xfrm>
          <a:prstGeom prst="rect">
            <a:avLst/>
          </a:prstGeom>
          <a:solidFill>
            <a:srgbClr val="FFFFFF"/>
          </a:solidFill>
          <a:ln w="9525">
            <a:solidFill>
              <a:srgbClr val="C9D6E2"/>
            </a:solidFill>
            <a:prstDash val="solid"/>
          </a:ln>
        </p:spPr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7E032EC-4E03-46A6-9E69-7AFB0E90B870}"/>
              </a:ext>
            </a:extLst>
          </p:cNvPr>
          <p:cNvSpPr>
            <a:spLocks noGrp="1"/>
          </p:cNvSpPr>
          <p:nvPr/>
        </p:nvSpPr>
        <p:spPr>
          <a:xfrm>
            <a:off x="6057900" y="2143125"/>
            <a:ext cx="57150" cy="3619500"/>
          </a:xfrm>
          <a:prstGeom prst="rect">
            <a:avLst/>
          </a:prstGeom>
          <a:solidFill>
            <a:srgbClr val="0B7895"/>
          </a:solidFill>
          <a:ln w="0">
            <a:solidFill>
              <a:srgbClr val="0B7895"/>
            </a:solidFill>
            <a:prstDash val="solid"/>
          </a:ln>
        </p:spPr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5F5E5BD5-E6EC-4613-9D9E-1AFFBB37CA02}"/>
              </a:ext>
            </a:extLst>
          </p:cNvPr>
          <p:cNvSpPr>
            <a:spLocks noGrp="1"/>
          </p:cNvSpPr>
          <p:nvPr/>
        </p:nvSpPr>
        <p:spPr>
          <a:xfrm>
            <a:off x="6267450" y="2295525"/>
            <a:ext cx="5210175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900" b="1">
                <a:solidFill>
                  <a:srgbClr val="0B7895"/>
                </a:solidFill>
              </a:defRPr>
            </a:pPr>
            <a:r>
              <a:rPr sz="900" b="1">
                <a:solidFill>
                  <a:srgbClr val="0B7895"/>
                </a:solidFill>
              </a:rPr>
              <a:t>TECHNICAL DEFENSE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A466EA66-8B43-4EFE-91A4-11A8269E4600}"/>
              </a:ext>
            </a:extLst>
          </p:cNvPr>
          <p:cNvSpPr>
            <a:spLocks noGrp="1"/>
          </p:cNvSpPr>
          <p:nvPr/>
        </p:nvSpPr>
        <p:spPr>
          <a:xfrm>
            <a:off x="6267450" y="2600325"/>
            <a:ext cx="5210175" cy="3028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1200" b="0">
                <a:solidFill>
                  <a:srgbClr val="183247"/>
                </a:solidFill>
              </a:defRPr>
            </a:pPr>
            <a:r>
              <a:rPr sz="1200" b="0">
                <a:solidFill>
                  <a:srgbClr val="183247"/>
                </a:solidFill>
              </a:rPr>
              <a:t>Chosen algorithm: threshold-based low-stock detection and restock calculation.</a:t>
            </a:r>
          </a:p>
          <a:p>
            <a:pPr>
              <a:defRPr sz="1200" b="0">
                <a:solidFill>
                  <a:srgbClr val="183247"/>
                </a:solidFill>
              </a:defRPr>
            </a:pPr>
            <a:endParaRPr sz="1200" b="0">
              <a:solidFill>
                <a:srgbClr val="183247"/>
              </a:solidFill>
            </a:endParaRPr>
          </a:p>
          <a:p>
            <a:pPr>
              <a:defRPr sz="1200" b="0">
                <a:solidFill>
                  <a:srgbClr val="183247"/>
                </a:solidFill>
              </a:defRPr>
            </a:pPr>
            <a:r>
              <a:rPr sz="1200" b="0">
                <a:solidFill>
                  <a:srgbClr val="183247"/>
                </a:solidFill>
              </a:rPr>
              <a:t>Data structure: relational tables - medicines, suppliers, purchases, stock_transactions.</a:t>
            </a:r>
          </a:p>
          <a:p>
            <a:pPr>
              <a:defRPr sz="1200" b="0">
                <a:solidFill>
                  <a:srgbClr val="183247"/>
                </a:solidFill>
              </a:defRPr>
            </a:pPr>
            <a:endParaRPr sz="1200" b="0">
              <a:solidFill>
                <a:srgbClr val="183247"/>
              </a:solidFill>
            </a:endParaRPr>
          </a:p>
          <a:p>
            <a:pPr>
              <a:defRPr sz="1200" b="0">
                <a:solidFill>
                  <a:srgbClr val="183247"/>
                </a:solidFill>
              </a:defRPr>
            </a:pPr>
            <a:r>
              <a:rPr sz="1200" b="0">
                <a:solidFill>
                  <a:srgbClr val="183247"/>
                </a:solidFill>
              </a:rPr>
              <a:t>Latency: simple indexed queries, low overhead at current data scale.</a:t>
            </a:r>
          </a:p>
          <a:p>
            <a:pPr>
              <a:defRPr sz="1200" b="0">
                <a:solidFill>
                  <a:srgbClr val="183247"/>
                </a:solidFill>
              </a:defRPr>
            </a:pPr>
            <a:endParaRPr sz="1200" b="0">
              <a:solidFill>
                <a:srgbClr val="183247"/>
              </a:solidFill>
            </a:endParaRPr>
          </a:p>
          <a:p>
            <a:pPr>
              <a:defRPr sz="1200" b="0">
                <a:solidFill>
                  <a:srgbClr val="183247"/>
                </a:solidFill>
              </a:defRPr>
            </a:pPr>
            <a:r>
              <a:rPr sz="1200" b="0">
                <a:solidFill>
                  <a:srgbClr val="183247"/>
                </a:solidFill>
              </a:rPr>
              <a:t>Security: role-restricted write access to inventory/supplier data.</a:t>
            </a:r>
          </a:p>
          <a:p>
            <a:pPr>
              <a:defRPr sz="1200" b="0">
                <a:solidFill>
                  <a:srgbClr val="183247"/>
                </a:solidFill>
              </a:defRPr>
            </a:pPr>
            <a:endParaRPr sz="1200" b="0">
              <a:solidFill>
                <a:srgbClr val="183247"/>
              </a:solidFill>
            </a:endParaRPr>
          </a:p>
          <a:p>
            <a:pPr>
              <a:defRPr sz="1200" b="0">
                <a:solidFill>
                  <a:srgbClr val="183247"/>
                </a:solidFill>
              </a:defRPr>
            </a:pPr>
            <a:r>
              <a:rPr sz="1200" b="0">
                <a:solidFill>
                  <a:srgbClr val="183247"/>
                </a:solidFill>
              </a:rPr>
              <a:t>Rejected alternative: NoSQL store, rejected for weaker relational integrity guarantees.</a:t>
            </a:r>
          </a:p>
        </p:txBody>
      </p:sp>
    </p:spTree>
    <p:extLst>
      <p:ext uri="{BB962C8B-B14F-4D97-AF65-F5344CB8AC3E}">
        <p14:creationId xmlns:p14="http://schemas.microsoft.com/office/powerpoint/2010/main" val="115705265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Rectangle 39">
            <a:extLst>
              <a:ext uri="{FF2B5EF4-FFF2-40B4-BE49-F238E27FC236}">
                <a16:creationId xmlns:a16="http://schemas.microsoft.com/office/drawing/2014/main" id="{83D962A2-4935-4A3E-A7CD-75D116E8C75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82475" cy="76200"/>
          </a:xfrm>
          <a:prstGeom prst="rect">
            <a:avLst/>
          </a:prstGeom>
          <a:solidFill>
            <a:srgbClr val="0B7895"/>
          </a:solidFill>
          <a:ln w="0">
            <a:solidFill>
              <a:srgbClr val="0B7895"/>
            </a:solidFill>
            <a:prstDash val="solid"/>
          </a:ln>
        </p:spPr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88E4D6C3-5CE3-48D6-8AF3-A9FFE8984B41}"/>
              </a:ext>
            </a:extLst>
          </p:cNvPr>
          <p:cNvSpPr>
            <a:spLocks noGrp="1"/>
          </p:cNvSpPr>
          <p:nvPr/>
        </p:nvSpPr>
        <p:spPr>
          <a:xfrm>
            <a:off x="438150" y="228600"/>
            <a:ext cx="1000125" cy="552450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9525">
            <a:solidFill>
              <a:srgbClr val="C9D6E2"/>
            </a:solidFill>
            <a:prstDash val="solid"/>
          </a:ln>
        </p:spPr>
      </p:sp>
      <p:pic>
        <p:nvPicPr>
          <p:cNvPr id="42" name="Picture 41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514350" y="450359"/>
            <a:ext cx="847725" cy="108932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D181D145-0F5B-4B1C-AB24-3447FD0EA490}"/>
              </a:ext>
            </a:extLst>
          </p:cNvPr>
          <p:cNvSpPr>
            <a:spLocks noGrp="1"/>
          </p:cNvSpPr>
          <p:nvPr/>
        </p:nvSpPr>
        <p:spPr>
          <a:xfrm>
            <a:off x="1657350" y="266700"/>
            <a:ext cx="6953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900" b="1">
                <a:solidFill>
                  <a:srgbClr val="1264A3"/>
                </a:solidFill>
              </a:defRPr>
            </a:pPr>
            <a:r>
              <a:rPr sz="900" b="1">
                <a:solidFill>
                  <a:srgbClr val="1264A3"/>
                </a:solidFill>
              </a:rPr>
              <a:t>CSA15  |  CLOUD COMPUTING AND BIG DATA ANALYTICS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71C9A96-364A-4E4F-AF51-D26A8CDB2B3D}"/>
              </a:ext>
            </a:extLst>
          </p:cNvPr>
          <p:cNvSpPr>
            <a:spLocks noGrp="1"/>
          </p:cNvSpPr>
          <p:nvPr/>
        </p:nvSpPr>
        <p:spPr>
          <a:xfrm>
            <a:off x="9572625" y="266700"/>
            <a:ext cx="2095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825" b="1">
                <a:solidFill>
                  <a:srgbClr val="0B7895"/>
                </a:solidFill>
              </a:defRPr>
            </a:pPr>
            <a:r>
              <a:rPr sz="825" b="1">
                <a:solidFill>
                  <a:srgbClr val="0B7895"/>
                </a:solidFill>
              </a:rPr>
              <a:t>CAPSTONE FINAL DEFENSE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C00D5F3-D01E-4086-BE42-5DDE682671A6}"/>
              </a:ext>
            </a:extLst>
          </p:cNvPr>
          <p:cNvSpPr>
            <a:spLocks noGrp="1"/>
          </p:cNvSpPr>
          <p:nvPr/>
        </p:nvSpPr>
        <p:spPr>
          <a:xfrm>
            <a:off x="514350" y="981075"/>
            <a:ext cx="102870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2325" b="1">
                <a:solidFill>
                  <a:srgbClr val="0B2E4F"/>
                </a:solidFill>
              </a:defRPr>
            </a:pPr>
            <a:r>
              <a:rPr sz="2325" b="1">
                <a:solidFill>
                  <a:srgbClr val="0B2E4F"/>
                </a:solidFill>
              </a:rPr>
              <a:t>Module 1: Implementation Evidence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E9FB7BD-E796-4B44-9BF7-F3CBE15E09DF}"/>
              </a:ext>
            </a:extLst>
          </p:cNvPr>
          <p:cNvSpPr>
            <a:spLocks noGrp="1"/>
          </p:cNvSpPr>
          <p:nvPr/>
        </p:nvSpPr>
        <p:spPr>
          <a:xfrm>
            <a:off x="533400" y="1457325"/>
            <a:ext cx="10287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1125" b="0">
                <a:solidFill>
                  <a:srgbClr val="52677A"/>
                </a:solidFill>
              </a:defRPr>
            </a:pPr>
            <a:r>
              <a:rPr sz="1125" b="0">
                <a:solidFill>
                  <a:srgbClr val="52677A"/>
                </a:solidFill>
              </a:rPr>
              <a:t>Demonstrate that the module runs and produces a verifiable output.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EA095D1-F663-4088-9AD9-5FB9DB3A57AB}"/>
              </a:ext>
            </a:extLst>
          </p:cNvPr>
          <p:cNvSpPr>
            <a:spLocks noGrp="1"/>
          </p:cNvSpPr>
          <p:nvPr/>
        </p:nvSpPr>
        <p:spPr>
          <a:xfrm>
            <a:off x="514350" y="1847850"/>
            <a:ext cx="11153775" cy="19050"/>
          </a:xfrm>
          <a:prstGeom prst="rect">
            <a:avLst/>
          </a:prstGeom>
          <a:solidFill>
            <a:srgbClr val="C9D6E2"/>
          </a:solidFill>
          <a:ln w="0">
            <a:solidFill>
              <a:srgbClr val="C9D6E2"/>
            </a:solidFill>
            <a:prstDash val="solid"/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5EC45F4-7FBC-4B6A-B603-BE54D9A829DD}"/>
              </a:ext>
            </a:extLst>
          </p:cNvPr>
          <p:cNvSpPr>
            <a:spLocks noGrp="1"/>
          </p:cNvSpPr>
          <p:nvPr/>
        </p:nvSpPr>
        <p:spPr>
          <a:xfrm>
            <a:off x="0" y="6419850"/>
            <a:ext cx="12182475" cy="438150"/>
          </a:xfrm>
          <a:prstGeom prst="rect">
            <a:avLst/>
          </a:prstGeom>
          <a:solidFill>
            <a:srgbClr val="0B2E4F"/>
          </a:solidFill>
          <a:ln w="0">
            <a:solidFill>
              <a:srgbClr val="0B2E4F"/>
            </a:solidFill>
            <a:prstDash val="solid"/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F8A3C6C-F881-47FD-B75E-4AE92880396D}"/>
              </a:ext>
            </a:extLst>
          </p:cNvPr>
          <p:cNvSpPr>
            <a:spLocks noGrp="1"/>
          </p:cNvSpPr>
          <p:nvPr/>
        </p:nvSpPr>
        <p:spPr>
          <a:xfrm>
            <a:off x="11049000" y="6515100"/>
            <a:ext cx="6191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975" b="1">
                <a:solidFill>
                  <a:srgbClr val="D39216"/>
                </a:solidFill>
              </a:defRPr>
            </a:pPr>
            <a:r>
              <a:rPr sz="975" b="1">
                <a:solidFill>
                  <a:srgbClr val="D39216"/>
                </a:solidFill>
              </a:rPr>
              <a:t>10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4CF803C-E8E9-4095-BA8F-12F4A3A6107F}"/>
              </a:ext>
            </a:extLst>
          </p:cNvPr>
          <p:cNvSpPr>
            <a:spLocks noGrp="1"/>
          </p:cNvSpPr>
          <p:nvPr/>
        </p:nvSpPr>
        <p:spPr>
          <a:xfrm>
            <a:off x="4191000" y="6715125"/>
            <a:ext cx="3810000" cy="1047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600" b="0">
                <a:solidFill>
                  <a:srgbClr val="BFD3E1"/>
                </a:solidFill>
              </a:defRPr>
            </a:pPr>
            <a:r>
              <a:rPr sz="600" b="0">
                <a:solidFill>
                  <a:srgbClr val="BFD3E1"/>
                </a:solidFill>
              </a:rPr>
              <a:t>Dr. C. Rajesh Babu | SSETSCS415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8CA57BD-11F1-404D-A8B6-551705D58F59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82475" cy="76200"/>
          </a:xfrm>
          <a:prstGeom prst="rect">
            <a:avLst/>
          </a:prstGeom>
          <a:solidFill>
            <a:srgbClr val="0B7895"/>
          </a:solidFill>
          <a:ln w="0">
            <a:solidFill>
              <a:srgbClr val="0B7895"/>
            </a:solidFill>
            <a:prstDash val="solid"/>
          </a:ln>
        </p:spPr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77727318-DF34-4DD1-904D-2A254C278C79}"/>
              </a:ext>
            </a:extLst>
          </p:cNvPr>
          <p:cNvSpPr>
            <a:spLocks noGrp="1"/>
          </p:cNvSpPr>
          <p:nvPr/>
        </p:nvSpPr>
        <p:spPr>
          <a:xfrm>
            <a:off x="438150" y="228600"/>
            <a:ext cx="1000125" cy="552450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9525">
            <a:solidFill>
              <a:srgbClr val="C9D6E2"/>
            </a:solidFill>
            <a:prstDash val="solid"/>
          </a:ln>
        </p:spPr>
      </p:sp>
      <p:pic>
        <p:nvPicPr>
          <p:cNvPr id="54" name="Picture 53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514350" y="450359"/>
            <a:ext cx="847725" cy="108932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6D86D063-9FF2-4D82-8381-88990C24EEAF}"/>
              </a:ext>
            </a:extLst>
          </p:cNvPr>
          <p:cNvSpPr>
            <a:spLocks noGrp="1"/>
          </p:cNvSpPr>
          <p:nvPr/>
        </p:nvSpPr>
        <p:spPr>
          <a:xfrm>
            <a:off x="1657350" y="266700"/>
            <a:ext cx="6953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900" b="1">
                <a:solidFill>
                  <a:srgbClr val="1264A3"/>
                </a:solidFill>
              </a:defRPr>
            </a:pPr>
            <a:r>
              <a:rPr sz="900" b="1">
                <a:solidFill>
                  <a:srgbClr val="1264A3"/>
                </a:solidFill>
              </a:rPr>
              <a:t>CSA15  |  CLOUD COMPUTING AND BIG DATA ANALYTICS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EF4322D-382C-4305-9909-BE52F5C5E09F}"/>
              </a:ext>
            </a:extLst>
          </p:cNvPr>
          <p:cNvSpPr>
            <a:spLocks noGrp="1"/>
          </p:cNvSpPr>
          <p:nvPr/>
        </p:nvSpPr>
        <p:spPr>
          <a:xfrm>
            <a:off x="9572625" y="266700"/>
            <a:ext cx="2095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825" b="1">
                <a:solidFill>
                  <a:srgbClr val="0B7895"/>
                </a:solidFill>
              </a:defRPr>
            </a:pPr>
            <a:r>
              <a:rPr sz="825" b="1">
                <a:solidFill>
                  <a:srgbClr val="0B7895"/>
                </a:solidFill>
              </a:rPr>
              <a:t>BUILD EVIDENCE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B7076AA-44B7-4A6F-AF08-910A64DD9B4A}"/>
              </a:ext>
            </a:extLst>
          </p:cNvPr>
          <p:cNvSpPr>
            <a:spLocks noGrp="1"/>
          </p:cNvSpPr>
          <p:nvPr/>
        </p:nvSpPr>
        <p:spPr>
          <a:xfrm>
            <a:off x="514350" y="981075"/>
            <a:ext cx="102870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2325" b="1">
                <a:solidFill>
                  <a:srgbClr val="0B2E4F"/>
                </a:solidFill>
              </a:defRPr>
            </a:pPr>
            <a:r>
              <a:rPr sz="2325" b="1">
                <a:solidFill>
                  <a:srgbClr val="0B2E4F"/>
                </a:solidFill>
              </a:rPr>
              <a:t>Module 1: Implementation Evidence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E831DC0E-3F62-4DB4-8AE8-FB928543AB11}"/>
              </a:ext>
            </a:extLst>
          </p:cNvPr>
          <p:cNvSpPr>
            <a:spLocks noGrp="1"/>
          </p:cNvSpPr>
          <p:nvPr/>
        </p:nvSpPr>
        <p:spPr>
          <a:xfrm>
            <a:off x="533400" y="1457325"/>
            <a:ext cx="10287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1125" b="0">
                <a:solidFill>
                  <a:srgbClr val="52677A"/>
                </a:solidFill>
              </a:defRPr>
            </a:pPr>
            <a:r>
              <a:rPr sz="1125" b="0">
                <a:solidFill>
                  <a:srgbClr val="52677A"/>
                </a:solidFill>
              </a:rPr>
              <a:t>Demonstrate that the module runs and produces a verifiable output.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6D09BEF7-4E40-4995-BF28-CF62BC067B70}"/>
              </a:ext>
            </a:extLst>
          </p:cNvPr>
          <p:cNvSpPr>
            <a:spLocks noGrp="1"/>
          </p:cNvSpPr>
          <p:nvPr/>
        </p:nvSpPr>
        <p:spPr>
          <a:xfrm>
            <a:off x="514350" y="1847850"/>
            <a:ext cx="11153775" cy="19050"/>
          </a:xfrm>
          <a:prstGeom prst="rect">
            <a:avLst/>
          </a:prstGeom>
          <a:solidFill>
            <a:srgbClr val="C9D6E2"/>
          </a:solidFill>
          <a:ln w="0">
            <a:solidFill>
              <a:srgbClr val="C9D6E2"/>
            </a:solidFill>
            <a:prstDash val="solid"/>
          </a:ln>
        </p:spPr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0ED5A625-7BB2-4FAB-B4B3-5B12686C8687}"/>
              </a:ext>
            </a:extLst>
          </p:cNvPr>
          <p:cNvSpPr>
            <a:spLocks noGrp="1"/>
          </p:cNvSpPr>
          <p:nvPr/>
        </p:nvSpPr>
        <p:spPr>
          <a:xfrm>
            <a:off x="0" y="6419850"/>
            <a:ext cx="12182475" cy="438150"/>
          </a:xfrm>
          <a:prstGeom prst="rect">
            <a:avLst/>
          </a:prstGeom>
          <a:solidFill>
            <a:srgbClr val="0B2E4F"/>
          </a:solidFill>
          <a:ln w="0">
            <a:solidFill>
              <a:srgbClr val="0B2E4F"/>
            </a:solidFill>
            <a:prstDash val="solid"/>
          </a:ln>
        </p:spPr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9C8FB247-623D-4545-AF64-B5401A660645}"/>
              </a:ext>
            </a:extLst>
          </p:cNvPr>
          <p:cNvSpPr>
            <a:spLocks noGrp="1"/>
          </p:cNvSpPr>
          <p:nvPr/>
        </p:nvSpPr>
        <p:spPr>
          <a:xfrm>
            <a:off x="11049000" y="6515100"/>
            <a:ext cx="6191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975" b="1">
                <a:solidFill>
                  <a:srgbClr val="D39216"/>
                </a:solidFill>
              </a:defRPr>
            </a:pPr>
            <a:r>
              <a:rPr sz="975" b="1">
                <a:solidFill>
                  <a:srgbClr val="D39216"/>
                </a:solidFill>
              </a:rPr>
              <a:t>10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0B38464B-2EFB-46C9-A3BB-469938D9316D}"/>
              </a:ext>
            </a:extLst>
          </p:cNvPr>
          <p:cNvSpPr>
            <a:spLocks noGrp="1"/>
          </p:cNvSpPr>
          <p:nvPr/>
        </p:nvSpPr>
        <p:spPr>
          <a:xfrm>
            <a:off x="4191000" y="6715125"/>
            <a:ext cx="3810000" cy="1047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600" b="0">
                <a:solidFill>
                  <a:srgbClr val="BFD3E1"/>
                </a:solidFill>
              </a:defRPr>
            </a:pPr>
            <a:r>
              <a:rPr sz="600" b="0">
                <a:solidFill>
                  <a:srgbClr val="BFD3E1"/>
                </a:solidFill>
              </a:rPr>
              <a:t>Dr. C. Rajesh Babu | SSETSCS415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9EE48C22-074F-45FB-A38D-CB3BCD109AE3}"/>
              </a:ext>
            </a:extLst>
          </p:cNvPr>
          <p:cNvSpPr>
            <a:spLocks noGrp="1"/>
          </p:cNvSpPr>
          <p:nvPr/>
        </p:nvSpPr>
        <p:spPr>
          <a:xfrm>
            <a:off x="514350" y="2133600"/>
            <a:ext cx="6534150" cy="3714750"/>
          </a:xfrm>
          <a:prstGeom prst="rect">
            <a:avLst/>
          </a:prstGeom>
          <a:solidFill>
            <a:srgbClr val="EAF3F8"/>
          </a:solidFill>
          <a:ln w="19050">
            <a:solidFill>
              <a:srgbClr val="1264A3"/>
            </a:solidFill>
            <a:prstDash val="solid"/>
          </a:ln>
        </p:spPr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01D67255-E914-497B-B96C-21E624599E80}"/>
              </a:ext>
            </a:extLst>
          </p:cNvPr>
          <p:cNvSpPr>
            <a:spLocks noGrp="1"/>
          </p:cNvSpPr>
          <p:nvPr/>
        </p:nvSpPr>
        <p:spPr>
          <a:xfrm>
            <a:off x="7296150" y="2133600"/>
            <a:ext cx="4371975" cy="1066800"/>
          </a:xfrm>
          <a:prstGeom prst="rect">
            <a:avLst/>
          </a:prstGeom>
          <a:solidFill>
            <a:srgbClr val="FFFFFF"/>
          </a:solidFill>
          <a:ln w="9525">
            <a:solidFill>
              <a:srgbClr val="C9D6E2"/>
            </a:solidFill>
            <a:prstDash val="solid"/>
          </a:ln>
        </p:spPr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AA3B8BB8-7853-44A5-B474-6567973F231D}"/>
              </a:ext>
            </a:extLst>
          </p:cNvPr>
          <p:cNvSpPr>
            <a:spLocks noGrp="1"/>
          </p:cNvSpPr>
          <p:nvPr/>
        </p:nvSpPr>
        <p:spPr>
          <a:xfrm>
            <a:off x="7296150" y="2133600"/>
            <a:ext cx="57150" cy="1066800"/>
          </a:xfrm>
          <a:prstGeom prst="rect">
            <a:avLst/>
          </a:prstGeom>
          <a:solidFill>
            <a:srgbClr val="1264A3"/>
          </a:solidFill>
          <a:ln w="0">
            <a:solidFill>
              <a:srgbClr val="1264A3"/>
            </a:solidFill>
            <a:prstDash val="solid"/>
          </a:ln>
        </p:spPr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1E374D25-CF68-4B28-882E-89D3162A5B47}"/>
              </a:ext>
            </a:extLst>
          </p:cNvPr>
          <p:cNvSpPr>
            <a:spLocks noGrp="1"/>
          </p:cNvSpPr>
          <p:nvPr/>
        </p:nvSpPr>
        <p:spPr>
          <a:xfrm>
            <a:off x="7505700" y="2286000"/>
            <a:ext cx="3971925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900" b="1">
                <a:solidFill>
                  <a:srgbClr val="1264A3"/>
                </a:solidFill>
              </a:defRPr>
            </a:pPr>
            <a:r>
              <a:rPr sz="900" b="1">
                <a:solidFill>
                  <a:srgbClr val="1264A3"/>
                </a:solidFill>
              </a:rPr>
              <a:t>BUILD DETAILS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356BE19B-B19F-4B46-BFA6-FBC88165BA70}"/>
              </a:ext>
            </a:extLst>
          </p:cNvPr>
          <p:cNvSpPr>
            <a:spLocks noGrp="1"/>
          </p:cNvSpPr>
          <p:nvPr/>
        </p:nvSpPr>
        <p:spPr>
          <a:xfrm>
            <a:off x="7505700" y="2590800"/>
            <a:ext cx="3971925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1125" b="0">
                <a:solidFill>
                  <a:srgbClr val="183247"/>
                </a:solidFill>
              </a:defRPr>
            </a:pPr>
            <a:r>
              <a:rPr sz="1125" b="0">
                <a:solidFill>
                  <a:srgbClr val="183247"/>
                </a:solidFill>
              </a:rPr>
              <a:t>React frontend, FastAPI backend, PostgreSQL 15 database, deployed on a cloud application host with a managed PostgreSQL instance.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36B45823-57FC-48D3-A25D-6F2657A515AA}"/>
              </a:ext>
            </a:extLst>
          </p:cNvPr>
          <p:cNvSpPr>
            <a:spLocks noGrp="1"/>
          </p:cNvSpPr>
          <p:nvPr/>
        </p:nvSpPr>
        <p:spPr>
          <a:xfrm>
            <a:off x="7296150" y="3333750"/>
            <a:ext cx="4371975" cy="1066800"/>
          </a:xfrm>
          <a:prstGeom prst="rect">
            <a:avLst/>
          </a:prstGeom>
          <a:solidFill>
            <a:srgbClr val="FFFFFF"/>
          </a:solidFill>
          <a:ln w="9525">
            <a:solidFill>
              <a:srgbClr val="C9D6E2"/>
            </a:solidFill>
            <a:prstDash val="solid"/>
          </a:ln>
        </p:spPr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8C8825A9-4B50-46B3-B337-CB22FBD9D018}"/>
              </a:ext>
            </a:extLst>
          </p:cNvPr>
          <p:cNvSpPr>
            <a:spLocks noGrp="1"/>
          </p:cNvSpPr>
          <p:nvPr/>
        </p:nvSpPr>
        <p:spPr>
          <a:xfrm>
            <a:off x="7296150" y="3333750"/>
            <a:ext cx="57150" cy="1066800"/>
          </a:xfrm>
          <a:prstGeom prst="rect">
            <a:avLst/>
          </a:prstGeom>
          <a:solidFill>
            <a:srgbClr val="0B7895"/>
          </a:solidFill>
          <a:ln w="0">
            <a:solidFill>
              <a:srgbClr val="0B7895"/>
            </a:solidFill>
            <a:prstDash val="solid"/>
          </a:ln>
        </p:spPr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CEF3E709-78EB-4ED0-BC87-9D7936CFE057}"/>
              </a:ext>
            </a:extLst>
          </p:cNvPr>
          <p:cNvSpPr>
            <a:spLocks noGrp="1"/>
          </p:cNvSpPr>
          <p:nvPr/>
        </p:nvSpPr>
        <p:spPr>
          <a:xfrm>
            <a:off x="7505700" y="3486150"/>
            <a:ext cx="3971925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900" b="1">
                <a:solidFill>
                  <a:srgbClr val="0B7895"/>
                </a:solidFill>
              </a:defRPr>
            </a:pPr>
            <a:r>
              <a:rPr sz="900" b="1">
                <a:solidFill>
                  <a:srgbClr val="0B7895"/>
                </a:solidFill>
              </a:rPr>
              <a:t>VALIDATION EVIDENCE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33DAE25D-30BE-4ECE-9073-4DB1FCD651C7}"/>
              </a:ext>
            </a:extLst>
          </p:cNvPr>
          <p:cNvSpPr>
            <a:spLocks noGrp="1"/>
          </p:cNvSpPr>
          <p:nvPr/>
        </p:nvSpPr>
        <p:spPr>
          <a:xfrm>
            <a:off x="7505700" y="3790950"/>
            <a:ext cx="3971925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1125" b="0">
                <a:solidFill>
                  <a:srgbClr val="183247"/>
                </a:solidFill>
              </a:defRPr>
            </a:pPr>
            <a:r>
              <a:rPr sz="1125" b="0">
                <a:solidFill>
                  <a:srgbClr val="183247"/>
                </a:solidFill>
              </a:rPr>
              <a:t>Successfully added, edited and deleted medicine/supplier/purchase records; restock list correctly reflected items below reorder threshold across all test cases.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70A5B3E2-17DD-4CAD-95AE-B1BC01F17463}"/>
              </a:ext>
            </a:extLst>
          </p:cNvPr>
          <p:cNvSpPr>
            <a:spLocks noGrp="1"/>
          </p:cNvSpPr>
          <p:nvPr/>
        </p:nvSpPr>
        <p:spPr>
          <a:xfrm>
            <a:off x="7296150" y="4533900"/>
            <a:ext cx="4371975" cy="1314450"/>
          </a:xfrm>
          <a:prstGeom prst="rect">
            <a:avLst/>
          </a:prstGeom>
          <a:solidFill>
            <a:srgbClr val="FFFFFF"/>
          </a:solidFill>
          <a:ln w="9525">
            <a:solidFill>
              <a:srgbClr val="C9D6E2"/>
            </a:solidFill>
            <a:prstDash val="solid"/>
          </a:ln>
        </p:spPr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FFD751C8-5986-4BD6-A7A1-F0CDDEC42B4E}"/>
              </a:ext>
            </a:extLst>
          </p:cNvPr>
          <p:cNvSpPr>
            <a:spLocks noGrp="1"/>
          </p:cNvSpPr>
          <p:nvPr/>
        </p:nvSpPr>
        <p:spPr>
          <a:xfrm>
            <a:off x="7296150" y="4533900"/>
            <a:ext cx="57150" cy="1314450"/>
          </a:xfrm>
          <a:prstGeom prst="rect">
            <a:avLst/>
          </a:prstGeom>
          <a:solidFill>
            <a:srgbClr val="D39216"/>
          </a:solidFill>
          <a:ln w="0">
            <a:solidFill>
              <a:srgbClr val="D39216"/>
            </a:solidFill>
            <a:prstDash val="solid"/>
          </a:ln>
        </p:spPr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19EDB054-AB5D-4B7A-8567-292A80E8C112}"/>
              </a:ext>
            </a:extLst>
          </p:cNvPr>
          <p:cNvSpPr>
            <a:spLocks noGrp="1"/>
          </p:cNvSpPr>
          <p:nvPr/>
        </p:nvSpPr>
        <p:spPr>
          <a:xfrm>
            <a:off x="7505700" y="4686300"/>
            <a:ext cx="3971925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900" b="1">
                <a:solidFill>
                  <a:srgbClr val="D39216"/>
                </a:solidFill>
              </a:defRPr>
            </a:pPr>
            <a:r>
              <a:rPr sz="900" b="1">
                <a:solidFill>
                  <a:srgbClr val="D39216"/>
                </a:solidFill>
              </a:rPr>
              <a:t>MODULE HAND-OFF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67F147D9-4458-4C3E-841D-94D43BE720D7}"/>
              </a:ext>
            </a:extLst>
          </p:cNvPr>
          <p:cNvSpPr>
            <a:spLocks noGrp="1"/>
          </p:cNvSpPr>
          <p:nvPr/>
        </p:nvSpPr>
        <p:spPr>
          <a:xfrm>
            <a:off x="7505700" y="4991100"/>
            <a:ext cx="3971925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1125" b="0">
                <a:solidFill>
                  <a:srgbClr val="183247"/>
                </a:solidFill>
              </a:defRPr>
            </a:pPr>
            <a:r>
              <a:rPr sz="1125" b="0">
                <a:solidFill>
                  <a:srgbClr val="183247"/>
                </a:solidFill>
              </a:rPr>
              <a:t>Stock and expiry-date data captured here feeds directly into Module 2's expiry monitoring.</a:t>
            </a:r>
          </a:p>
        </p:txBody>
      </p:sp>
    </p:spTree>
    <p:extLst>
      <p:ext uri="{BB962C8B-B14F-4D97-AF65-F5344CB8AC3E}">
        <p14:creationId xmlns:p14="http://schemas.microsoft.com/office/powerpoint/2010/main" val="13757806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>
            <a:extLst>
              <a:ext uri="{FF2B5EF4-FFF2-40B4-BE49-F238E27FC236}">
                <a16:creationId xmlns:a16="http://schemas.microsoft.com/office/drawing/2014/main" id="{82A28BD2-458C-4AA0-8D4E-00BDC083A38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82475" cy="76200"/>
          </a:xfrm>
          <a:prstGeom prst="rect">
            <a:avLst/>
          </a:prstGeom>
          <a:solidFill>
            <a:srgbClr val="0B7895"/>
          </a:solidFill>
          <a:ln w="0">
            <a:solidFill>
              <a:srgbClr val="0B7895"/>
            </a:solidFill>
            <a:prstDash val="solid"/>
          </a:ln>
        </p:spPr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53AA7420-B27A-4E61-8F67-C0E6C0F247E0}"/>
              </a:ext>
            </a:extLst>
          </p:cNvPr>
          <p:cNvSpPr>
            <a:spLocks noGrp="1"/>
          </p:cNvSpPr>
          <p:nvPr/>
        </p:nvSpPr>
        <p:spPr>
          <a:xfrm>
            <a:off x="438150" y="228600"/>
            <a:ext cx="1000125" cy="552450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9525">
            <a:solidFill>
              <a:srgbClr val="C9D6E2"/>
            </a:solidFill>
            <a:prstDash val="solid"/>
          </a:ln>
        </p:spPr>
      </p:sp>
      <p:pic>
        <p:nvPicPr>
          <p:cNvPr id="27" name="Picture 26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514350" y="450359"/>
            <a:ext cx="847725" cy="108932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77151335-8622-41CD-807F-115B72AE0854}"/>
              </a:ext>
            </a:extLst>
          </p:cNvPr>
          <p:cNvSpPr>
            <a:spLocks noGrp="1"/>
          </p:cNvSpPr>
          <p:nvPr/>
        </p:nvSpPr>
        <p:spPr>
          <a:xfrm>
            <a:off x="1657350" y="266700"/>
            <a:ext cx="6953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900" b="1">
                <a:solidFill>
                  <a:srgbClr val="1264A3"/>
                </a:solidFill>
              </a:defRPr>
            </a:pPr>
            <a:r>
              <a:rPr sz="900" b="1">
                <a:solidFill>
                  <a:srgbClr val="1264A3"/>
                </a:solidFill>
              </a:rPr>
              <a:t>CSA15  |  CLOUD COMPUTING AND BIG DATA ANALYTICS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6812954-6B0A-42B7-8E0A-6CFFF924BDC2}"/>
              </a:ext>
            </a:extLst>
          </p:cNvPr>
          <p:cNvSpPr>
            <a:spLocks noGrp="1"/>
          </p:cNvSpPr>
          <p:nvPr/>
        </p:nvSpPr>
        <p:spPr>
          <a:xfrm>
            <a:off x="9572625" y="266700"/>
            <a:ext cx="2095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825" b="1">
                <a:solidFill>
                  <a:srgbClr val="0B7895"/>
                </a:solidFill>
              </a:defRPr>
            </a:pPr>
            <a:r>
              <a:rPr sz="825" b="1">
                <a:solidFill>
                  <a:srgbClr val="0B7895"/>
                </a:solidFill>
              </a:rPr>
              <a:t>CAPSTONE FINAL DEFENSE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39FB977-14E3-4782-A109-14D384FBF9C2}"/>
              </a:ext>
            </a:extLst>
          </p:cNvPr>
          <p:cNvSpPr>
            <a:spLocks noGrp="1"/>
          </p:cNvSpPr>
          <p:nvPr/>
        </p:nvSpPr>
        <p:spPr>
          <a:xfrm>
            <a:off x="514350" y="981075"/>
            <a:ext cx="102870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2325" b="1">
                <a:solidFill>
                  <a:srgbClr val="0B2E4F"/>
                </a:solidFill>
              </a:defRPr>
            </a:pPr>
            <a:r>
              <a:rPr sz="2325" b="1">
                <a:solidFill>
                  <a:srgbClr val="0B2E4F"/>
                </a:solidFill>
              </a:rPr>
              <a:t>Module 2: Functional Scope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CFF62DB-A5D8-4C43-9DA2-2FED4067A33E}"/>
              </a:ext>
            </a:extLst>
          </p:cNvPr>
          <p:cNvSpPr>
            <a:spLocks noGrp="1"/>
          </p:cNvSpPr>
          <p:nvPr/>
        </p:nvSpPr>
        <p:spPr>
          <a:xfrm>
            <a:off x="533400" y="1457325"/>
            <a:ext cx="10287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1125" b="0">
                <a:solidFill>
                  <a:srgbClr val="52677A"/>
                </a:solidFill>
              </a:defRPr>
            </a:pPr>
            <a:r>
              <a:rPr sz="1125" b="0">
                <a:solidFill>
                  <a:srgbClr val="52677A"/>
                </a:solidFill>
              </a:rPr>
              <a:t>Show how the second module extends the product and consumes prior output.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7BCA3AC-9C3B-412F-A70A-51B3ED71487F}"/>
              </a:ext>
            </a:extLst>
          </p:cNvPr>
          <p:cNvSpPr>
            <a:spLocks noGrp="1"/>
          </p:cNvSpPr>
          <p:nvPr/>
        </p:nvSpPr>
        <p:spPr>
          <a:xfrm>
            <a:off x="514350" y="1847850"/>
            <a:ext cx="11153775" cy="19050"/>
          </a:xfrm>
          <a:prstGeom prst="rect">
            <a:avLst/>
          </a:prstGeom>
          <a:solidFill>
            <a:srgbClr val="C9D6E2"/>
          </a:solidFill>
          <a:ln w="0">
            <a:solidFill>
              <a:srgbClr val="C9D6E2"/>
            </a:solidFill>
            <a:prstDash val="solid"/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DB1CB02-7230-4E56-9B45-CB288D4B3488}"/>
              </a:ext>
            </a:extLst>
          </p:cNvPr>
          <p:cNvSpPr>
            <a:spLocks noGrp="1"/>
          </p:cNvSpPr>
          <p:nvPr/>
        </p:nvSpPr>
        <p:spPr>
          <a:xfrm>
            <a:off x="0" y="6419850"/>
            <a:ext cx="12182475" cy="438150"/>
          </a:xfrm>
          <a:prstGeom prst="rect">
            <a:avLst/>
          </a:prstGeom>
          <a:solidFill>
            <a:srgbClr val="0B2E4F"/>
          </a:solidFill>
          <a:ln w="0">
            <a:solidFill>
              <a:srgbClr val="0B2E4F"/>
            </a:solidFill>
            <a:prstDash val="solid"/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17BB833-2CF1-46C0-9928-439A377E9186}"/>
              </a:ext>
            </a:extLst>
          </p:cNvPr>
          <p:cNvSpPr>
            <a:spLocks noGrp="1"/>
          </p:cNvSpPr>
          <p:nvPr/>
        </p:nvSpPr>
        <p:spPr>
          <a:xfrm>
            <a:off x="11049000" y="6515100"/>
            <a:ext cx="6191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975" b="1">
                <a:solidFill>
                  <a:srgbClr val="D39216"/>
                </a:solidFill>
              </a:defRPr>
            </a:pPr>
            <a:r>
              <a:rPr sz="975" b="1">
                <a:solidFill>
                  <a:srgbClr val="D39216"/>
                </a:solidFill>
              </a:rPr>
              <a:t>11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B00A07D-1C37-4902-9F1D-F64861DCB1D2}"/>
              </a:ext>
            </a:extLst>
          </p:cNvPr>
          <p:cNvSpPr>
            <a:spLocks noGrp="1"/>
          </p:cNvSpPr>
          <p:nvPr/>
        </p:nvSpPr>
        <p:spPr>
          <a:xfrm>
            <a:off x="4191000" y="6715125"/>
            <a:ext cx="3810000" cy="1047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600" b="0">
                <a:solidFill>
                  <a:srgbClr val="BFD3E1"/>
                </a:solidFill>
              </a:defRPr>
            </a:pPr>
            <a:r>
              <a:rPr sz="600" b="0">
                <a:solidFill>
                  <a:srgbClr val="BFD3E1"/>
                </a:solidFill>
              </a:rPr>
              <a:t>Dr. C. Rajesh Babu | SSETSCS415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C802A59-3252-4CA1-9BD3-F9797557DC2C}"/>
              </a:ext>
            </a:extLst>
          </p:cNvPr>
          <p:cNvSpPr>
            <a:spLocks noGrp="1"/>
          </p:cNvSpPr>
          <p:nvPr/>
        </p:nvSpPr>
        <p:spPr>
          <a:xfrm>
            <a:off x="514350" y="2143125"/>
            <a:ext cx="3565525" cy="3571875"/>
          </a:xfrm>
          <a:prstGeom prst="rect">
            <a:avLst/>
          </a:prstGeom>
          <a:solidFill>
            <a:srgbClr val="FFFFFF"/>
          </a:solidFill>
          <a:ln w="9525">
            <a:solidFill>
              <a:srgbClr val="C9D6E2"/>
            </a:solidFill>
            <a:prstDash val="solid"/>
          </a:ln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8A4E698-54C8-463A-94EA-A0F2A6873DB0}"/>
              </a:ext>
            </a:extLst>
          </p:cNvPr>
          <p:cNvSpPr>
            <a:spLocks noGrp="1"/>
          </p:cNvSpPr>
          <p:nvPr/>
        </p:nvSpPr>
        <p:spPr>
          <a:xfrm>
            <a:off x="514350" y="2143125"/>
            <a:ext cx="57150" cy="3571875"/>
          </a:xfrm>
          <a:prstGeom prst="rect">
            <a:avLst/>
          </a:prstGeom>
          <a:solidFill>
            <a:srgbClr val="1264A3"/>
          </a:solidFill>
          <a:ln w="0">
            <a:solidFill>
              <a:srgbClr val="1264A3"/>
            </a:solidFill>
            <a:prstDash val="solid"/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739454A-9C03-406B-ADD1-C08444D33E1F}"/>
              </a:ext>
            </a:extLst>
          </p:cNvPr>
          <p:cNvSpPr>
            <a:spLocks noGrp="1"/>
          </p:cNvSpPr>
          <p:nvPr/>
        </p:nvSpPr>
        <p:spPr>
          <a:xfrm>
            <a:off x="723900" y="2295525"/>
            <a:ext cx="3165475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900" b="1">
                <a:solidFill>
                  <a:srgbClr val="1264A3"/>
                </a:solidFill>
              </a:defRPr>
            </a:pPr>
            <a:r>
              <a:rPr sz="900" b="1">
                <a:solidFill>
                  <a:srgbClr val="1264A3"/>
                </a:solidFill>
              </a:rPr>
              <a:t>PURPOSE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F5472C5-3B40-423F-9C62-7318B45FFDF5}"/>
              </a:ext>
            </a:extLst>
          </p:cNvPr>
          <p:cNvSpPr>
            <a:spLocks noGrp="1"/>
          </p:cNvSpPr>
          <p:nvPr/>
        </p:nvSpPr>
        <p:spPr>
          <a:xfrm>
            <a:off x="723900" y="2600325"/>
            <a:ext cx="3165475" cy="2981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1275" b="0">
                <a:solidFill>
                  <a:srgbClr val="183247"/>
                </a:solidFill>
              </a:defRPr>
            </a:pPr>
            <a:r>
              <a:rPr sz="1275" b="0">
                <a:solidFill>
                  <a:srgbClr val="183247"/>
                </a:solidFill>
              </a:rPr>
              <a:t>Continuously monitors expiry dates of stored medicines, generates alerts as items approach expiry, and maintains records of expired medicines including batch and quantity, reducing pharmaceutical waste.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E494B0F-15BE-4CBF-B4D0-4C1BC6F2EC62}"/>
              </a:ext>
            </a:extLst>
          </p:cNvPr>
          <p:cNvSpPr>
            <a:spLocks noGrp="1"/>
          </p:cNvSpPr>
          <p:nvPr/>
        </p:nvSpPr>
        <p:spPr>
          <a:xfrm>
            <a:off x="4308475" y="2143125"/>
            <a:ext cx="3565525" cy="3571875"/>
          </a:xfrm>
          <a:prstGeom prst="rect">
            <a:avLst/>
          </a:prstGeom>
          <a:solidFill>
            <a:srgbClr val="FFFFFF"/>
          </a:solidFill>
          <a:ln w="9525">
            <a:solidFill>
              <a:srgbClr val="C9D6E2"/>
            </a:solidFill>
            <a:prstDash val="solid"/>
          </a:ln>
        </p:spPr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77C8811-2256-4798-B0EB-DDA7DC620AB2}"/>
              </a:ext>
            </a:extLst>
          </p:cNvPr>
          <p:cNvSpPr>
            <a:spLocks noGrp="1"/>
          </p:cNvSpPr>
          <p:nvPr/>
        </p:nvSpPr>
        <p:spPr>
          <a:xfrm>
            <a:off x="4308475" y="2143125"/>
            <a:ext cx="57150" cy="3571875"/>
          </a:xfrm>
          <a:prstGeom prst="rect">
            <a:avLst/>
          </a:prstGeom>
          <a:solidFill>
            <a:srgbClr val="0B7895"/>
          </a:solidFill>
          <a:ln w="0">
            <a:solidFill>
              <a:srgbClr val="0B7895"/>
            </a:solidFill>
            <a:prstDash val="solid"/>
          </a:ln>
        </p:spPr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5EB12E4-B4FA-4944-BE9A-24CE9D62D9D0}"/>
              </a:ext>
            </a:extLst>
          </p:cNvPr>
          <p:cNvSpPr>
            <a:spLocks noGrp="1"/>
          </p:cNvSpPr>
          <p:nvPr/>
        </p:nvSpPr>
        <p:spPr>
          <a:xfrm>
            <a:off x="4518025" y="2295525"/>
            <a:ext cx="3165475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900" b="1">
                <a:solidFill>
                  <a:srgbClr val="0B7895"/>
                </a:solidFill>
              </a:defRPr>
            </a:pPr>
            <a:r>
              <a:rPr sz="900" b="1">
                <a:solidFill>
                  <a:srgbClr val="0B7895"/>
                </a:solidFill>
              </a:rPr>
              <a:t>INTERFACE CONTRACT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281FEEF7-6DB5-45DF-96D5-AE60732A05B5}"/>
              </a:ext>
            </a:extLst>
          </p:cNvPr>
          <p:cNvSpPr>
            <a:spLocks noGrp="1"/>
          </p:cNvSpPr>
          <p:nvPr/>
        </p:nvSpPr>
        <p:spPr>
          <a:xfrm>
            <a:off x="4518025" y="2600325"/>
            <a:ext cx="3165475" cy="2981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1275" b="0">
                <a:solidFill>
                  <a:srgbClr val="183247"/>
                </a:solidFill>
              </a:defRPr>
            </a:pPr>
            <a:r>
              <a:rPr sz="1275" b="0">
                <a:solidFill>
                  <a:srgbClr val="183247"/>
                </a:solidFill>
              </a:rPr>
              <a:t>Inputs: medicine records with expiry dates from Module 1. Outputs: near-expiry alerts and expired-medicine records, exposed via API to the dashboard.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2AE1B04F-E005-439F-8998-E74AC26481E8}"/>
              </a:ext>
            </a:extLst>
          </p:cNvPr>
          <p:cNvSpPr>
            <a:spLocks noGrp="1"/>
          </p:cNvSpPr>
          <p:nvPr/>
        </p:nvSpPr>
        <p:spPr>
          <a:xfrm>
            <a:off x="8102600" y="2143125"/>
            <a:ext cx="3565525" cy="3571875"/>
          </a:xfrm>
          <a:prstGeom prst="rect">
            <a:avLst/>
          </a:prstGeom>
          <a:solidFill>
            <a:srgbClr val="FFFFFF"/>
          </a:solidFill>
          <a:ln w="9525">
            <a:solidFill>
              <a:srgbClr val="C9D6E2"/>
            </a:solidFill>
            <a:prstDash val="solid"/>
          </a:ln>
        </p:spPr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77F01A1-C2DE-4D81-8506-65E0091DD21A}"/>
              </a:ext>
            </a:extLst>
          </p:cNvPr>
          <p:cNvSpPr>
            <a:spLocks noGrp="1"/>
          </p:cNvSpPr>
          <p:nvPr/>
        </p:nvSpPr>
        <p:spPr>
          <a:xfrm>
            <a:off x="8102600" y="2143125"/>
            <a:ext cx="57150" cy="3571875"/>
          </a:xfrm>
          <a:prstGeom prst="rect">
            <a:avLst/>
          </a:prstGeom>
          <a:solidFill>
            <a:srgbClr val="D39216"/>
          </a:solidFill>
          <a:ln w="0">
            <a:solidFill>
              <a:srgbClr val="D39216"/>
            </a:solidFill>
            <a:prstDash val="solid"/>
          </a:ln>
        </p:spPr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B5008F4A-D2C7-4AD7-B96E-5918C2B11A6E}"/>
              </a:ext>
            </a:extLst>
          </p:cNvPr>
          <p:cNvSpPr>
            <a:spLocks noGrp="1"/>
          </p:cNvSpPr>
          <p:nvPr/>
        </p:nvSpPr>
        <p:spPr>
          <a:xfrm>
            <a:off x="8312150" y="2295525"/>
            <a:ext cx="3165475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900" b="1">
                <a:solidFill>
                  <a:srgbClr val="D39216"/>
                </a:solidFill>
              </a:defRPr>
            </a:pPr>
            <a:r>
              <a:rPr sz="900" b="1">
                <a:solidFill>
                  <a:srgbClr val="D39216"/>
                </a:solidFill>
              </a:rPr>
              <a:t>ENGINEERING DECISION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C5F480FB-B821-4030-B4D7-0D7C3262CBCE}"/>
              </a:ext>
            </a:extLst>
          </p:cNvPr>
          <p:cNvSpPr>
            <a:spLocks noGrp="1"/>
          </p:cNvSpPr>
          <p:nvPr/>
        </p:nvSpPr>
        <p:spPr>
          <a:xfrm>
            <a:off x="8312150" y="2600325"/>
            <a:ext cx="3165475" cy="2981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1275" b="0">
                <a:solidFill>
                  <a:srgbClr val="183247"/>
                </a:solidFill>
              </a:defRPr>
            </a:pPr>
            <a:r>
              <a:rPr sz="1275" b="0">
                <a:solidFill>
                  <a:srgbClr val="183247"/>
                </a:solidFill>
              </a:rPr>
              <a:t>Expiry checks computed via date comparison against a configurable threshold window inside the FastAPI service. Alternative considered: scheduled cron-based batch job, rejected in favor of an on-request check for simpler deployment.</a:t>
            </a:r>
          </a:p>
        </p:txBody>
      </p:sp>
    </p:spTree>
    <p:extLst>
      <p:ext uri="{BB962C8B-B14F-4D97-AF65-F5344CB8AC3E}">
        <p14:creationId xmlns:p14="http://schemas.microsoft.com/office/powerpoint/2010/main" val="18375642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A50EEB21-FFB2-4230-8578-CB6CBF20B49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82475" cy="76200"/>
          </a:xfrm>
          <a:prstGeom prst="rect">
            <a:avLst/>
          </a:prstGeom>
          <a:solidFill>
            <a:srgbClr val="0B7895"/>
          </a:solidFill>
          <a:ln w="0">
            <a:solidFill>
              <a:srgbClr val="0B7895"/>
            </a:solidFill>
            <a:prstDash val="solid"/>
          </a:ln>
        </p:spPr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8D2537F4-16B6-46CD-B044-530E8133B08A}"/>
              </a:ext>
            </a:extLst>
          </p:cNvPr>
          <p:cNvSpPr>
            <a:spLocks noGrp="1"/>
          </p:cNvSpPr>
          <p:nvPr/>
        </p:nvSpPr>
        <p:spPr>
          <a:xfrm>
            <a:off x="438150" y="228600"/>
            <a:ext cx="1000125" cy="552450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9525">
            <a:solidFill>
              <a:srgbClr val="C9D6E2"/>
            </a:solidFill>
            <a:prstDash val="solid"/>
          </a:ln>
        </p:spPr>
      </p:sp>
      <p:pic>
        <p:nvPicPr>
          <p:cNvPr id="23" name="Picture 22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514350" y="450359"/>
            <a:ext cx="847725" cy="108932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2ED70513-6852-47E6-B20F-DFC665807A2C}"/>
              </a:ext>
            </a:extLst>
          </p:cNvPr>
          <p:cNvSpPr>
            <a:spLocks noGrp="1"/>
          </p:cNvSpPr>
          <p:nvPr/>
        </p:nvSpPr>
        <p:spPr>
          <a:xfrm>
            <a:off x="1657350" y="266700"/>
            <a:ext cx="6953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900" b="1">
                <a:solidFill>
                  <a:srgbClr val="1264A3"/>
                </a:solidFill>
              </a:defRPr>
            </a:pPr>
            <a:r>
              <a:rPr sz="900" b="1">
                <a:solidFill>
                  <a:srgbClr val="1264A3"/>
                </a:solidFill>
              </a:rPr>
              <a:t>CSA15  |  CLOUD COMPUTING AND BIG DATA ANALYTICS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F052A8F-A083-4700-95E3-21A826099202}"/>
              </a:ext>
            </a:extLst>
          </p:cNvPr>
          <p:cNvSpPr>
            <a:spLocks noGrp="1"/>
          </p:cNvSpPr>
          <p:nvPr/>
        </p:nvSpPr>
        <p:spPr>
          <a:xfrm>
            <a:off x="9572625" y="266700"/>
            <a:ext cx="2095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825" b="1">
                <a:solidFill>
                  <a:srgbClr val="0B7895"/>
                </a:solidFill>
              </a:defRPr>
            </a:pPr>
            <a:r>
              <a:rPr sz="825" b="1">
                <a:solidFill>
                  <a:srgbClr val="0B7895"/>
                </a:solidFill>
              </a:rPr>
              <a:t>CAPSTONE FINAL DEFENSE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5033D07-4650-4411-8DF4-3F7AABB4ADFF}"/>
              </a:ext>
            </a:extLst>
          </p:cNvPr>
          <p:cNvSpPr>
            <a:spLocks noGrp="1"/>
          </p:cNvSpPr>
          <p:nvPr/>
        </p:nvSpPr>
        <p:spPr>
          <a:xfrm>
            <a:off x="514350" y="981075"/>
            <a:ext cx="102870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2325" b="1">
                <a:solidFill>
                  <a:srgbClr val="0B2E4F"/>
                </a:solidFill>
              </a:defRPr>
            </a:pPr>
            <a:r>
              <a:rPr sz="2325" b="1">
                <a:solidFill>
                  <a:srgbClr val="0B2E4F"/>
                </a:solidFill>
              </a:rPr>
              <a:t>Module 2: Technical Design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1443CD3-B2DF-47EC-AC85-81A33E129F11}"/>
              </a:ext>
            </a:extLst>
          </p:cNvPr>
          <p:cNvSpPr>
            <a:spLocks noGrp="1"/>
          </p:cNvSpPr>
          <p:nvPr/>
        </p:nvSpPr>
        <p:spPr>
          <a:xfrm>
            <a:off x="533400" y="1457325"/>
            <a:ext cx="10287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1125" b="0">
                <a:solidFill>
                  <a:srgbClr val="52677A"/>
                </a:solidFill>
              </a:defRPr>
            </a:pPr>
            <a:r>
              <a:rPr sz="1125" b="0">
                <a:solidFill>
                  <a:srgbClr val="52677A"/>
                </a:solidFill>
              </a:rPr>
              <a:t>Expose the service, data and control decisions that make the module dependable.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3128F0D-41A1-4354-B2DA-24E7D7001599}"/>
              </a:ext>
            </a:extLst>
          </p:cNvPr>
          <p:cNvSpPr>
            <a:spLocks noGrp="1"/>
          </p:cNvSpPr>
          <p:nvPr/>
        </p:nvSpPr>
        <p:spPr>
          <a:xfrm>
            <a:off x="514350" y="1847850"/>
            <a:ext cx="11153775" cy="19050"/>
          </a:xfrm>
          <a:prstGeom prst="rect">
            <a:avLst/>
          </a:prstGeom>
          <a:solidFill>
            <a:srgbClr val="C9D6E2"/>
          </a:solidFill>
          <a:ln w="0">
            <a:solidFill>
              <a:srgbClr val="C9D6E2"/>
            </a:solidFill>
            <a:prstDash val="solid"/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406CDC3-4A0B-4FD1-A738-9BCA4AD5E0A4}"/>
              </a:ext>
            </a:extLst>
          </p:cNvPr>
          <p:cNvSpPr>
            <a:spLocks noGrp="1"/>
          </p:cNvSpPr>
          <p:nvPr/>
        </p:nvSpPr>
        <p:spPr>
          <a:xfrm>
            <a:off x="0" y="6419850"/>
            <a:ext cx="12182475" cy="438150"/>
          </a:xfrm>
          <a:prstGeom prst="rect">
            <a:avLst/>
          </a:prstGeom>
          <a:solidFill>
            <a:srgbClr val="0B2E4F"/>
          </a:solidFill>
          <a:ln w="0">
            <a:solidFill>
              <a:srgbClr val="0B2E4F"/>
            </a:solidFill>
            <a:prstDash val="solid"/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7649442-375A-4CBF-841F-B475F021C7D4}"/>
              </a:ext>
            </a:extLst>
          </p:cNvPr>
          <p:cNvSpPr>
            <a:spLocks noGrp="1"/>
          </p:cNvSpPr>
          <p:nvPr/>
        </p:nvSpPr>
        <p:spPr>
          <a:xfrm>
            <a:off x="11049000" y="6515100"/>
            <a:ext cx="6191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975" b="1">
                <a:solidFill>
                  <a:srgbClr val="D39216"/>
                </a:solidFill>
              </a:defRPr>
            </a:pPr>
            <a:r>
              <a:rPr sz="975" b="1">
                <a:solidFill>
                  <a:srgbClr val="D39216"/>
                </a:solidFill>
              </a:rPr>
              <a:t>12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448D2A2-F068-413F-924A-929E45902FE2}"/>
              </a:ext>
            </a:extLst>
          </p:cNvPr>
          <p:cNvSpPr>
            <a:spLocks noGrp="1"/>
          </p:cNvSpPr>
          <p:nvPr/>
        </p:nvSpPr>
        <p:spPr>
          <a:xfrm>
            <a:off x="4191000" y="6715125"/>
            <a:ext cx="3810000" cy="1047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600" b="0">
                <a:solidFill>
                  <a:srgbClr val="BFD3E1"/>
                </a:solidFill>
              </a:defRPr>
            </a:pPr>
            <a:r>
              <a:rPr sz="600" b="0">
                <a:solidFill>
                  <a:srgbClr val="BFD3E1"/>
                </a:solidFill>
              </a:rPr>
              <a:t>Dr. C. Rajesh Babu | SSETSCS415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4DF2B98-7705-45EA-BD08-14E587AAF81E}"/>
              </a:ext>
            </a:extLst>
          </p:cNvPr>
          <p:cNvSpPr>
            <a:spLocks noGrp="1"/>
          </p:cNvSpPr>
          <p:nvPr/>
        </p:nvSpPr>
        <p:spPr>
          <a:xfrm>
            <a:off x="514350" y="2143125"/>
            <a:ext cx="5314950" cy="3619500"/>
          </a:xfrm>
          <a:prstGeom prst="rect">
            <a:avLst/>
          </a:prstGeom>
          <a:solidFill>
            <a:srgbClr val="FFFFFF"/>
          </a:solidFill>
          <a:ln w="9525">
            <a:solidFill>
              <a:srgbClr val="C9D6E2"/>
            </a:solidFill>
            <a:prstDash val="solid"/>
          </a:ln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518F367-1F1A-4FB1-BB53-17516DEB7571}"/>
              </a:ext>
            </a:extLst>
          </p:cNvPr>
          <p:cNvSpPr>
            <a:spLocks noGrp="1"/>
          </p:cNvSpPr>
          <p:nvPr/>
        </p:nvSpPr>
        <p:spPr>
          <a:xfrm>
            <a:off x="514350" y="2143125"/>
            <a:ext cx="57150" cy="3619500"/>
          </a:xfrm>
          <a:prstGeom prst="rect">
            <a:avLst/>
          </a:prstGeom>
          <a:solidFill>
            <a:srgbClr val="1264A3"/>
          </a:solidFill>
          <a:ln w="0">
            <a:solidFill>
              <a:srgbClr val="1264A3"/>
            </a:solidFill>
            <a:prstDash val="solid"/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F6BD3FB-C338-495D-B219-62B8ECBE89AC}"/>
              </a:ext>
            </a:extLst>
          </p:cNvPr>
          <p:cNvSpPr>
            <a:spLocks noGrp="1"/>
          </p:cNvSpPr>
          <p:nvPr/>
        </p:nvSpPr>
        <p:spPr>
          <a:xfrm>
            <a:off x="723900" y="2295525"/>
            <a:ext cx="4914900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900" b="1">
                <a:solidFill>
                  <a:srgbClr val="1264A3"/>
                </a:solidFill>
              </a:defRPr>
            </a:pPr>
            <a:r>
              <a:rPr sz="900" b="1">
                <a:solidFill>
                  <a:srgbClr val="1264A3"/>
                </a:solidFill>
              </a:rPr>
              <a:t>DESIGN AND DECISION FLOW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9ADD49A-2679-4FE3-88AD-B2F3538DC975}"/>
              </a:ext>
            </a:extLst>
          </p:cNvPr>
          <p:cNvSpPr>
            <a:spLocks noGrp="1"/>
          </p:cNvSpPr>
          <p:nvPr/>
        </p:nvSpPr>
        <p:spPr>
          <a:xfrm>
            <a:off x="723900" y="2600325"/>
            <a:ext cx="4914900" cy="3028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1200" b="0">
                <a:solidFill>
                  <a:srgbClr val="183247"/>
                </a:solidFill>
              </a:defRPr>
            </a:pPr>
            <a:r>
              <a:rPr sz="1200" b="0">
                <a:solidFill>
                  <a:srgbClr val="183247"/>
                </a:solidFill>
              </a:rPr>
              <a:t>Input (medicine expiry_date field) -&gt; validation (valid date, not null) -&gt; processing (compare to threshold window) -&gt; data/service call (query PostgreSQL) -&gt; output (near-expiry / expired alert list) -&gt; error path (invalid/missing date flagged for review).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237E532-AD1A-4942-A51A-A4A630AE7401}"/>
              </a:ext>
            </a:extLst>
          </p:cNvPr>
          <p:cNvSpPr>
            <a:spLocks noGrp="1"/>
          </p:cNvSpPr>
          <p:nvPr/>
        </p:nvSpPr>
        <p:spPr>
          <a:xfrm>
            <a:off x="6057900" y="2143125"/>
            <a:ext cx="5610225" cy="3619500"/>
          </a:xfrm>
          <a:prstGeom prst="rect">
            <a:avLst/>
          </a:prstGeom>
          <a:solidFill>
            <a:srgbClr val="FFFFFF"/>
          </a:solidFill>
          <a:ln w="9525">
            <a:solidFill>
              <a:srgbClr val="C9D6E2"/>
            </a:solidFill>
            <a:prstDash val="solid"/>
          </a:ln>
        </p:spPr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BCCD2A3B-21BB-4EDC-A798-C33AEF932451}"/>
              </a:ext>
            </a:extLst>
          </p:cNvPr>
          <p:cNvSpPr>
            <a:spLocks noGrp="1"/>
          </p:cNvSpPr>
          <p:nvPr/>
        </p:nvSpPr>
        <p:spPr>
          <a:xfrm>
            <a:off x="6057900" y="2143125"/>
            <a:ext cx="57150" cy="3619500"/>
          </a:xfrm>
          <a:prstGeom prst="rect">
            <a:avLst/>
          </a:prstGeom>
          <a:solidFill>
            <a:srgbClr val="0B7895"/>
          </a:solidFill>
          <a:ln w="0">
            <a:solidFill>
              <a:srgbClr val="0B7895"/>
            </a:solidFill>
            <a:prstDash val="solid"/>
          </a:ln>
        </p:spPr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63B9DAE-C930-4BA4-B0E9-8531130B3A89}"/>
              </a:ext>
            </a:extLst>
          </p:cNvPr>
          <p:cNvSpPr>
            <a:spLocks noGrp="1"/>
          </p:cNvSpPr>
          <p:nvPr/>
        </p:nvSpPr>
        <p:spPr>
          <a:xfrm>
            <a:off x="6267450" y="2295525"/>
            <a:ext cx="5210175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900" b="1">
                <a:solidFill>
                  <a:srgbClr val="0B7895"/>
                </a:solidFill>
              </a:defRPr>
            </a:pPr>
            <a:r>
              <a:rPr sz="900" b="1">
                <a:solidFill>
                  <a:srgbClr val="0B7895"/>
                </a:solidFill>
              </a:rPr>
              <a:t>TECHNICAL DEFENSE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C8B6D073-5C4A-4D6D-94A9-3382465ACF8F}"/>
              </a:ext>
            </a:extLst>
          </p:cNvPr>
          <p:cNvSpPr>
            <a:spLocks noGrp="1"/>
          </p:cNvSpPr>
          <p:nvPr/>
        </p:nvSpPr>
        <p:spPr>
          <a:xfrm>
            <a:off x="6267450" y="2600325"/>
            <a:ext cx="5210175" cy="3028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1200" b="0">
                <a:solidFill>
                  <a:srgbClr val="183247"/>
                </a:solidFill>
              </a:defRPr>
            </a:pPr>
            <a:r>
              <a:rPr sz="1200" b="0">
                <a:solidFill>
                  <a:srgbClr val="183247"/>
                </a:solidFill>
              </a:rPr>
              <a:t>Chosen algorithm: date-comparison logic flagging items in 'approaching expiry' and 'expired' states.</a:t>
            </a:r>
          </a:p>
          <a:p>
            <a:pPr>
              <a:defRPr sz="1200" b="0">
                <a:solidFill>
                  <a:srgbClr val="183247"/>
                </a:solidFill>
              </a:defRPr>
            </a:pPr>
            <a:endParaRPr sz="1200" b="0">
              <a:solidFill>
                <a:srgbClr val="183247"/>
              </a:solidFill>
            </a:endParaRPr>
          </a:p>
          <a:p>
            <a:pPr>
              <a:defRPr sz="1200" b="0">
                <a:solidFill>
                  <a:srgbClr val="183247"/>
                </a:solidFill>
              </a:defRPr>
            </a:pPr>
            <a:r>
              <a:rPr sz="1200" b="0">
                <a:solidFill>
                  <a:srgbClr val="183247"/>
                </a:solidFill>
              </a:rPr>
              <a:t>Data structure: expiry_date field on the medicines table, indexed for efficient range queries.</a:t>
            </a:r>
          </a:p>
          <a:p>
            <a:pPr>
              <a:defRPr sz="1200" b="0">
                <a:solidFill>
                  <a:srgbClr val="183247"/>
                </a:solidFill>
              </a:defRPr>
            </a:pPr>
            <a:endParaRPr sz="1200" b="0">
              <a:solidFill>
                <a:srgbClr val="183247"/>
              </a:solidFill>
            </a:endParaRPr>
          </a:p>
          <a:p>
            <a:pPr>
              <a:defRPr sz="1200" b="0">
                <a:solidFill>
                  <a:srgbClr val="183247"/>
                </a:solidFill>
              </a:defRPr>
            </a:pPr>
            <a:r>
              <a:rPr sz="1200" b="0">
                <a:solidFill>
                  <a:srgbClr val="183247"/>
                </a:solidFill>
              </a:rPr>
              <a:t>Latency: lightweight query over an indexed date column, low overhead.</a:t>
            </a:r>
          </a:p>
          <a:p>
            <a:pPr>
              <a:defRPr sz="1200" b="0">
                <a:solidFill>
                  <a:srgbClr val="183247"/>
                </a:solidFill>
              </a:defRPr>
            </a:pPr>
            <a:endParaRPr sz="1200" b="0">
              <a:solidFill>
                <a:srgbClr val="183247"/>
              </a:solidFill>
            </a:endParaRPr>
          </a:p>
          <a:p>
            <a:pPr>
              <a:defRPr sz="1200" b="0">
                <a:solidFill>
                  <a:srgbClr val="183247"/>
                </a:solidFill>
              </a:defRPr>
            </a:pPr>
            <a:r>
              <a:rPr sz="1200" b="0">
                <a:solidFill>
                  <a:srgbClr val="183247"/>
                </a:solidFill>
              </a:rPr>
              <a:t>Security: alerts visible only to authenticated staff.</a:t>
            </a:r>
          </a:p>
          <a:p>
            <a:pPr>
              <a:defRPr sz="1200" b="0">
                <a:solidFill>
                  <a:srgbClr val="183247"/>
                </a:solidFill>
              </a:defRPr>
            </a:pPr>
            <a:endParaRPr sz="1200" b="0">
              <a:solidFill>
                <a:srgbClr val="183247"/>
              </a:solidFill>
            </a:endParaRPr>
          </a:p>
          <a:p>
            <a:pPr>
              <a:defRPr sz="1200" b="0">
                <a:solidFill>
                  <a:srgbClr val="183247"/>
                </a:solidFill>
              </a:defRPr>
            </a:pPr>
            <a:r>
              <a:rPr sz="1200" b="0">
                <a:solidFill>
                  <a:srgbClr val="183247"/>
                </a:solidFill>
              </a:rPr>
              <a:t>Rejected alternative: scheduled cron batch job, rejected for added deployment complexity versus on-request checks.</a:t>
            </a:r>
          </a:p>
        </p:txBody>
      </p:sp>
    </p:spTree>
    <p:extLst>
      <p:ext uri="{BB962C8B-B14F-4D97-AF65-F5344CB8AC3E}">
        <p14:creationId xmlns:p14="http://schemas.microsoft.com/office/powerpoint/2010/main" val="88983281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Rectangle 39">
            <a:extLst>
              <a:ext uri="{FF2B5EF4-FFF2-40B4-BE49-F238E27FC236}">
                <a16:creationId xmlns:a16="http://schemas.microsoft.com/office/drawing/2014/main" id="{C18F912B-9628-48CF-83F2-A35BED833C0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82475" cy="76200"/>
          </a:xfrm>
          <a:prstGeom prst="rect">
            <a:avLst/>
          </a:prstGeom>
          <a:solidFill>
            <a:srgbClr val="0B7895"/>
          </a:solidFill>
          <a:ln w="0">
            <a:solidFill>
              <a:srgbClr val="0B7895"/>
            </a:solidFill>
            <a:prstDash val="solid"/>
          </a:ln>
        </p:spPr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89A178D8-DDBA-42B1-B783-008E07EAB25D}"/>
              </a:ext>
            </a:extLst>
          </p:cNvPr>
          <p:cNvSpPr>
            <a:spLocks noGrp="1"/>
          </p:cNvSpPr>
          <p:nvPr/>
        </p:nvSpPr>
        <p:spPr>
          <a:xfrm>
            <a:off x="438150" y="228600"/>
            <a:ext cx="1000125" cy="552450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9525">
            <a:solidFill>
              <a:srgbClr val="C9D6E2"/>
            </a:solidFill>
            <a:prstDash val="solid"/>
          </a:ln>
        </p:spPr>
      </p:sp>
      <p:pic>
        <p:nvPicPr>
          <p:cNvPr id="42" name="Picture 41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514350" y="450359"/>
            <a:ext cx="847725" cy="108932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3A09140D-CEEF-4B02-88F9-FA6EF1716836}"/>
              </a:ext>
            </a:extLst>
          </p:cNvPr>
          <p:cNvSpPr>
            <a:spLocks noGrp="1"/>
          </p:cNvSpPr>
          <p:nvPr/>
        </p:nvSpPr>
        <p:spPr>
          <a:xfrm>
            <a:off x="1657350" y="266700"/>
            <a:ext cx="6953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900" b="1">
                <a:solidFill>
                  <a:srgbClr val="1264A3"/>
                </a:solidFill>
              </a:defRPr>
            </a:pPr>
            <a:r>
              <a:rPr sz="900" b="1">
                <a:solidFill>
                  <a:srgbClr val="1264A3"/>
                </a:solidFill>
              </a:rPr>
              <a:t>CSA15  |  CLOUD COMPUTING AND BIG DATA ANALYTICS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F7710EB-F81E-4AC4-BA07-B4E9198713B8}"/>
              </a:ext>
            </a:extLst>
          </p:cNvPr>
          <p:cNvSpPr>
            <a:spLocks noGrp="1"/>
          </p:cNvSpPr>
          <p:nvPr/>
        </p:nvSpPr>
        <p:spPr>
          <a:xfrm>
            <a:off x="9572625" y="266700"/>
            <a:ext cx="2095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825" b="1">
                <a:solidFill>
                  <a:srgbClr val="0B7895"/>
                </a:solidFill>
              </a:defRPr>
            </a:pPr>
            <a:r>
              <a:rPr sz="825" b="1">
                <a:solidFill>
                  <a:srgbClr val="0B7895"/>
                </a:solidFill>
              </a:rPr>
              <a:t>CAPSTONE FINAL DEFENSE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1EFBED8-1BE7-4BF3-80F6-7150EB42F7E3}"/>
              </a:ext>
            </a:extLst>
          </p:cNvPr>
          <p:cNvSpPr>
            <a:spLocks noGrp="1"/>
          </p:cNvSpPr>
          <p:nvPr/>
        </p:nvSpPr>
        <p:spPr>
          <a:xfrm>
            <a:off x="514350" y="981075"/>
            <a:ext cx="102870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2325" b="1">
                <a:solidFill>
                  <a:srgbClr val="0B2E4F"/>
                </a:solidFill>
              </a:defRPr>
            </a:pPr>
            <a:r>
              <a:rPr sz="2325" b="1">
                <a:solidFill>
                  <a:srgbClr val="0B2E4F"/>
                </a:solidFill>
              </a:rPr>
              <a:t>Module 2: Implementation Evidence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2E74CB0-C1B3-410D-A7C3-B52123D37918}"/>
              </a:ext>
            </a:extLst>
          </p:cNvPr>
          <p:cNvSpPr>
            <a:spLocks noGrp="1"/>
          </p:cNvSpPr>
          <p:nvPr/>
        </p:nvSpPr>
        <p:spPr>
          <a:xfrm>
            <a:off x="533400" y="1457325"/>
            <a:ext cx="10287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1125" b="0">
                <a:solidFill>
                  <a:srgbClr val="52677A"/>
                </a:solidFill>
              </a:defRPr>
            </a:pPr>
            <a:r>
              <a:rPr sz="1125" b="0">
                <a:solidFill>
                  <a:srgbClr val="52677A"/>
                </a:solidFill>
              </a:rPr>
              <a:t>Present working evidence, validation and the hand-off to the next stage.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7535437-8EBB-4860-AA2D-527C403668C1}"/>
              </a:ext>
            </a:extLst>
          </p:cNvPr>
          <p:cNvSpPr>
            <a:spLocks noGrp="1"/>
          </p:cNvSpPr>
          <p:nvPr/>
        </p:nvSpPr>
        <p:spPr>
          <a:xfrm>
            <a:off x="514350" y="1847850"/>
            <a:ext cx="11153775" cy="19050"/>
          </a:xfrm>
          <a:prstGeom prst="rect">
            <a:avLst/>
          </a:prstGeom>
          <a:solidFill>
            <a:srgbClr val="C9D6E2"/>
          </a:solidFill>
          <a:ln w="0">
            <a:solidFill>
              <a:srgbClr val="C9D6E2"/>
            </a:solidFill>
            <a:prstDash val="solid"/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8335C7B-2278-463C-BF2F-21D25445D093}"/>
              </a:ext>
            </a:extLst>
          </p:cNvPr>
          <p:cNvSpPr>
            <a:spLocks noGrp="1"/>
          </p:cNvSpPr>
          <p:nvPr/>
        </p:nvSpPr>
        <p:spPr>
          <a:xfrm>
            <a:off x="0" y="6419850"/>
            <a:ext cx="12182475" cy="438150"/>
          </a:xfrm>
          <a:prstGeom prst="rect">
            <a:avLst/>
          </a:prstGeom>
          <a:solidFill>
            <a:srgbClr val="0B2E4F"/>
          </a:solidFill>
          <a:ln w="0">
            <a:solidFill>
              <a:srgbClr val="0B2E4F"/>
            </a:solidFill>
            <a:prstDash val="solid"/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7B768AC-2E28-424C-AA08-AC464385C5B1}"/>
              </a:ext>
            </a:extLst>
          </p:cNvPr>
          <p:cNvSpPr>
            <a:spLocks noGrp="1"/>
          </p:cNvSpPr>
          <p:nvPr/>
        </p:nvSpPr>
        <p:spPr>
          <a:xfrm>
            <a:off x="11049000" y="6515100"/>
            <a:ext cx="6191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975" b="1">
                <a:solidFill>
                  <a:srgbClr val="D39216"/>
                </a:solidFill>
              </a:defRPr>
            </a:pPr>
            <a:r>
              <a:rPr sz="975" b="1">
                <a:solidFill>
                  <a:srgbClr val="D39216"/>
                </a:solidFill>
              </a:rPr>
              <a:t>13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4366F7A-2CFB-424F-8F1B-A5155A792FDA}"/>
              </a:ext>
            </a:extLst>
          </p:cNvPr>
          <p:cNvSpPr>
            <a:spLocks noGrp="1"/>
          </p:cNvSpPr>
          <p:nvPr/>
        </p:nvSpPr>
        <p:spPr>
          <a:xfrm>
            <a:off x="4191000" y="6715125"/>
            <a:ext cx="3810000" cy="1047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600" b="0">
                <a:solidFill>
                  <a:srgbClr val="BFD3E1"/>
                </a:solidFill>
              </a:defRPr>
            </a:pPr>
            <a:r>
              <a:rPr sz="600" b="0">
                <a:solidFill>
                  <a:srgbClr val="BFD3E1"/>
                </a:solidFill>
              </a:rPr>
              <a:t>Dr. C. Rajesh Babu | SSETSCS415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5B26548-D860-4B7C-AB26-459E86D34FB9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82475" cy="76200"/>
          </a:xfrm>
          <a:prstGeom prst="rect">
            <a:avLst/>
          </a:prstGeom>
          <a:solidFill>
            <a:srgbClr val="0B7895"/>
          </a:solidFill>
          <a:ln w="0">
            <a:solidFill>
              <a:srgbClr val="0B7895"/>
            </a:solidFill>
            <a:prstDash val="solid"/>
          </a:ln>
        </p:spPr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76E1FD16-F61A-4B67-8312-53297EE0ECAA}"/>
              </a:ext>
            </a:extLst>
          </p:cNvPr>
          <p:cNvSpPr>
            <a:spLocks noGrp="1"/>
          </p:cNvSpPr>
          <p:nvPr/>
        </p:nvSpPr>
        <p:spPr>
          <a:xfrm>
            <a:off x="438150" y="228600"/>
            <a:ext cx="1000125" cy="552450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9525">
            <a:solidFill>
              <a:srgbClr val="C9D6E2"/>
            </a:solidFill>
            <a:prstDash val="solid"/>
          </a:ln>
        </p:spPr>
      </p:sp>
      <p:pic>
        <p:nvPicPr>
          <p:cNvPr id="54" name="Picture 53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514350" y="450359"/>
            <a:ext cx="847725" cy="108932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516F4714-BB4D-4729-B892-6AE28839BED6}"/>
              </a:ext>
            </a:extLst>
          </p:cNvPr>
          <p:cNvSpPr>
            <a:spLocks noGrp="1"/>
          </p:cNvSpPr>
          <p:nvPr/>
        </p:nvSpPr>
        <p:spPr>
          <a:xfrm>
            <a:off x="1657350" y="266700"/>
            <a:ext cx="6953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900" b="1">
                <a:solidFill>
                  <a:srgbClr val="1264A3"/>
                </a:solidFill>
              </a:defRPr>
            </a:pPr>
            <a:r>
              <a:rPr sz="900" b="1">
                <a:solidFill>
                  <a:srgbClr val="1264A3"/>
                </a:solidFill>
              </a:rPr>
              <a:t>CSA15  |  CLOUD COMPUTING AND BIG DATA ANALYTICS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84DC80F-B1CA-4D0D-96F4-8EC3D3D1909D}"/>
              </a:ext>
            </a:extLst>
          </p:cNvPr>
          <p:cNvSpPr>
            <a:spLocks noGrp="1"/>
          </p:cNvSpPr>
          <p:nvPr/>
        </p:nvSpPr>
        <p:spPr>
          <a:xfrm>
            <a:off x="9572625" y="266700"/>
            <a:ext cx="2095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825" b="1">
                <a:solidFill>
                  <a:srgbClr val="0B7895"/>
                </a:solidFill>
              </a:defRPr>
            </a:pPr>
            <a:r>
              <a:rPr sz="825" b="1">
                <a:solidFill>
                  <a:srgbClr val="0B7895"/>
                </a:solidFill>
              </a:rPr>
              <a:t>BUILD EVIDENCE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8084E9D-45A2-4F81-9BAA-AB44AD3FC9EF}"/>
              </a:ext>
            </a:extLst>
          </p:cNvPr>
          <p:cNvSpPr>
            <a:spLocks noGrp="1"/>
          </p:cNvSpPr>
          <p:nvPr/>
        </p:nvSpPr>
        <p:spPr>
          <a:xfrm>
            <a:off x="514350" y="981075"/>
            <a:ext cx="102870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2325" b="1">
                <a:solidFill>
                  <a:srgbClr val="0B2E4F"/>
                </a:solidFill>
              </a:defRPr>
            </a:pPr>
            <a:r>
              <a:rPr sz="2325" b="1">
                <a:solidFill>
                  <a:srgbClr val="0B2E4F"/>
                </a:solidFill>
              </a:rPr>
              <a:t>Module 2: Implementation Evidence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CE01E350-56CF-4DA9-94F5-169598D7E369}"/>
              </a:ext>
            </a:extLst>
          </p:cNvPr>
          <p:cNvSpPr>
            <a:spLocks noGrp="1"/>
          </p:cNvSpPr>
          <p:nvPr/>
        </p:nvSpPr>
        <p:spPr>
          <a:xfrm>
            <a:off x="533400" y="1457325"/>
            <a:ext cx="10287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1125" b="0">
                <a:solidFill>
                  <a:srgbClr val="52677A"/>
                </a:solidFill>
              </a:defRPr>
            </a:pPr>
            <a:r>
              <a:rPr sz="1125" b="0">
                <a:solidFill>
                  <a:srgbClr val="52677A"/>
                </a:solidFill>
              </a:rPr>
              <a:t>Present working evidence, validation and the hand-off to the next stage.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BEC3AC36-BEF3-425A-9405-A2D535F8CD0F}"/>
              </a:ext>
            </a:extLst>
          </p:cNvPr>
          <p:cNvSpPr>
            <a:spLocks noGrp="1"/>
          </p:cNvSpPr>
          <p:nvPr/>
        </p:nvSpPr>
        <p:spPr>
          <a:xfrm>
            <a:off x="514350" y="1847850"/>
            <a:ext cx="11153775" cy="19050"/>
          </a:xfrm>
          <a:prstGeom prst="rect">
            <a:avLst/>
          </a:prstGeom>
          <a:solidFill>
            <a:srgbClr val="C9D6E2"/>
          </a:solidFill>
          <a:ln w="0">
            <a:solidFill>
              <a:srgbClr val="C9D6E2"/>
            </a:solidFill>
            <a:prstDash val="solid"/>
          </a:ln>
        </p:spPr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A95AF01-2E70-4A0E-8A2F-528C810520F7}"/>
              </a:ext>
            </a:extLst>
          </p:cNvPr>
          <p:cNvSpPr>
            <a:spLocks noGrp="1"/>
          </p:cNvSpPr>
          <p:nvPr/>
        </p:nvSpPr>
        <p:spPr>
          <a:xfrm>
            <a:off x="0" y="6419850"/>
            <a:ext cx="12182475" cy="438150"/>
          </a:xfrm>
          <a:prstGeom prst="rect">
            <a:avLst/>
          </a:prstGeom>
          <a:solidFill>
            <a:srgbClr val="0B2E4F"/>
          </a:solidFill>
          <a:ln w="0">
            <a:solidFill>
              <a:srgbClr val="0B2E4F"/>
            </a:solidFill>
            <a:prstDash val="solid"/>
          </a:ln>
        </p:spPr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4DFB9966-6F85-4CE8-9175-F1BD0A889DDD}"/>
              </a:ext>
            </a:extLst>
          </p:cNvPr>
          <p:cNvSpPr>
            <a:spLocks noGrp="1"/>
          </p:cNvSpPr>
          <p:nvPr/>
        </p:nvSpPr>
        <p:spPr>
          <a:xfrm>
            <a:off x="11049000" y="6515100"/>
            <a:ext cx="6191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975" b="1">
                <a:solidFill>
                  <a:srgbClr val="D39216"/>
                </a:solidFill>
              </a:defRPr>
            </a:pPr>
            <a:r>
              <a:rPr sz="975" b="1">
                <a:solidFill>
                  <a:srgbClr val="D39216"/>
                </a:solidFill>
              </a:rPr>
              <a:t>13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CD1B6AD5-7B20-42EF-AA07-040944747D8F}"/>
              </a:ext>
            </a:extLst>
          </p:cNvPr>
          <p:cNvSpPr>
            <a:spLocks noGrp="1"/>
          </p:cNvSpPr>
          <p:nvPr/>
        </p:nvSpPr>
        <p:spPr>
          <a:xfrm>
            <a:off x="4191000" y="6715125"/>
            <a:ext cx="3810000" cy="1047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600" b="0">
                <a:solidFill>
                  <a:srgbClr val="BFD3E1"/>
                </a:solidFill>
              </a:defRPr>
            </a:pPr>
            <a:r>
              <a:rPr sz="600" b="0">
                <a:solidFill>
                  <a:srgbClr val="BFD3E1"/>
                </a:solidFill>
              </a:rPr>
              <a:t>Dr. C. Rajesh Babu | SSETSCS415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DDD3C209-B2B6-4B5F-8013-F55826D64770}"/>
              </a:ext>
            </a:extLst>
          </p:cNvPr>
          <p:cNvSpPr>
            <a:spLocks noGrp="1"/>
          </p:cNvSpPr>
          <p:nvPr/>
        </p:nvSpPr>
        <p:spPr>
          <a:xfrm>
            <a:off x="514350" y="2133600"/>
            <a:ext cx="6534150" cy="3714750"/>
          </a:xfrm>
          <a:prstGeom prst="rect">
            <a:avLst/>
          </a:prstGeom>
          <a:solidFill>
            <a:srgbClr val="EAF3F8"/>
          </a:solidFill>
          <a:ln w="19050">
            <a:solidFill>
              <a:srgbClr val="1264A3"/>
            </a:solidFill>
            <a:prstDash val="solid"/>
          </a:ln>
        </p:spPr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8755D226-90D7-43D7-BCE7-054FADD0D07A}"/>
              </a:ext>
            </a:extLst>
          </p:cNvPr>
          <p:cNvSpPr>
            <a:spLocks noGrp="1"/>
          </p:cNvSpPr>
          <p:nvPr/>
        </p:nvSpPr>
        <p:spPr>
          <a:xfrm>
            <a:off x="809625" y="3333750"/>
            <a:ext cx="594360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1425" b="1">
                <a:solidFill>
                  <a:srgbClr val="1264A3"/>
                </a:solidFill>
              </a:defRPr>
            </a:pPr>
            <a:r>
              <a:rPr sz="1425" b="1">
                <a:solidFill>
                  <a:srgbClr val="1264A3"/>
                </a:solidFill>
              </a:rPr>
              <a:t>[PASTE MODULE 2 SCREENSHOT / OUTPUT / GRAPH]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25FBC068-B69C-4157-99FE-26EFCB600BFC}"/>
              </a:ext>
            </a:extLst>
          </p:cNvPr>
          <p:cNvSpPr>
            <a:spLocks noGrp="1"/>
          </p:cNvSpPr>
          <p:nvPr/>
        </p:nvSpPr>
        <p:spPr>
          <a:xfrm>
            <a:off x="876300" y="3952875"/>
            <a:ext cx="581025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1050" b="0">
                <a:solidFill>
                  <a:srgbClr val="52677A"/>
                </a:solidFill>
              </a:defRPr>
            </a:pPr>
            <a:r>
              <a:rPr sz="1050" b="0">
                <a:solidFill>
                  <a:srgbClr val="52677A"/>
                </a:solidFill>
              </a:rPr>
              <a:t>Use a readable image. Crop browser chrome and expose the result, not an empty interface.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E1262FFE-39FA-423C-9AC0-12B18DABD09A}"/>
              </a:ext>
            </a:extLst>
          </p:cNvPr>
          <p:cNvSpPr>
            <a:spLocks noGrp="1"/>
          </p:cNvSpPr>
          <p:nvPr/>
        </p:nvSpPr>
        <p:spPr>
          <a:xfrm>
            <a:off x="7296150" y="2133600"/>
            <a:ext cx="4371975" cy="1066800"/>
          </a:xfrm>
          <a:prstGeom prst="rect">
            <a:avLst/>
          </a:prstGeom>
          <a:solidFill>
            <a:srgbClr val="FFFFFF"/>
          </a:solidFill>
          <a:ln w="9525">
            <a:solidFill>
              <a:srgbClr val="C9D6E2"/>
            </a:solidFill>
            <a:prstDash val="solid"/>
          </a:ln>
        </p:spPr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A8DEB893-DA32-488E-BD00-B6D65DABFF20}"/>
              </a:ext>
            </a:extLst>
          </p:cNvPr>
          <p:cNvSpPr>
            <a:spLocks noGrp="1"/>
          </p:cNvSpPr>
          <p:nvPr/>
        </p:nvSpPr>
        <p:spPr>
          <a:xfrm>
            <a:off x="7296150" y="2133600"/>
            <a:ext cx="57150" cy="1066800"/>
          </a:xfrm>
          <a:prstGeom prst="rect">
            <a:avLst/>
          </a:prstGeom>
          <a:solidFill>
            <a:srgbClr val="1264A3"/>
          </a:solidFill>
          <a:ln w="0">
            <a:solidFill>
              <a:srgbClr val="1264A3"/>
            </a:solidFill>
            <a:prstDash val="solid"/>
          </a:ln>
        </p:spPr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069C1BC3-3DA4-4BC9-B4BB-061639383876}"/>
              </a:ext>
            </a:extLst>
          </p:cNvPr>
          <p:cNvSpPr>
            <a:spLocks noGrp="1"/>
          </p:cNvSpPr>
          <p:nvPr/>
        </p:nvSpPr>
        <p:spPr>
          <a:xfrm>
            <a:off x="7505700" y="2286000"/>
            <a:ext cx="3971925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900" b="1">
                <a:solidFill>
                  <a:srgbClr val="1264A3"/>
                </a:solidFill>
              </a:defRPr>
            </a:pPr>
            <a:r>
              <a:rPr sz="900" b="1">
                <a:solidFill>
                  <a:srgbClr val="1264A3"/>
                </a:solidFill>
              </a:rPr>
              <a:t>BUILD DETAILS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6EC5E769-ABB5-407F-9BA8-FCF0C813A188}"/>
              </a:ext>
            </a:extLst>
          </p:cNvPr>
          <p:cNvSpPr>
            <a:spLocks noGrp="1"/>
          </p:cNvSpPr>
          <p:nvPr/>
        </p:nvSpPr>
        <p:spPr>
          <a:xfrm>
            <a:off x="7505700" y="2590800"/>
            <a:ext cx="3971925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1125" b="0">
                <a:solidFill>
                  <a:srgbClr val="183247"/>
                </a:solidFill>
              </a:defRPr>
            </a:pPr>
            <a:r>
              <a:rPr sz="1125" b="0">
                <a:solidFill>
                  <a:srgbClr val="183247"/>
                </a:solidFill>
              </a:rPr>
              <a:t>FastAPI expiry-check endpoint querying PostgreSQL 15 via indexed date-range queries; deployed alongside Module 1 services.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BC34CD18-C266-4DAE-B84F-0A15AD156F57}"/>
              </a:ext>
            </a:extLst>
          </p:cNvPr>
          <p:cNvSpPr>
            <a:spLocks noGrp="1"/>
          </p:cNvSpPr>
          <p:nvPr/>
        </p:nvSpPr>
        <p:spPr>
          <a:xfrm>
            <a:off x="7296150" y="3333750"/>
            <a:ext cx="4371975" cy="1066800"/>
          </a:xfrm>
          <a:prstGeom prst="rect">
            <a:avLst/>
          </a:prstGeom>
          <a:solidFill>
            <a:srgbClr val="FFFFFF"/>
          </a:solidFill>
          <a:ln w="9525">
            <a:solidFill>
              <a:srgbClr val="C9D6E2"/>
            </a:solidFill>
            <a:prstDash val="solid"/>
          </a:ln>
        </p:spPr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1BB810C0-AF56-4C14-9C85-6044FEA8BC3E}"/>
              </a:ext>
            </a:extLst>
          </p:cNvPr>
          <p:cNvSpPr>
            <a:spLocks noGrp="1"/>
          </p:cNvSpPr>
          <p:nvPr/>
        </p:nvSpPr>
        <p:spPr>
          <a:xfrm>
            <a:off x="7296150" y="3333750"/>
            <a:ext cx="57150" cy="1066800"/>
          </a:xfrm>
          <a:prstGeom prst="rect">
            <a:avLst/>
          </a:prstGeom>
          <a:solidFill>
            <a:srgbClr val="0B7895"/>
          </a:solidFill>
          <a:ln w="0">
            <a:solidFill>
              <a:srgbClr val="0B7895"/>
            </a:solidFill>
            <a:prstDash val="solid"/>
          </a:ln>
        </p:spPr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3D677ACF-60DC-4DE4-95FB-6321B7D05C23}"/>
              </a:ext>
            </a:extLst>
          </p:cNvPr>
          <p:cNvSpPr>
            <a:spLocks noGrp="1"/>
          </p:cNvSpPr>
          <p:nvPr/>
        </p:nvSpPr>
        <p:spPr>
          <a:xfrm>
            <a:off x="7505700" y="3486150"/>
            <a:ext cx="3971925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900" b="1">
                <a:solidFill>
                  <a:srgbClr val="0B7895"/>
                </a:solidFill>
              </a:defRPr>
            </a:pPr>
            <a:r>
              <a:rPr sz="900" b="1">
                <a:solidFill>
                  <a:srgbClr val="0B7895"/>
                </a:solidFill>
              </a:rPr>
              <a:t>VALIDATION EVIDENCE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9282E087-3A3C-4F59-8250-5511BB39541C}"/>
              </a:ext>
            </a:extLst>
          </p:cNvPr>
          <p:cNvSpPr>
            <a:spLocks noGrp="1"/>
          </p:cNvSpPr>
          <p:nvPr/>
        </p:nvSpPr>
        <p:spPr>
          <a:xfrm>
            <a:off x="7505700" y="3790950"/>
            <a:ext cx="3971925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1125" b="0">
                <a:solidFill>
                  <a:srgbClr val="183247"/>
                </a:solidFill>
              </a:defRPr>
            </a:pPr>
            <a:r>
              <a:rPr sz="1125" b="0">
                <a:solidFill>
                  <a:srgbClr val="183247"/>
                </a:solidFill>
              </a:rPr>
              <a:t>Correctly flagged all test medicine records within the configured near-expiry window and correctly separated expired from active stock.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64BF20B9-9045-49BD-A73C-8843556466E3}"/>
              </a:ext>
            </a:extLst>
          </p:cNvPr>
          <p:cNvSpPr>
            <a:spLocks noGrp="1"/>
          </p:cNvSpPr>
          <p:nvPr/>
        </p:nvSpPr>
        <p:spPr>
          <a:xfrm>
            <a:off x="7296150" y="4533900"/>
            <a:ext cx="4371975" cy="1314450"/>
          </a:xfrm>
          <a:prstGeom prst="rect">
            <a:avLst/>
          </a:prstGeom>
          <a:solidFill>
            <a:srgbClr val="FFFFFF"/>
          </a:solidFill>
          <a:ln w="9525">
            <a:solidFill>
              <a:srgbClr val="C9D6E2"/>
            </a:solidFill>
            <a:prstDash val="solid"/>
          </a:ln>
        </p:spPr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41789B2F-E944-40A2-8D0C-9A06BE845CAB}"/>
              </a:ext>
            </a:extLst>
          </p:cNvPr>
          <p:cNvSpPr>
            <a:spLocks noGrp="1"/>
          </p:cNvSpPr>
          <p:nvPr/>
        </p:nvSpPr>
        <p:spPr>
          <a:xfrm>
            <a:off x="7296150" y="4533900"/>
            <a:ext cx="57150" cy="1314450"/>
          </a:xfrm>
          <a:prstGeom prst="rect">
            <a:avLst/>
          </a:prstGeom>
          <a:solidFill>
            <a:srgbClr val="D39216"/>
          </a:solidFill>
          <a:ln w="0">
            <a:solidFill>
              <a:srgbClr val="D39216"/>
            </a:solidFill>
            <a:prstDash val="solid"/>
          </a:ln>
        </p:spPr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1E545B84-A83B-4734-A80F-E9F4001DA553}"/>
              </a:ext>
            </a:extLst>
          </p:cNvPr>
          <p:cNvSpPr>
            <a:spLocks noGrp="1"/>
          </p:cNvSpPr>
          <p:nvPr/>
        </p:nvSpPr>
        <p:spPr>
          <a:xfrm>
            <a:off x="7505700" y="4686300"/>
            <a:ext cx="3971925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900" b="1">
                <a:solidFill>
                  <a:srgbClr val="D39216"/>
                </a:solidFill>
              </a:defRPr>
            </a:pPr>
            <a:r>
              <a:rPr sz="900" b="1">
                <a:solidFill>
                  <a:srgbClr val="D39216"/>
                </a:solidFill>
              </a:rPr>
              <a:t>MODULE HAND-OFF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A1BF45A5-02DF-4A4B-B8E7-F78BBBBCCC9F}"/>
              </a:ext>
            </a:extLst>
          </p:cNvPr>
          <p:cNvSpPr>
            <a:spLocks noGrp="1"/>
          </p:cNvSpPr>
          <p:nvPr/>
        </p:nvSpPr>
        <p:spPr>
          <a:xfrm>
            <a:off x="7505700" y="4991100"/>
            <a:ext cx="3971925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1125" b="0">
                <a:solidFill>
                  <a:srgbClr val="183247"/>
                </a:solidFill>
              </a:defRPr>
            </a:pPr>
            <a:r>
              <a:rPr sz="1125" b="0">
                <a:solidFill>
                  <a:srgbClr val="183247"/>
                </a:solidFill>
              </a:rPr>
              <a:t>Expiry and waste data feeds the Module 3 analytics dashboard.</a:t>
            </a:r>
          </a:p>
        </p:txBody>
      </p:sp>
    </p:spTree>
    <p:extLst>
      <p:ext uri="{BB962C8B-B14F-4D97-AF65-F5344CB8AC3E}">
        <p14:creationId xmlns:p14="http://schemas.microsoft.com/office/powerpoint/2010/main" val="153050183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>
            <a:extLst>
              <a:ext uri="{FF2B5EF4-FFF2-40B4-BE49-F238E27FC236}">
                <a16:creationId xmlns:a16="http://schemas.microsoft.com/office/drawing/2014/main" id="{AE15B896-460E-487D-8C0C-36C0A3F9322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82475" cy="76200"/>
          </a:xfrm>
          <a:prstGeom prst="rect">
            <a:avLst/>
          </a:prstGeom>
          <a:solidFill>
            <a:srgbClr val="0B7895"/>
          </a:solidFill>
          <a:ln w="0">
            <a:solidFill>
              <a:srgbClr val="0B7895"/>
            </a:solidFill>
            <a:prstDash val="solid"/>
          </a:ln>
        </p:spPr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D996D498-A201-4FFD-9BAF-CB0BBD5F8578}"/>
              </a:ext>
            </a:extLst>
          </p:cNvPr>
          <p:cNvSpPr>
            <a:spLocks noGrp="1"/>
          </p:cNvSpPr>
          <p:nvPr/>
        </p:nvSpPr>
        <p:spPr>
          <a:xfrm>
            <a:off x="438150" y="228600"/>
            <a:ext cx="1000125" cy="552450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9525">
            <a:solidFill>
              <a:srgbClr val="C9D6E2"/>
            </a:solidFill>
            <a:prstDash val="solid"/>
          </a:ln>
        </p:spPr>
      </p:sp>
      <p:pic>
        <p:nvPicPr>
          <p:cNvPr id="27" name="Picture 26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514350" y="450359"/>
            <a:ext cx="847725" cy="108932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92F11F87-D904-4354-8BCF-46E325617586}"/>
              </a:ext>
            </a:extLst>
          </p:cNvPr>
          <p:cNvSpPr>
            <a:spLocks noGrp="1"/>
          </p:cNvSpPr>
          <p:nvPr/>
        </p:nvSpPr>
        <p:spPr>
          <a:xfrm>
            <a:off x="1657350" y="266700"/>
            <a:ext cx="6953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900" b="1">
                <a:solidFill>
                  <a:srgbClr val="1264A3"/>
                </a:solidFill>
              </a:defRPr>
            </a:pPr>
            <a:r>
              <a:rPr sz="900" b="1">
                <a:solidFill>
                  <a:srgbClr val="1264A3"/>
                </a:solidFill>
              </a:rPr>
              <a:t>CSA15  |  CLOUD COMPUTING AND BIG DATA ANALYTICS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F480BBD-8AB9-4D73-AF9D-08B3B799B500}"/>
              </a:ext>
            </a:extLst>
          </p:cNvPr>
          <p:cNvSpPr>
            <a:spLocks noGrp="1"/>
          </p:cNvSpPr>
          <p:nvPr/>
        </p:nvSpPr>
        <p:spPr>
          <a:xfrm>
            <a:off x="9572625" y="266700"/>
            <a:ext cx="2095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825" b="1">
                <a:solidFill>
                  <a:srgbClr val="0B7895"/>
                </a:solidFill>
              </a:defRPr>
            </a:pPr>
            <a:r>
              <a:rPr sz="825" b="1">
                <a:solidFill>
                  <a:srgbClr val="0B7895"/>
                </a:solidFill>
              </a:rPr>
              <a:t>CAPSTONE FINAL DEFENSE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C4617E1-4B71-483B-8A1F-673922062FC2}"/>
              </a:ext>
            </a:extLst>
          </p:cNvPr>
          <p:cNvSpPr>
            <a:spLocks noGrp="1"/>
          </p:cNvSpPr>
          <p:nvPr/>
        </p:nvSpPr>
        <p:spPr>
          <a:xfrm>
            <a:off x="514350" y="981075"/>
            <a:ext cx="102870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2325" b="1">
                <a:solidFill>
                  <a:srgbClr val="0B2E4F"/>
                </a:solidFill>
              </a:defRPr>
            </a:pPr>
            <a:r>
              <a:rPr sz="2325" b="1">
                <a:solidFill>
                  <a:srgbClr val="0B2E4F"/>
                </a:solidFill>
              </a:rPr>
              <a:t>Module 3: Functional Scope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1575751-F063-4E27-A6D0-E9980944E3A2}"/>
              </a:ext>
            </a:extLst>
          </p:cNvPr>
          <p:cNvSpPr>
            <a:spLocks noGrp="1"/>
          </p:cNvSpPr>
          <p:nvPr/>
        </p:nvSpPr>
        <p:spPr>
          <a:xfrm>
            <a:off x="533400" y="1457325"/>
            <a:ext cx="10287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1125" b="0">
                <a:solidFill>
                  <a:srgbClr val="52677A"/>
                </a:solidFill>
              </a:defRPr>
            </a:pPr>
            <a:r>
              <a:rPr sz="1125" b="0">
                <a:solidFill>
                  <a:srgbClr val="52677A"/>
                </a:solidFill>
              </a:rPr>
              <a:t>Define the final major module and its contribution to the complete product.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331E1B3-D214-4008-8EB3-77AEA9A87D13}"/>
              </a:ext>
            </a:extLst>
          </p:cNvPr>
          <p:cNvSpPr>
            <a:spLocks noGrp="1"/>
          </p:cNvSpPr>
          <p:nvPr/>
        </p:nvSpPr>
        <p:spPr>
          <a:xfrm>
            <a:off x="514350" y="1847850"/>
            <a:ext cx="11153775" cy="19050"/>
          </a:xfrm>
          <a:prstGeom prst="rect">
            <a:avLst/>
          </a:prstGeom>
          <a:solidFill>
            <a:srgbClr val="C9D6E2"/>
          </a:solidFill>
          <a:ln w="0">
            <a:solidFill>
              <a:srgbClr val="C9D6E2"/>
            </a:solidFill>
            <a:prstDash val="solid"/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42E56E3-8AD1-414F-AE63-90C54692E409}"/>
              </a:ext>
            </a:extLst>
          </p:cNvPr>
          <p:cNvSpPr>
            <a:spLocks noGrp="1"/>
          </p:cNvSpPr>
          <p:nvPr/>
        </p:nvSpPr>
        <p:spPr>
          <a:xfrm>
            <a:off x="0" y="6419850"/>
            <a:ext cx="12182475" cy="438150"/>
          </a:xfrm>
          <a:prstGeom prst="rect">
            <a:avLst/>
          </a:prstGeom>
          <a:solidFill>
            <a:srgbClr val="0B2E4F"/>
          </a:solidFill>
          <a:ln w="0">
            <a:solidFill>
              <a:srgbClr val="0B2E4F"/>
            </a:solidFill>
            <a:prstDash val="solid"/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6C90A5A-25AC-4D4A-9867-4F04EBFF6901}"/>
              </a:ext>
            </a:extLst>
          </p:cNvPr>
          <p:cNvSpPr>
            <a:spLocks noGrp="1"/>
          </p:cNvSpPr>
          <p:nvPr/>
        </p:nvSpPr>
        <p:spPr>
          <a:xfrm>
            <a:off x="11049000" y="6515100"/>
            <a:ext cx="6191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975" b="1">
                <a:solidFill>
                  <a:srgbClr val="D39216"/>
                </a:solidFill>
              </a:defRPr>
            </a:pPr>
            <a:r>
              <a:rPr sz="975" b="1">
                <a:solidFill>
                  <a:srgbClr val="D39216"/>
                </a:solidFill>
              </a:rPr>
              <a:t>14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A3F0EDE-9F5F-4CFB-BD86-4B754F2D0DB5}"/>
              </a:ext>
            </a:extLst>
          </p:cNvPr>
          <p:cNvSpPr>
            <a:spLocks noGrp="1"/>
          </p:cNvSpPr>
          <p:nvPr/>
        </p:nvSpPr>
        <p:spPr>
          <a:xfrm>
            <a:off x="4191000" y="6715125"/>
            <a:ext cx="3810000" cy="1047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600" b="0">
                <a:solidFill>
                  <a:srgbClr val="BFD3E1"/>
                </a:solidFill>
              </a:defRPr>
            </a:pPr>
            <a:r>
              <a:rPr sz="600" b="0">
                <a:solidFill>
                  <a:srgbClr val="BFD3E1"/>
                </a:solidFill>
              </a:rPr>
              <a:t>Dr. C. Rajesh Babu | SSETSCS415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A7E437F-F29E-4B7F-AF5E-809A74F4F9DB}"/>
              </a:ext>
            </a:extLst>
          </p:cNvPr>
          <p:cNvSpPr>
            <a:spLocks noGrp="1"/>
          </p:cNvSpPr>
          <p:nvPr/>
        </p:nvSpPr>
        <p:spPr>
          <a:xfrm>
            <a:off x="514350" y="2143125"/>
            <a:ext cx="3565525" cy="3571875"/>
          </a:xfrm>
          <a:prstGeom prst="rect">
            <a:avLst/>
          </a:prstGeom>
          <a:solidFill>
            <a:srgbClr val="FFFFFF"/>
          </a:solidFill>
          <a:ln w="9525">
            <a:solidFill>
              <a:srgbClr val="C9D6E2"/>
            </a:solidFill>
            <a:prstDash val="solid"/>
          </a:ln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1530AB5-46BB-4E20-8EAF-1DCD27E11DEA}"/>
              </a:ext>
            </a:extLst>
          </p:cNvPr>
          <p:cNvSpPr>
            <a:spLocks noGrp="1"/>
          </p:cNvSpPr>
          <p:nvPr/>
        </p:nvSpPr>
        <p:spPr>
          <a:xfrm>
            <a:off x="514350" y="2143125"/>
            <a:ext cx="57150" cy="3571875"/>
          </a:xfrm>
          <a:prstGeom prst="rect">
            <a:avLst/>
          </a:prstGeom>
          <a:solidFill>
            <a:srgbClr val="1264A3"/>
          </a:solidFill>
          <a:ln w="0">
            <a:solidFill>
              <a:srgbClr val="1264A3"/>
            </a:solidFill>
            <a:prstDash val="solid"/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0333760-26A0-4381-8F9A-3AA17EDDC681}"/>
              </a:ext>
            </a:extLst>
          </p:cNvPr>
          <p:cNvSpPr>
            <a:spLocks noGrp="1"/>
          </p:cNvSpPr>
          <p:nvPr/>
        </p:nvSpPr>
        <p:spPr>
          <a:xfrm>
            <a:off x="723900" y="2295525"/>
            <a:ext cx="3165475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900" b="1">
                <a:solidFill>
                  <a:srgbClr val="1264A3"/>
                </a:solidFill>
              </a:defRPr>
            </a:pPr>
            <a:r>
              <a:rPr sz="900" b="1">
                <a:solidFill>
                  <a:srgbClr val="1264A3"/>
                </a:solidFill>
              </a:rPr>
              <a:t>PURPOSE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3F9D39E-F443-4A9B-B61C-DA1485066CBC}"/>
              </a:ext>
            </a:extLst>
          </p:cNvPr>
          <p:cNvSpPr>
            <a:spLocks noGrp="1"/>
          </p:cNvSpPr>
          <p:nvPr/>
        </p:nvSpPr>
        <p:spPr>
          <a:xfrm>
            <a:off x="723900" y="2600325"/>
            <a:ext cx="3165475" cy="2981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1275" b="0">
                <a:solidFill>
                  <a:srgbClr val="183247"/>
                </a:solidFill>
              </a:defRPr>
            </a:pPr>
            <a:r>
              <a:rPr sz="1275" b="0">
                <a:solidFill>
                  <a:srgbClr val="183247"/>
                </a:solidFill>
              </a:rPr>
              <a:t>Provides secure login and role-based access for administrators and pharmacy staff; displays stock levels, low-stock medicines, expiry alerts and usage statistics; reduces unnecessary data processing to support green computing.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64D67BEB-C214-4BAA-B0DA-F607ED82AD13}"/>
              </a:ext>
            </a:extLst>
          </p:cNvPr>
          <p:cNvSpPr>
            <a:spLocks noGrp="1"/>
          </p:cNvSpPr>
          <p:nvPr/>
        </p:nvSpPr>
        <p:spPr>
          <a:xfrm>
            <a:off x="4308475" y="2143125"/>
            <a:ext cx="3565525" cy="3571875"/>
          </a:xfrm>
          <a:prstGeom prst="rect">
            <a:avLst/>
          </a:prstGeom>
          <a:solidFill>
            <a:srgbClr val="FFFFFF"/>
          </a:solidFill>
          <a:ln w="9525">
            <a:solidFill>
              <a:srgbClr val="C9D6E2"/>
            </a:solidFill>
            <a:prstDash val="solid"/>
          </a:ln>
        </p:spPr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6E0AC0D-0F75-4D51-8F7C-1A5338BC598C}"/>
              </a:ext>
            </a:extLst>
          </p:cNvPr>
          <p:cNvSpPr>
            <a:spLocks noGrp="1"/>
          </p:cNvSpPr>
          <p:nvPr/>
        </p:nvSpPr>
        <p:spPr>
          <a:xfrm>
            <a:off x="4308475" y="2143125"/>
            <a:ext cx="57150" cy="3571875"/>
          </a:xfrm>
          <a:prstGeom prst="rect">
            <a:avLst/>
          </a:prstGeom>
          <a:solidFill>
            <a:srgbClr val="0B7895"/>
          </a:solidFill>
          <a:ln w="0">
            <a:solidFill>
              <a:srgbClr val="0B7895"/>
            </a:solidFill>
            <a:prstDash val="solid"/>
          </a:ln>
        </p:spPr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575AD716-4941-4B17-A3D5-4BAABC81C955}"/>
              </a:ext>
            </a:extLst>
          </p:cNvPr>
          <p:cNvSpPr>
            <a:spLocks noGrp="1"/>
          </p:cNvSpPr>
          <p:nvPr/>
        </p:nvSpPr>
        <p:spPr>
          <a:xfrm>
            <a:off x="4518025" y="2295525"/>
            <a:ext cx="3165475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900" b="1">
                <a:solidFill>
                  <a:srgbClr val="0B7895"/>
                </a:solidFill>
              </a:defRPr>
            </a:pPr>
            <a:r>
              <a:rPr sz="900" b="1">
                <a:solidFill>
                  <a:srgbClr val="0B7895"/>
                </a:solidFill>
              </a:rPr>
              <a:t>INTERFACE CONTRACT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9F542DB0-A247-44E5-A15B-576C534A4944}"/>
              </a:ext>
            </a:extLst>
          </p:cNvPr>
          <p:cNvSpPr>
            <a:spLocks noGrp="1"/>
          </p:cNvSpPr>
          <p:nvPr/>
        </p:nvSpPr>
        <p:spPr>
          <a:xfrm>
            <a:off x="4518025" y="2600325"/>
            <a:ext cx="3165475" cy="2981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1275" b="0">
                <a:solidFill>
                  <a:srgbClr val="183247"/>
                </a:solidFill>
              </a:defRPr>
            </a:pPr>
            <a:r>
              <a:rPr sz="1275" b="0">
                <a:solidFill>
                  <a:srgbClr val="183247"/>
                </a:solidFill>
              </a:rPr>
              <a:t>Inputs: user credentials, aggregated inventory/expiry data from Modules 1-2. Outputs: dashboard visuals, usage-pattern and overstock/shortage analysis.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C78ACD07-8439-4DBE-9ADA-3F77D96EA4D5}"/>
              </a:ext>
            </a:extLst>
          </p:cNvPr>
          <p:cNvSpPr>
            <a:spLocks noGrp="1"/>
          </p:cNvSpPr>
          <p:nvPr/>
        </p:nvSpPr>
        <p:spPr>
          <a:xfrm>
            <a:off x="8102600" y="2143125"/>
            <a:ext cx="3565525" cy="3571875"/>
          </a:xfrm>
          <a:prstGeom prst="rect">
            <a:avLst/>
          </a:prstGeom>
          <a:solidFill>
            <a:srgbClr val="FFFFFF"/>
          </a:solidFill>
          <a:ln w="9525">
            <a:solidFill>
              <a:srgbClr val="C9D6E2"/>
            </a:solidFill>
            <a:prstDash val="solid"/>
          </a:ln>
        </p:spPr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DB285897-C289-4B8D-A062-C378A67BC7E3}"/>
              </a:ext>
            </a:extLst>
          </p:cNvPr>
          <p:cNvSpPr>
            <a:spLocks noGrp="1"/>
          </p:cNvSpPr>
          <p:nvPr/>
        </p:nvSpPr>
        <p:spPr>
          <a:xfrm>
            <a:off x="8102600" y="2143125"/>
            <a:ext cx="57150" cy="3571875"/>
          </a:xfrm>
          <a:prstGeom prst="rect">
            <a:avLst/>
          </a:prstGeom>
          <a:solidFill>
            <a:srgbClr val="D39216"/>
          </a:solidFill>
          <a:ln w="0">
            <a:solidFill>
              <a:srgbClr val="D39216"/>
            </a:solidFill>
            <a:prstDash val="solid"/>
          </a:ln>
        </p:spPr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899145E2-612A-4529-BA80-AE3A77A14EE4}"/>
              </a:ext>
            </a:extLst>
          </p:cNvPr>
          <p:cNvSpPr>
            <a:spLocks noGrp="1"/>
          </p:cNvSpPr>
          <p:nvPr/>
        </p:nvSpPr>
        <p:spPr>
          <a:xfrm>
            <a:off x="8312150" y="2295525"/>
            <a:ext cx="3165475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900" b="1">
                <a:solidFill>
                  <a:srgbClr val="D39216"/>
                </a:solidFill>
              </a:defRPr>
            </a:pPr>
            <a:r>
              <a:rPr sz="900" b="1">
                <a:solidFill>
                  <a:srgbClr val="D39216"/>
                </a:solidFill>
              </a:rPr>
              <a:t>ENGINEERING DECISION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532DB2B7-7D39-4FF1-A32E-47FAAD31410B}"/>
              </a:ext>
            </a:extLst>
          </p:cNvPr>
          <p:cNvSpPr>
            <a:spLocks noGrp="1"/>
          </p:cNvSpPr>
          <p:nvPr/>
        </p:nvSpPr>
        <p:spPr>
          <a:xfrm>
            <a:off x="8312150" y="2600325"/>
            <a:ext cx="3165475" cy="2981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1275" b="0">
                <a:solidFill>
                  <a:srgbClr val="183247"/>
                </a:solidFill>
              </a:defRPr>
            </a:pPr>
            <a:r>
              <a:rPr sz="1275" b="0">
                <a:solidFill>
                  <a:srgbClr val="183247"/>
                </a:solidFill>
              </a:rPr>
              <a:t>Role-based access control plus efficient, targeted aggregation queries to minimize compute/DB load (green-computing principle). Alternative considered: full real-time analytics pipeline, rejected as unnecessary overhead relative to actual need.</a:t>
            </a:r>
          </a:p>
        </p:txBody>
      </p:sp>
    </p:spTree>
    <p:extLst>
      <p:ext uri="{BB962C8B-B14F-4D97-AF65-F5344CB8AC3E}">
        <p14:creationId xmlns:p14="http://schemas.microsoft.com/office/powerpoint/2010/main" val="777110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379ED20E-27A4-443C-B1E3-4794DAEA278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82475" cy="76200"/>
          </a:xfrm>
          <a:prstGeom prst="rect">
            <a:avLst/>
          </a:prstGeom>
          <a:solidFill>
            <a:srgbClr val="0B7895"/>
          </a:solidFill>
          <a:ln w="0">
            <a:solidFill>
              <a:srgbClr val="0B7895"/>
            </a:solidFill>
            <a:prstDash val="solid"/>
          </a:ln>
        </p:spPr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C424E38B-5043-4CE6-A274-7E4789F3174A}"/>
              </a:ext>
            </a:extLst>
          </p:cNvPr>
          <p:cNvSpPr>
            <a:spLocks noGrp="1"/>
          </p:cNvSpPr>
          <p:nvPr/>
        </p:nvSpPr>
        <p:spPr>
          <a:xfrm>
            <a:off x="438150" y="228600"/>
            <a:ext cx="1000125" cy="552450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9525">
            <a:solidFill>
              <a:srgbClr val="C9D6E2"/>
            </a:solidFill>
            <a:prstDash val="solid"/>
          </a:ln>
        </p:spPr>
      </p:sp>
      <p:pic>
        <p:nvPicPr>
          <p:cNvPr id="23" name="Picture 22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514350" y="450359"/>
            <a:ext cx="847725" cy="108932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3BD6C831-3E2F-4A14-A706-B7866FA53188}"/>
              </a:ext>
            </a:extLst>
          </p:cNvPr>
          <p:cNvSpPr>
            <a:spLocks noGrp="1"/>
          </p:cNvSpPr>
          <p:nvPr/>
        </p:nvSpPr>
        <p:spPr>
          <a:xfrm>
            <a:off x="1657350" y="266700"/>
            <a:ext cx="6953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900" b="1">
                <a:solidFill>
                  <a:srgbClr val="1264A3"/>
                </a:solidFill>
              </a:defRPr>
            </a:pPr>
            <a:r>
              <a:rPr sz="900" b="1">
                <a:solidFill>
                  <a:srgbClr val="1264A3"/>
                </a:solidFill>
              </a:rPr>
              <a:t>CSA15  |  CLOUD COMPUTING AND BIG DATA ANALYTICS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C713506-582F-4119-9CE7-7415BFDA0E36}"/>
              </a:ext>
            </a:extLst>
          </p:cNvPr>
          <p:cNvSpPr>
            <a:spLocks noGrp="1"/>
          </p:cNvSpPr>
          <p:nvPr/>
        </p:nvSpPr>
        <p:spPr>
          <a:xfrm>
            <a:off x="9572625" y="266700"/>
            <a:ext cx="2095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825" b="1">
                <a:solidFill>
                  <a:srgbClr val="0B7895"/>
                </a:solidFill>
              </a:defRPr>
            </a:pPr>
            <a:r>
              <a:rPr sz="825" b="1">
                <a:solidFill>
                  <a:srgbClr val="0B7895"/>
                </a:solidFill>
              </a:rPr>
              <a:t>CAPSTONE FINAL DEFENSE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17ECDFB-8507-46B1-B898-FCA5013E3592}"/>
              </a:ext>
            </a:extLst>
          </p:cNvPr>
          <p:cNvSpPr>
            <a:spLocks noGrp="1"/>
          </p:cNvSpPr>
          <p:nvPr/>
        </p:nvSpPr>
        <p:spPr>
          <a:xfrm>
            <a:off x="514350" y="981075"/>
            <a:ext cx="102870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2325" b="1">
                <a:solidFill>
                  <a:srgbClr val="0B2E4F"/>
                </a:solidFill>
              </a:defRPr>
            </a:pPr>
            <a:r>
              <a:rPr sz="2325" b="1">
                <a:solidFill>
                  <a:srgbClr val="0B2E4F"/>
                </a:solidFill>
              </a:rPr>
              <a:t>Module 3: Technical Design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331CF12-ACBD-4D5C-9937-662FADEDD14B}"/>
              </a:ext>
            </a:extLst>
          </p:cNvPr>
          <p:cNvSpPr>
            <a:spLocks noGrp="1"/>
          </p:cNvSpPr>
          <p:nvPr/>
        </p:nvSpPr>
        <p:spPr>
          <a:xfrm>
            <a:off x="533400" y="1457325"/>
            <a:ext cx="10287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1125" b="0">
                <a:solidFill>
                  <a:srgbClr val="52677A"/>
                </a:solidFill>
              </a:defRPr>
            </a:pPr>
            <a:r>
              <a:rPr sz="1125" b="0">
                <a:solidFill>
                  <a:srgbClr val="52677A"/>
                </a:solidFill>
              </a:rPr>
              <a:t>Defend the integration logic, processing method and operational safeguards.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712CA9B-FC3F-4AF4-B2FF-10853E6ACDE7}"/>
              </a:ext>
            </a:extLst>
          </p:cNvPr>
          <p:cNvSpPr>
            <a:spLocks noGrp="1"/>
          </p:cNvSpPr>
          <p:nvPr/>
        </p:nvSpPr>
        <p:spPr>
          <a:xfrm>
            <a:off x="514350" y="1847850"/>
            <a:ext cx="11153775" cy="19050"/>
          </a:xfrm>
          <a:prstGeom prst="rect">
            <a:avLst/>
          </a:prstGeom>
          <a:solidFill>
            <a:srgbClr val="C9D6E2"/>
          </a:solidFill>
          <a:ln w="0">
            <a:solidFill>
              <a:srgbClr val="C9D6E2"/>
            </a:solidFill>
            <a:prstDash val="solid"/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32FC7BB-D786-4EF3-9945-C81C60318A46}"/>
              </a:ext>
            </a:extLst>
          </p:cNvPr>
          <p:cNvSpPr>
            <a:spLocks noGrp="1"/>
          </p:cNvSpPr>
          <p:nvPr/>
        </p:nvSpPr>
        <p:spPr>
          <a:xfrm>
            <a:off x="0" y="6419850"/>
            <a:ext cx="12182475" cy="438150"/>
          </a:xfrm>
          <a:prstGeom prst="rect">
            <a:avLst/>
          </a:prstGeom>
          <a:solidFill>
            <a:srgbClr val="0B2E4F"/>
          </a:solidFill>
          <a:ln w="0">
            <a:solidFill>
              <a:srgbClr val="0B2E4F"/>
            </a:solidFill>
            <a:prstDash val="solid"/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3CA995B-EC1E-4910-9B55-AAF68CD7E9C5}"/>
              </a:ext>
            </a:extLst>
          </p:cNvPr>
          <p:cNvSpPr>
            <a:spLocks noGrp="1"/>
          </p:cNvSpPr>
          <p:nvPr/>
        </p:nvSpPr>
        <p:spPr>
          <a:xfrm>
            <a:off x="11049000" y="6515100"/>
            <a:ext cx="6191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975" b="1">
                <a:solidFill>
                  <a:srgbClr val="D39216"/>
                </a:solidFill>
              </a:defRPr>
            </a:pPr>
            <a:r>
              <a:rPr sz="975" b="1">
                <a:solidFill>
                  <a:srgbClr val="D39216"/>
                </a:solidFill>
              </a:rPr>
              <a:t>15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26EDC2D-43BE-4522-9D1D-3793997845DA}"/>
              </a:ext>
            </a:extLst>
          </p:cNvPr>
          <p:cNvSpPr>
            <a:spLocks noGrp="1"/>
          </p:cNvSpPr>
          <p:nvPr/>
        </p:nvSpPr>
        <p:spPr>
          <a:xfrm>
            <a:off x="4191000" y="6715125"/>
            <a:ext cx="3810000" cy="1047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600" b="0">
                <a:solidFill>
                  <a:srgbClr val="BFD3E1"/>
                </a:solidFill>
              </a:defRPr>
            </a:pPr>
            <a:r>
              <a:rPr sz="600" b="0">
                <a:solidFill>
                  <a:srgbClr val="BFD3E1"/>
                </a:solidFill>
              </a:rPr>
              <a:t>Dr. C. Rajesh Babu | SSETSCS415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A472659-F19F-4B39-9F5C-0ED87B6BAD6D}"/>
              </a:ext>
            </a:extLst>
          </p:cNvPr>
          <p:cNvSpPr>
            <a:spLocks noGrp="1"/>
          </p:cNvSpPr>
          <p:nvPr/>
        </p:nvSpPr>
        <p:spPr>
          <a:xfrm>
            <a:off x="514350" y="2143125"/>
            <a:ext cx="5314950" cy="3619500"/>
          </a:xfrm>
          <a:prstGeom prst="rect">
            <a:avLst/>
          </a:prstGeom>
          <a:solidFill>
            <a:srgbClr val="FFFFFF"/>
          </a:solidFill>
          <a:ln w="9525">
            <a:solidFill>
              <a:srgbClr val="C9D6E2"/>
            </a:solidFill>
            <a:prstDash val="solid"/>
          </a:ln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45E1F57-E509-4F49-BA12-ACB96F54D01B}"/>
              </a:ext>
            </a:extLst>
          </p:cNvPr>
          <p:cNvSpPr>
            <a:spLocks noGrp="1"/>
          </p:cNvSpPr>
          <p:nvPr/>
        </p:nvSpPr>
        <p:spPr>
          <a:xfrm>
            <a:off x="514350" y="2143125"/>
            <a:ext cx="57150" cy="3619500"/>
          </a:xfrm>
          <a:prstGeom prst="rect">
            <a:avLst/>
          </a:prstGeom>
          <a:solidFill>
            <a:srgbClr val="1264A3"/>
          </a:solidFill>
          <a:ln w="0">
            <a:solidFill>
              <a:srgbClr val="1264A3"/>
            </a:solidFill>
            <a:prstDash val="solid"/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132288A-E396-4C01-8C24-2D84C264618C}"/>
              </a:ext>
            </a:extLst>
          </p:cNvPr>
          <p:cNvSpPr>
            <a:spLocks noGrp="1"/>
          </p:cNvSpPr>
          <p:nvPr/>
        </p:nvSpPr>
        <p:spPr>
          <a:xfrm>
            <a:off x="723900" y="2295525"/>
            <a:ext cx="4914900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900" b="1">
                <a:solidFill>
                  <a:srgbClr val="1264A3"/>
                </a:solidFill>
              </a:defRPr>
            </a:pPr>
            <a:r>
              <a:rPr sz="900" b="1">
                <a:solidFill>
                  <a:srgbClr val="1264A3"/>
                </a:solidFill>
              </a:rPr>
              <a:t>DESIGN AND DECISION FLOW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F2DC4A6-2A91-4416-A123-7A4C78BEC245}"/>
              </a:ext>
            </a:extLst>
          </p:cNvPr>
          <p:cNvSpPr>
            <a:spLocks noGrp="1"/>
          </p:cNvSpPr>
          <p:nvPr/>
        </p:nvSpPr>
        <p:spPr>
          <a:xfrm>
            <a:off x="723900" y="2600325"/>
            <a:ext cx="4914900" cy="3028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1200" b="0">
                <a:solidFill>
                  <a:srgbClr val="183247"/>
                </a:solidFill>
              </a:defRPr>
            </a:pPr>
            <a:r>
              <a:rPr sz="1200" b="0">
                <a:solidFill>
                  <a:srgbClr val="183247"/>
                </a:solidFill>
              </a:rPr>
              <a:t>Input (login credentials / dashboard request) -&gt; validation (credential check, role check) -&gt; processing (aggregation query) -&gt; data/service call (PostgreSQL aggregate) -&gt; output (dashboard stats) -&gt; error path (invalid credentials rejected).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81CA517-E8D4-4447-BBE7-4A635379C2A1}"/>
              </a:ext>
            </a:extLst>
          </p:cNvPr>
          <p:cNvSpPr>
            <a:spLocks noGrp="1"/>
          </p:cNvSpPr>
          <p:nvPr/>
        </p:nvSpPr>
        <p:spPr>
          <a:xfrm>
            <a:off x="6057900" y="2143125"/>
            <a:ext cx="5610225" cy="3619500"/>
          </a:xfrm>
          <a:prstGeom prst="rect">
            <a:avLst/>
          </a:prstGeom>
          <a:solidFill>
            <a:srgbClr val="FFFFFF"/>
          </a:solidFill>
          <a:ln w="9525">
            <a:solidFill>
              <a:srgbClr val="C9D6E2"/>
            </a:solidFill>
            <a:prstDash val="solid"/>
          </a:ln>
        </p:spPr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BE69D240-A23D-4706-970F-2C957075D0E8}"/>
              </a:ext>
            </a:extLst>
          </p:cNvPr>
          <p:cNvSpPr>
            <a:spLocks noGrp="1"/>
          </p:cNvSpPr>
          <p:nvPr/>
        </p:nvSpPr>
        <p:spPr>
          <a:xfrm>
            <a:off x="6057900" y="2143125"/>
            <a:ext cx="57150" cy="3619500"/>
          </a:xfrm>
          <a:prstGeom prst="rect">
            <a:avLst/>
          </a:prstGeom>
          <a:solidFill>
            <a:srgbClr val="0B7895"/>
          </a:solidFill>
          <a:ln w="0">
            <a:solidFill>
              <a:srgbClr val="0B7895"/>
            </a:solidFill>
            <a:prstDash val="solid"/>
          </a:ln>
        </p:spPr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176743A-AA8C-4F76-8899-409EBA3C312C}"/>
              </a:ext>
            </a:extLst>
          </p:cNvPr>
          <p:cNvSpPr>
            <a:spLocks noGrp="1"/>
          </p:cNvSpPr>
          <p:nvPr/>
        </p:nvSpPr>
        <p:spPr>
          <a:xfrm>
            <a:off x="6267450" y="2295525"/>
            <a:ext cx="5210175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900" b="1">
                <a:solidFill>
                  <a:srgbClr val="0B7895"/>
                </a:solidFill>
              </a:defRPr>
            </a:pPr>
            <a:r>
              <a:rPr sz="900" b="1">
                <a:solidFill>
                  <a:srgbClr val="0B7895"/>
                </a:solidFill>
              </a:rPr>
              <a:t>TECHNICAL DEFENSE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07A47EDC-7168-41CE-A7FA-90F1EA307692}"/>
              </a:ext>
            </a:extLst>
          </p:cNvPr>
          <p:cNvSpPr>
            <a:spLocks noGrp="1"/>
          </p:cNvSpPr>
          <p:nvPr/>
        </p:nvSpPr>
        <p:spPr>
          <a:xfrm>
            <a:off x="6267450" y="2600325"/>
            <a:ext cx="5210175" cy="3028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1200" b="0">
                <a:solidFill>
                  <a:srgbClr val="183247"/>
                </a:solidFill>
              </a:defRPr>
            </a:pPr>
            <a:r>
              <a:rPr sz="1200" b="0">
                <a:solidFill>
                  <a:srgbClr val="183247"/>
                </a:solidFill>
              </a:rPr>
              <a:t>Chosen algorithm: aggregation queries computing stock, low-stock and expiry statistics.</a:t>
            </a:r>
          </a:p>
          <a:p>
            <a:pPr>
              <a:defRPr sz="1200" b="0">
                <a:solidFill>
                  <a:srgbClr val="183247"/>
                </a:solidFill>
              </a:defRPr>
            </a:pPr>
            <a:endParaRPr sz="1200" b="0">
              <a:solidFill>
                <a:srgbClr val="183247"/>
              </a:solidFill>
            </a:endParaRPr>
          </a:p>
          <a:p>
            <a:pPr>
              <a:defRPr sz="1200" b="0">
                <a:solidFill>
                  <a:srgbClr val="183247"/>
                </a:solidFill>
              </a:defRPr>
            </a:pPr>
            <a:r>
              <a:rPr sz="1200" b="0">
                <a:solidFill>
                  <a:srgbClr val="183247"/>
                </a:solidFill>
              </a:rPr>
              <a:t>Data structure: users table with roles; aggregated views over medicines/purchases tables.</a:t>
            </a:r>
          </a:p>
          <a:p>
            <a:pPr>
              <a:defRPr sz="1200" b="0">
                <a:solidFill>
                  <a:srgbClr val="183247"/>
                </a:solidFill>
              </a:defRPr>
            </a:pPr>
            <a:endParaRPr sz="1200" b="0">
              <a:solidFill>
                <a:srgbClr val="183247"/>
              </a:solidFill>
            </a:endParaRPr>
          </a:p>
          <a:p>
            <a:pPr>
              <a:defRPr sz="1200" b="0">
                <a:solidFill>
                  <a:srgbClr val="183247"/>
                </a:solidFill>
              </a:defRPr>
            </a:pPr>
            <a:r>
              <a:rPr sz="1200" b="0">
                <a:solidFill>
                  <a:srgbClr val="183247"/>
                </a:solidFill>
              </a:rPr>
              <a:t>Latency: aggregation limited to summary-level queries to keep dashboard load light.</a:t>
            </a:r>
          </a:p>
          <a:p>
            <a:pPr>
              <a:defRPr sz="1200" b="0">
                <a:solidFill>
                  <a:srgbClr val="183247"/>
                </a:solidFill>
              </a:defRPr>
            </a:pPr>
            <a:endParaRPr sz="1200" b="0">
              <a:solidFill>
                <a:srgbClr val="183247"/>
              </a:solidFill>
            </a:endParaRPr>
          </a:p>
          <a:p>
            <a:pPr>
              <a:defRPr sz="1200" b="0">
                <a:solidFill>
                  <a:srgbClr val="183247"/>
                </a:solidFill>
              </a:defRPr>
            </a:pPr>
            <a:r>
              <a:rPr sz="1200" b="0">
                <a:solidFill>
                  <a:srgbClr val="183247"/>
                </a:solidFill>
              </a:rPr>
              <a:t>Security: secure login with role checks enforced on every protected endpoint.</a:t>
            </a:r>
          </a:p>
          <a:p>
            <a:pPr>
              <a:defRPr sz="1200" b="0">
                <a:solidFill>
                  <a:srgbClr val="183247"/>
                </a:solidFill>
              </a:defRPr>
            </a:pPr>
            <a:endParaRPr sz="1200" b="0">
              <a:solidFill>
                <a:srgbClr val="183247"/>
              </a:solidFill>
            </a:endParaRPr>
          </a:p>
          <a:p>
            <a:pPr>
              <a:defRPr sz="1200" b="0">
                <a:solidFill>
                  <a:srgbClr val="183247"/>
                </a:solidFill>
              </a:defRPr>
            </a:pPr>
            <a:r>
              <a:rPr sz="1200" b="0">
                <a:solidFill>
                  <a:srgbClr val="183247"/>
                </a:solidFill>
              </a:rPr>
              <a:t>Rejected alternative: real-time streaming analytics, rejected as unnecessary overhead versus batch/aggregate queries.</a:t>
            </a:r>
          </a:p>
        </p:txBody>
      </p:sp>
    </p:spTree>
    <p:extLst>
      <p:ext uri="{BB962C8B-B14F-4D97-AF65-F5344CB8AC3E}">
        <p14:creationId xmlns:p14="http://schemas.microsoft.com/office/powerpoint/2010/main" val="94476077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Rectangle 39">
            <a:extLst>
              <a:ext uri="{FF2B5EF4-FFF2-40B4-BE49-F238E27FC236}">
                <a16:creationId xmlns:a16="http://schemas.microsoft.com/office/drawing/2014/main" id="{D10FAF45-782A-42BA-88EC-2DFB4A2F963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82475" cy="76200"/>
          </a:xfrm>
          <a:prstGeom prst="rect">
            <a:avLst/>
          </a:prstGeom>
          <a:solidFill>
            <a:srgbClr val="0B7895"/>
          </a:solidFill>
          <a:ln w="0">
            <a:solidFill>
              <a:srgbClr val="0B7895"/>
            </a:solidFill>
            <a:prstDash val="solid"/>
          </a:ln>
        </p:spPr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8CA50E89-72EC-4084-A53A-9808B392C7A5}"/>
              </a:ext>
            </a:extLst>
          </p:cNvPr>
          <p:cNvSpPr>
            <a:spLocks noGrp="1"/>
          </p:cNvSpPr>
          <p:nvPr/>
        </p:nvSpPr>
        <p:spPr>
          <a:xfrm>
            <a:off x="438150" y="228600"/>
            <a:ext cx="1000125" cy="552450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9525">
            <a:solidFill>
              <a:srgbClr val="C9D6E2"/>
            </a:solidFill>
            <a:prstDash val="solid"/>
          </a:ln>
        </p:spPr>
      </p:sp>
      <p:pic>
        <p:nvPicPr>
          <p:cNvPr id="42" name="Picture 41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514350" y="450359"/>
            <a:ext cx="847725" cy="108932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E3FC92C2-0829-461B-977F-A0616AC472C3}"/>
              </a:ext>
            </a:extLst>
          </p:cNvPr>
          <p:cNvSpPr>
            <a:spLocks noGrp="1"/>
          </p:cNvSpPr>
          <p:nvPr/>
        </p:nvSpPr>
        <p:spPr>
          <a:xfrm>
            <a:off x="1657350" y="266700"/>
            <a:ext cx="6953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900" b="1">
                <a:solidFill>
                  <a:srgbClr val="1264A3"/>
                </a:solidFill>
              </a:defRPr>
            </a:pPr>
            <a:r>
              <a:rPr sz="900" b="1">
                <a:solidFill>
                  <a:srgbClr val="1264A3"/>
                </a:solidFill>
              </a:rPr>
              <a:t>CSA15  |  CLOUD COMPUTING AND BIG DATA ANALYTICS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F66D5A0-B119-4DA9-A3E0-4D9390607055}"/>
              </a:ext>
            </a:extLst>
          </p:cNvPr>
          <p:cNvSpPr>
            <a:spLocks noGrp="1"/>
          </p:cNvSpPr>
          <p:nvPr/>
        </p:nvSpPr>
        <p:spPr>
          <a:xfrm>
            <a:off x="9572625" y="266700"/>
            <a:ext cx="2095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825" b="1">
                <a:solidFill>
                  <a:srgbClr val="0B7895"/>
                </a:solidFill>
              </a:defRPr>
            </a:pPr>
            <a:r>
              <a:rPr sz="825" b="1">
                <a:solidFill>
                  <a:srgbClr val="0B7895"/>
                </a:solidFill>
              </a:rPr>
              <a:t>CAPSTONE FINAL DEFENSE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12CBAA5-224C-4995-837B-974B91CE2C31}"/>
              </a:ext>
            </a:extLst>
          </p:cNvPr>
          <p:cNvSpPr>
            <a:spLocks noGrp="1"/>
          </p:cNvSpPr>
          <p:nvPr/>
        </p:nvSpPr>
        <p:spPr>
          <a:xfrm>
            <a:off x="514350" y="981075"/>
            <a:ext cx="102870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2325" b="1">
                <a:solidFill>
                  <a:srgbClr val="0B2E4F"/>
                </a:solidFill>
              </a:defRPr>
            </a:pPr>
            <a:r>
              <a:rPr sz="2325" b="1">
                <a:solidFill>
                  <a:srgbClr val="0B2E4F"/>
                </a:solidFill>
              </a:rPr>
              <a:t>Module 3: Implementation Evidence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D0F5B60-B969-4BA5-B00A-EA17EF4CC444}"/>
              </a:ext>
            </a:extLst>
          </p:cNvPr>
          <p:cNvSpPr>
            <a:spLocks noGrp="1"/>
          </p:cNvSpPr>
          <p:nvPr/>
        </p:nvSpPr>
        <p:spPr>
          <a:xfrm>
            <a:off x="533400" y="1457325"/>
            <a:ext cx="10287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1125" b="0">
                <a:solidFill>
                  <a:srgbClr val="52677A"/>
                </a:solidFill>
              </a:defRPr>
            </a:pPr>
            <a:r>
              <a:rPr sz="1125" b="0">
                <a:solidFill>
                  <a:srgbClr val="52677A"/>
                </a:solidFill>
              </a:rPr>
              <a:t>Prove the final module produces the expected product-level output.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41525CB-8470-4369-8785-B27304E399D7}"/>
              </a:ext>
            </a:extLst>
          </p:cNvPr>
          <p:cNvSpPr>
            <a:spLocks noGrp="1"/>
          </p:cNvSpPr>
          <p:nvPr/>
        </p:nvSpPr>
        <p:spPr>
          <a:xfrm>
            <a:off x="514350" y="1847850"/>
            <a:ext cx="11153775" cy="19050"/>
          </a:xfrm>
          <a:prstGeom prst="rect">
            <a:avLst/>
          </a:prstGeom>
          <a:solidFill>
            <a:srgbClr val="C9D6E2"/>
          </a:solidFill>
          <a:ln w="0">
            <a:solidFill>
              <a:srgbClr val="C9D6E2"/>
            </a:solidFill>
            <a:prstDash val="solid"/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6C6C6DE-5AB0-4C66-8876-E1163A379DAF}"/>
              </a:ext>
            </a:extLst>
          </p:cNvPr>
          <p:cNvSpPr>
            <a:spLocks noGrp="1"/>
          </p:cNvSpPr>
          <p:nvPr/>
        </p:nvSpPr>
        <p:spPr>
          <a:xfrm>
            <a:off x="0" y="6419850"/>
            <a:ext cx="12182475" cy="438150"/>
          </a:xfrm>
          <a:prstGeom prst="rect">
            <a:avLst/>
          </a:prstGeom>
          <a:solidFill>
            <a:srgbClr val="0B2E4F"/>
          </a:solidFill>
          <a:ln w="0">
            <a:solidFill>
              <a:srgbClr val="0B2E4F"/>
            </a:solidFill>
            <a:prstDash val="solid"/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556B59B-6629-424E-8130-D9F5D5C9C014}"/>
              </a:ext>
            </a:extLst>
          </p:cNvPr>
          <p:cNvSpPr>
            <a:spLocks noGrp="1"/>
          </p:cNvSpPr>
          <p:nvPr/>
        </p:nvSpPr>
        <p:spPr>
          <a:xfrm>
            <a:off x="11049000" y="6515100"/>
            <a:ext cx="6191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975" b="1">
                <a:solidFill>
                  <a:srgbClr val="D39216"/>
                </a:solidFill>
              </a:defRPr>
            </a:pPr>
            <a:r>
              <a:rPr sz="975" b="1">
                <a:solidFill>
                  <a:srgbClr val="D39216"/>
                </a:solidFill>
              </a:rPr>
              <a:t>16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81B6AD2-2F53-4457-A5E3-3530FD6B5CC6}"/>
              </a:ext>
            </a:extLst>
          </p:cNvPr>
          <p:cNvSpPr>
            <a:spLocks noGrp="1"/>
          </p:cNvSpPr>
          <p:nvPr/>
        </p:nvSpPr>
        <p:spPr>
          <a:xfrm>
            <a:off x="4191000" y="6715125"/>
            <a:ext cx="3810000" cy="1047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600" b="0">
                <a:solidFill>
                  <a:srgbClr val="BFD3E1"/>
                </a:solidFill>
              </a:defRPr>
            </a:pPr>
            <a:r>
              <a:rPr sz="600" b="0">
                <a:solidFill>
                  <a:srgbClr val="BFD3E1"/>
                </a:solidFill>
              </a:rPr>
              <a:t>Dr. C. Rajesh Babu | SSETSCS415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F79F745-E745-4515-A092-81BB1D15E54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82475" cy="76200"/>
          </a:xfrm>
          <a:prstGeom prst="rect">
            <a:avLst/>
          </a:prstGeom>
          <a:solidFill>
            <a:srgbClr val="0B7895"/>
          </a:solidFill>
          <a:ln w="0">
            <a:solidFill>
              <a:srgbClr val="0B7895"/>
            </a:solidFill>
            <a:prstDash val="solid"/>
          </a:ln>
        </p:spPr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D2F499E8-9B7F-47DC-899B-CB0DE7D57D21}"/>
              </a:ext>
            </a:extLst>
          </p:cNvPr>
          <p:cNvSpPr>
            <a:spLocks noGrp="1"/>
          </p:cNvSpPr>
          <p:nvPr/>
        </p:nvSpPr>
        <p:spPr>
          <a:xfrm>
            <a:off x="438150" y="228600"/>
            <a:ext cx="1000125" cy="552450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9525">
            <a:solidFill>
              <a:srgbClr val="C9D6E2"/>
            </a:solidFill>
            <a:prstDash val="solid"/>
          </a:ln>
        </p:spPr>
      </p:sp>
      <p:pic>
        <p:nvPicPr>
          <p:cNvPr id="54" name="Picture 53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514350" y="450359"/>
            <a:ext cx="847725" cy="108932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FE863699-BBB7-4381-8AAE-99FFD5E0E6BC}"/>
              </a:ext>
            </a:extLst>
          </p:cNvPr>
          <p:cNvSpPr>
            <a:spLocks noGrp="1"/>
          </p:cNvSpPr>
          <p:nvPr/>
        </p:nvSpPr>
        <p:spPr>
          <a:xfrm>
            <a:off x="1657350" y="266700"/>
            <a:ext cx="6953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900" b="1">
                <a:solidFill>
                  <a:srgbClr val="1264A3"/>
                </a:solidFill>
              </a:defRPr>
            </a:pPr>
            <a:r>
              <a:rPr sz="900" b="1">
                <a:solidFill>
                  <a:srgbClr val="1264A3"/>
                </a:solidFill>
              </a:rPr>
              <a:t>CSA15  |  CLOUD COMPUTING AND BIG DATA ANALYTICS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621034CC-C655-478D-BDAC-6A69C81922C7}"/>
              </a:ext>
            </a:extLst>
          </p:cNvPr>
          <p:cNvSpPr>
            <a:spLocks noGrp="1"/>
          </p:cNvSpPr>
          <p:nvPr/>
        </p:nvSpPr>
        <p:spPr>
          <a:xfrm>
            <a:off x="9572625" y="266700"/>
            <a:ext cx="2095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825" b="1">
                <a:solidFill>
                  <a:srgbClr val="0B7895"/>
                </a:solidFill>
              </a:defRPr>
            </a:pPr>
            <a:r>
              <a:rPr sz="825" b="1">
                <a:solidFill>
                  <a:srgbClr val="0B7895"/>
                </a:solidFill>
              </a:rPr>
              <a:t>BUILD EVIDENCE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60F7A29-ADF6-4486-B5F6-21A89B382910}"/>
              </a:ext>
            </a:extLst>
          </p:cNvPr>
          <p:cNvSpPr>
            <a:spLocks noGrp="1"/>
          </p:cNvSpPr>
          <p:nvPr/>
        </p:nvSpPr>
        <p:spPr>
          <a:xfrm>
            <a:off x="514350" y="981075"/>
            <a:ext cx="102870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2325" b="1">
                <a:solidFill>
                  <a:srgbClr val="0B2E4F"/>
                </a:solidFill>
              </a:defRPr>
            </a:pPr>
            <a:r>
              <a:rPr sz="2325" b="1">
                <a:solidFill>
                  <a:srgbClr val="0B2E4F"/>
                </a:solidFill>
              </a:rPr>
              <a:t>Module 3: Implementation Evidence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2E0F262F-2150-465C-88BF-741E767C4FCA}"/>
              </a:ext>
            </a:extLst>
          </p:cNvPr>
          <p:cNvSpPr>
            <a:spLocks noGrp="1"/>
          </p:cNvSpPr>
          <p:nvPr/>
        </p:nvSpPr>
        <p:spPr>
          <a:xfrm>
            <a:off x="533400" y="1457325"/>
            <a:ext cx="10287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1125" b="0">
                <a:solidFill>
                  <a:srgbClr val="52677A"/>
                </a:solidFill>
              </a:defRPr>
            </a:pPr>
            <a:r>
              <a:rPr sz="1125" b="0">
                <a:solidFill>
                  <a:srgbClr val="52677A"/>
                </a:solidFill>
              </a:rPr>
              <a:t>Prove the final module produces the expected product-level output.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A460FD9C-FAAB-45D5-9C08-671112AFFAE8}"/>
              </a:ext>
            </a:extLst>
          </p:cNvPr>
          <p:cNvSpPr>
            <a:spLocks noGrp="1"/>
          </p:cNvSpPr>
          <p:nvPr/>
        </p:nvSpPr>
        <p:spPr>
          <a:xfrm>
            <a:off x="514350" y="1847850"/>
            <a:ext cx="11153775" cy="19050"/>
          </a:xfrm>
          <a:prstGeom prst="rect">
            <a:avLst/>
          </a:prstGeom>
          <a:solidFill>
            <a:srgbClr val="C9D6E2"/>
          </a:solidFill>
          <a:ln w="0">
            <a:solidFill>
              <a:srgbClr val="C9D6E2"/>
            </a:solidFill>
            <a:prstDash val="solid"/>
          </a:ln>
        </p:spPr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5B6C2203-9739-4C00-B485-9DB142F32A9D}"/>
              </a:ext>
            </a:extLst>
          </p:cNvPr>
          <p:cNvSpPr>
            <a:spLocks noGrp="1"/>
          </p:cNvSpPr>
          <p:nvPr/>
        </p:nvSpPr>
        <p:spPr>
          <a:xfrm>
            <a:off x="0" y="6419850"/>
            <a:ext cx="12182475" cy="438150"/>
          </a:xfrm>
          <a:prstGeom prst="rect">
            <a:avLst/>
          </a:prstGeom>
          <a:solidFill>
            <a:srgbClr val="0B2E4F"/>
          </a:solidFill>
          <a:ln w="0">
            <a:solidFill>
              <a:srgbClr val="0B2E4F"/>
            </a:solidFill>
            <a:prstDash val="solid"/>
          </a:ln>
        </p:spPr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9CA2D99-427B-4410-8D89-C046E38426B7}"/>
              </a:ext>
            </a:extLst>
          </p:cNvPr>
          <p:cNvSpPr>
            <a:spLocks noGrp="1"/>
          </p:cNvSpPr>
          <p:nvPr/>
        </p:nvSpPr>
        <p:spPr>
          <a:xfrm>
            <a:off x="11049000" y="6515100"/>
            <a:ext cx="6191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975" b="1">
                <a:solidFill>
                  <a:srgbClr val="D39216"/>
                </a:solidFill>
              </a:defRPr>
            </a:pPr>
            <a:r>
              <a:rPr sz="975" b="1">
                <a:solidFill>
                  <a:srgbClr val="D39216"/>
                </a:solidFill>
              </a:rPr>
              <a:t>16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B4AA63CF-9375-451B-AD41-F245FBD394E3}"/>
              </a:ext>
            </a:extLst>
          </p:cNvPr>
          <p:cNvSpPr>
            <a:spLocks noGrp="1"/>
          </p:cNvSpPr>
          <p:nvPr/>
        </p:nvSpPr>
        <p:spPr>
          <a:xfrm>
            <a:off x="4191000" y="6715125"/>
            <a:ext cx="3810000" cy="1047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600" b="0">
                <a:solidFill>
                  <a:srgbClr val="BFD3E1"/>
                </a:solidFill>
              </a:defRPr>
            </a:pPr>
            <a:r>
              <a:rPr sz="600" b="0">
                <a:solidFill>
                  <a:srgbClr val="BFD3E1"/>
                </a:solidFill>
              </a:rPr>
              <a:t>Dr. C. Rajesh Babu | SSETSCS415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66C40DDE-4D8B-45CF-8B93-A963EEE17796}"/>
              </a:ext>
            </a:extLst>
          </p:cNvPr>
          <p:cNvSpPr>
            <a:spLocks noGrp="1"/>
          </p:cNvSpPr>
          <p:nvPr/>
        </p:nvSpPr>
        <p:spPr>
          <a:xfrm>
            <a:off x="514350" y="2133600"/>
            <a:ext cx="6534150" cy="3714750"/>
          </a:xfrm>
          <a:prstGeom prst="rect">
            <a:avLst/>
          </a:prstGeom>
          <a:solidFill>
            <a:srgbClr val="EAF3F8"/>
          </a:solidFill>
          <a:ln w="19050">
            <a:solidFill>
              <a:srgbClr val="1264A3"/>
            </a:solidFill>
            <a:prstDash val="solid"/>
          </a:ln>
        </p:spPr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A411DD96-3B56-48C4-A5DD-5803D063AF2C}"/>
              </a:ext>
            </a:extLst>
          </p:cNvPr>
          <p:cNvSpPr>
            <a:spLocks noGrp="1"/>
          </p:cNvSpPr>
          <p:nvPr/>
        </p:nvSpPr>
        <p:spPr>
          <a:xfrm>
            <a:off x="809625" y="3333750"/>
            <a:ext cx="594360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1425" b="1">
                <a:solidFill>
                  <a:srgbClr val="1264A3"/>
                </a:solidFill>
              </a:defRPr>
            </a:pPr>
            <a:r>
              <a:rPr sz="1425" b="1">
                <a:solidFill>
                  <a:srgbClr val="1264A3"/>
                </a:solidFill>
              </a:rPr>
              <a:t>[PASTE MODULE 3 SCREENSHOT / OUTPUT / GRAPH]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92DF04FE-B11B-4B8B-938E-9E82FC083534}"/>
              </a:ext>
            </a:extLst>
          </p:cNvPr>
          <p:cNvSpPr>
            <a:spLocks noGrp="1"/>
          </p:cNvSpPr>
          <p:nvPr/>
        </p:nvSpPr>
        <p:spPr>
          <a:xfrm>
            <a:off x="876300" y="3952875"/>
            <a:ext cx="581025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1050" b="0">
                <a:solidFill>
                  <a:srgbClr val="52677A"/>
                </a:solidFill>
              </a:defRPr>
            </a:pPr>
            <a:r>
              <a:rPr sz="1050" b="0">
                <a:solidFill>
                  <a:srgbClr val="52677A"/>
                </a:solidFill>
              </a:rPr>
              <a:t>Use a readable image. Crop browser chrome and expose the result, not an empty interface.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8B3E7E31-6115-41CB-94AD-C5991B8C085D}"/>
              </a:ext>
            </a:extLst>
          </p:cNvPr>
          <p:cNvSpPr>
            <a:spLocks noGrp="1"/>
          </p:cNvSpPr>
          <p:nvPr/>
        </p:nvSpPr>
        <p:spPr>
          <a:xfrm>
            <a:off x="7296150" y="2133600"/>
            <a:ext cx="4371975" cy="1066800"/>
          </a:xfrm>
          <a:prstGeom prst="rect">
            <a:avLst/>
          </a:prstGeom>
          <a:solidFill>
            <a:srgbClr val="FFFFFF"/>
          </a:solidFill>
          <a:ln w="9525">
            <a:solidFill>
              <a:srgbClr val="C9D6E2"/>
            </a:solidFill>
            <a:prstDash val="solid"/>
          </a:ln>
        </p:spPr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452CFE2F-F3C1-40A7-8E3D-07876557F311}"/>
              </a:ext>
            </a:extLst>
          </p:cNvPr>
          <p:cNvSpPr>
            <a:spLocks noGrp="1"/>
          </p:cNvSpPr>
          <p:nvPr/>
        </p:nvSpPr>
        <p:spPr>
          <a:xfrm>
            <a:off x="7296150" y="2133600"/>
            <a:ext cx="57150" cy="1066800"/>
          </a:xfrm>
          <a:prstGeom prst="rect">
            <a:avLst/>
          </a:prstGeom>
          <a:solidFill>
            <a:srgbClr val="1264A3"/>
          </a:solidFill>
          <a:ln w="0">
            <a:solidFill>
              <a:srgbClr val="1264A3"/>
            </a:solidFill>
            <a:prstDash val="solid"/>
          </a:ln>
        </p:spPr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CCD6A6BA-4FED-4DF4-B514-DA07B6F00D46}"/>
              </a:ext>
            </a:extLst>
          </p:cNvPr>
          <p:cNvSpPr>
            <a:spLocks noGrp="1"/>
          </p:cNvSpPr>
          <p:nvPr/>
        </p:nvSpPr>
        <p:spPr>
          <a:xfrm>
            <a:off x="7505700" y="2286000"/>
            <a:ext cx="3971925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900" b="1">
                <a:solidFill>
                  <a:srgbClr val="1264A3"/>
                </a:solidFill>
              </a:defRPr>
            </a:pPr>
            <a:r>
              <a:rPr sz="900" b="1">
                <a:solidFill>
                  <a:srgbClr val="1264A3"/>
                </a:solidFill>
              </a:rPr>
              <a:t>BUILD DETAILS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20D85D46-F0FB-4E8A-9E4A-E7E719642F3F}"/>
              </a:ext>
            </a:extLst>
          </p:cNvPr>
          <p:cNvSpPr>
            <a:spLocks noGrp="1"/>
          </p:cNvSpPr>
          <p:nvPr/>
        </p:nvSpPr>
        <p:spPr>
          <a:xfrm>
            <a:off x="7505700" y="2590800"/>
            <a:ext cx="3971925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1125" b="0">
                <a:solidFill>
                  <a:srgbClr val="183247"/>
                </a:solidFill>
              </a:defRPr>
            </a:pPr>
            <a:r>
              <a:rPr sz="1125" b="0">
                <a:solidFill>
                  <a:srgbClr val="183247"/>
                </a:solidFill>
              </a:rPr>
              <a:t>FastAPI auth and dashboard endpoints with PostgreSQL aggregation queries; deployed as part of the same backend service as Modules 1-2.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384DE832-4531-4988-A24F-0F96709B3BDA}"/>
              </a:ext>
            </a:extLst>
          </p:cNvPr>
          <p:cNvSpPr>
            <a:spLocks noGrp="1"/>
          </p:cNvSpPr>
          <p:nvPr/>
        </p:nvSpPr>
        <p:spPr>
          <a:xfrm>
            <a:off x="7296150" y="3333750"/>
            <a:ext cx="4371975" cy="1066800"/>
          </a:xfrm>
          <a:prstGeom prst="rect">
            <a:avLst/>
          </a:prstGeom>
          <a:solidFill>
            <a:srgbClr val="FFFFFF"/>
          </a:solidFill>
          <a:ln w="9525">
            <a:solidFill>
              <a:srgbClr val="C9D6E2"/>
            </a:solidFill>
            <a:prstDash val="solid"/>
          </a:ln>
        </p:spPr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06A3859B-DA46-4E2B-AB5C-B031D3F025EA}"/>
              </a:ext>
            </a:extLst>
          </p:cNvPr>
          <p:cNvSpPr>
            <a:spLocks noGrp="1"/>
          </p:cNvSpPr>
          <p:nvPr/>
        </p:nvSpPr>
        <p:spPr>
          <a:xfrm>
            <a:off x="7296150" y="3333750"/>
            <a:ext cx="57150" cy="1066800"/>
          </a:xfrm>
          <a:prstGeom prst="rect">
            <a:avLst/>
          </a:prstGeom>
          <a:solidFill>
            <a:srgbClr val="0B7895"/>
          </a:solidFill>
          <a:ln w="0">
            <a:solidFill>
              <a:srgbClr val="0B7895"/>
            </a:solidFill>
            <a:prstDash val="solid"/>
          </a:ln>
        </p:spPr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287DE8F0-F825-4FB2-9DEB-C63FC5F3F0E3}"/>
              </a:ext>
            </a:extLst>
          </p:cNvPr>
          <p:cNvSpPr>
            <a:spLocks noGrp="1"/>
          </p:cNvSpPr>
          <p:nvPr/>
        </p:nvSpPr>
        <p:spPr>
          <a:xfrm>
            <a:off x="7505700" y="3486150"/>
            <a:ext cx="3971925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900" b="1">
                <a:solidFill>
                  <a:srgbClr val="0B7895"/>
                </a:solidFill>
              </a:defRPr>
            </a:pPr>
            <a:r>
              <a:rPr sz="900" b="1">
                <a:solidFill>
                  <a:srgbClr val="0B7895"/>
                </a:solidFill>
              </a:rPr>
              <a:t>VALIDATION EVIDENCE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A1391408-4314-46E3-80B2-1E48BD90F166}"/>
              </a:ext>
            </a:extLst>
          </p:cNvPr>
          <p:cNvSpPr>
            <a:spLocks noGrp="1"/>
          </p:cNvSpPr>
          <p:nvPr/>
        </p:nvSpPr>
        <p:spPr>
          <a:xfrm>
            <a:off x="7505700" y="3790950"/>
            <a:ext cx="3971925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1125" b="0">
                <a:solidFill>
                  <a:srgbClr val="183247"/>
                </a:solidFill>
              </a:defRPr>
            </a:pPr>
            <a:r>
              <a:rPr sz="1125" b="0">
                <a:solidFill>
                  <a:srgbClr val="183247"/>
                </a:solidFill>
              </a:rPr>
              <a:t>Dashboard correctly reflected live stock, low-stock and expiry counts across all test scenarios; unauthorized access attempts were correctly rejected.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7F1A2195-32BB-49F7-A8D0-9A3C6363D932}"/>
              </a:ext>
            </a:extLst>
          </p:cNvPr>
          <p:cNvSpPr>
            <a:spLocks noGrp="1"/>
          </p:cNvSpPr>
          <p:nvPr/>
        </p:nvSpPr>
        <p:spPr>
          <a:xfrm>
            <a:off x="7296150" y="4533900"/>
            <a:ext cx="4371975" cy="1314450"/>
          </a:xfrm>
          <a:prstGeom prst="rect">
            <a:avLst/>
          </a:prstGeom>
          <a:solidFill>
            <a:srgbClr val="FFFFFF"/>
          </a:solidFill>
          <a:ln w="9525">
            <a:solidFill>
              <a:srgbClr val="C9D6E2"/>
            </a:solidFill>
            <a:prstDash val="solid"/>
          </a:ln>
        </p:spPr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DEAF4645-2DBD-4461-AA93-CDB38D1FFECE}"/>
              </a:ext>
            </a:extLst>
          </p:cNvPr>
          <p:cNvSpPr>
            <a:spLocks noGrp="1"/>
          </p:cNvSpPr>
          <p:nvPr/>
        </p:nvSpPr>
        <p:spPr>
          <a:xfrm>
            <a:off x="7296150" y="4533900"/>
            <a:ext cx="57150" cy="1314450"/>
          </a:xfrm>
          <a:prstGeom prst="rect">
            <a:avLst/>
          </a:prstGeom>
          <a:solidFill>
            <a:srgbClr val="D39216"/>
          </a:solidFill>
          <a:ln w="0">
            <a:solidFill>
              <a:srgbClr val="D39216"/>
            </a:solidFill>
            <a:prstDash val="solid"/>
          </a:ln>
        </p:spPr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CAA0D4E1-865D-4953-A6A0-E1F07433DB2E}"/>
              </a:ext>
            </a:extLst>
          </p:cNvPr>
          <p:cNvSpPr>
            <a:spLocks noGrp="1"/>
          </p:cNvSpPr>
          <p:nvPr/>
        </p:nvSpPr>
        <p:spPr>
          <a:xfrm>
            <a:off x="7505700" y="4686300"/>
            <a:ext cx="3971925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900" b="1">
                <a:solidFill>
                  <a:srgbClr val="D39216"/>
                </a:solidFill>
              </a:defRPr>
            </a:pPr>
            <a:r>
              <a:rPr sz="900" b="1">
                <a:solidFill>
                  <a:srgbClr val="D39216"/>
                </a:solidFill>
              </a:rPr>
              <a:t>MODULE HAND-OFF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23AD2C9A-99A9-4EAA-85E8-2413235C599C}"/>
              </a:ext>
            </a:extLst>
          </p:cNvPr>
          <p:cNvSpPr>
            <a:spLocks noGrp="1"/>
          </p:cNvSpPr>
          <p:nvPr/>
        </p:nvSpPr>
        <p:spPr>
          <a:xfrm>
            <a:off x="7505700" y="4991100"/>
            <a:ext cx="3971925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1125" b="0">
                <a:solidFill>
                  <a:srgbClr val="183247"/>
                </a:solidFill>
              </a:defRPr>
            </a:pPr>
            <a:r>
              <a:rPr sz="1125" b="0">
                <a:solidFill>
                  <a:srgbClr val="183247"/>
                </a:solidFill>
              </a:rPr>
              <a:t>Dashboard is the final user-facing product surface.</a:t>
            </a:r>
          </a:p>
        </p:txBody>
      </p:sp>
    </p:spTree>
    <p:extLst>
      <p:ext uri="{BB962C8B-B14F-4D97-AF65-F5344CB8AC3E}">
        <p14:creationId xmlns:p14="http://schemas.microsoft.com/office/powerpoint/2010/main" val="125365237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4F0ED240-49FA-499F-877F-5A2847F4EED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82475" cy="76200"/>
          </a:xfrm>
          <a:prstGeom prst="rect">
            <a:avLst/>
          </a:prstGeom>
          <a:solidFill>
            <a:srgbClr val="0B7895"/>
          </a:solidFill>
          <a:ln w="0">
            <a:solidFill>
              <a:srgbClr val="0B7895"/>
            </a:solidFill>
            <a:prstDash val="solid"/>
          </a:ln>
        </p:spPr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CFDEF535-DF8E-48AE-9658-C35686D9830F}"/>
              </a:ext>
            </a:extLst>
          </p:cNvPr>
          <p:cNvSpPr>
            <a:spLocks noGrp="1"/>
          </p:cNvSpPr>
          <p:nvPr/>
        </p:nvSpPr>
        <p:spPr>
          <a:xfrm>
            <a:off x="438150" y="228600"/>
            <a:ext cx="1000125" cy="552450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9525">
            <a:solidFill>
              <a:srgbClr val="C9D6E2"/>
            </a:solidFill>
            <a:prstDash val="solid"/>
          </a:ln>
        </p:spPr>
      </p:sp>
      <p:pic>
        <p:nvPicPr>
          <p:cNvPr id="23" name="Picture 22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514350" y="450359"/>
            <a:ext cx="847725" cy="108932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A1ABCD51-1B79-4650-9A42-A23D635E4C0E}"/>
              </a:ext>
            </a:extLst>
          </p:cNvPr>
          <p:cNvSpPr>
            <a:spLocks noGrp="1"/>
          </p:cNvSpPr>
          <p:nvPr/>
        </p:nvSpPr>
        <p:spPr>
          <a:xfrm>
            <a:off x="1657350" y="266700"/>
            <a:ext cx="6953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900" b="1">
                <a:solidFill>
                  <a:srgbClr val="1264A3"/>
                </a:solidFill>
              </a:defRPr>
            </a:pPr>
            <a:r>
              <a:rPr sz="900" b="1">
                <a:solidFill>
                  <a:srgbClr val="1264A3"/>
                </a:solidFill>
              </a:rPr>
              <a:t>CSA15  |  CLOUD COMPUTING AND BIG DATA ANALYTICS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489B918-8540-4C61-A08C-44380BD6C3B4}"/>
              </a:ext>
            </a:extLst>
          </p:cNvPr>
          <p:cNvSpPr>
            <a:spLocks noGrp="1"/>
          </p:cNvSpPr>
          <p:nvPr/>
        </p:nvSpPr>
        <p:spPr>
          <a:xfrm>
            <a:off x="9572625" y="266700"/>
            <a:ext cx="2095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825" b="1">
                <a:solidFill>
                  <a:srgbClr val="0B7895"/>
                </a:solidFill>
              </a:defRPr>
            </a:pPr>
            <a:r>
              <a:rPr sz="825" b="1">
                <a:solidFill>
                  <a:srgbClr val="0B7895"/>
                </a:solidFill>
              </a:rPr>
              <a:t>CAPSTONE FINAL DEFENSE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BB96EB0-E627-402F-8662-FECACE3D72F2}"/>
              </a:ext>
            </a:extLst>
          </p:cNvPr>
          <p:cNvSpPr>
            <a:spLocks noGrp="1"/>
          </p:cNvSpPr>
          <p:nvPr/>
        </p:nvSpPr>
        <p:spPr>
          <a:xfrm>
            <a:off x="514350" y="981075"/>
            <a:ext cx="102870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2325" b="1">
                <a:solidFill>
                  <a:srgbClr val="0B2E4F"/>
                </a:solidFill>
              </a:defRPr>
            </a:pPr>
            <a:r>
              <a:rPr sz="2325" b="1">
                <a:solidFill>
                  <a:srgbClr val="0B2E4F"/>
                </a:solidFill>
              </a:rPr>
              <a:t>Integrated Product Implementation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393980B-C742-4EF6-BE6E-D59B6E845A8C}"/>
              </a:ext>
            </a:extLst>
          </p:cNvPr>
          <p:cNvSpPr>
            <a:spLocks noGrp="1"/>
          </p:cNvSpPr>
          <p:nvPr/>
        </p:nvSpPr>
        <p:spPr>
          <a:xfrm>
            <a:off x="533400" y="1457325"/>
            <a:ext cx="10287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1125" b="0">
                <a:solidFill>
                  <a:srgbClr val="52677A"/>
                </a:solidFill>
              </a:defRPr>
            </a:pPr>
            <a:r>
              <a:rPr sz="1125" b="0">
                <a:solidFill>
                  <a:srgbClr val="52677A"/>
                </a:solidFill>
              </a:rPr>
              <a:t>Connect frontend, backend, data and cloud operations to the implemented user experience.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19176CF-C126-48FB-9956-4809521BAE28}"/>
              </a:ext>
            </a:extLst>
          </p:cNvPr>
          <p:cNvSpPr>
            <a:spLocks noGrp="1"/>
          </p:cNvSpPr>
          <p:nvPr/>
        </p:nvSpPr>
        <p:spPr>
          <a:xfrm>
            <a:off x="514350" y="1847850"/>
            <a:ext cx="11153775" cy="19050"/>
          </a:xfrm>
          <a:prstGeom prst="rect">
            <a:avLst/>
          </a:prstGeom>
          <a:solidFill>
            <a:srgbClr val="C9D6E2"/>
          </a:solidFill>
          <a:ln w="0">
            <a:solidFill>
              <a:srgbClr val="C9D6E2"/>
            </a:solidFill>
            <a:prstDash val="solid"/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0B1B1BF-F8B5-4AFB-B5C4-9CC5249FAF3C}"/>
              </a:ext>
            </a:extLst>
          </p:cNvPr>
          <p:cNvSpPr>
            <a:spLocks noGrp="1"/>
          </p:cNvSpPr>
          <p:nvPr/>
        </p:nvSpPr>
        <p:spPr>
          <a:xfrm>
            <a:off x="0" y="6419850"/>
            <a:ext cx="12182475" cy="438150"/>
          </a:xfrm>
          <a:prstGeom prst="rect">
            <a:avLst/>
          </a:prstGeom>
          <a:solidFill>
            <a:srgbClr val="0B2E4F"/>
          </a:solidFill>
          <a:ln w="0">
            <a:solidFill>
              <a:srgbClr val="0B2E4F"/>
            </a:solidFill>
            <a:prstDash val="solid"/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2293BDF-94B6-42F4-9C67-A7FF0FE1CF50}"/>
              </a:ext>
            </a:extLst>
          </p:cNvPr>
          <p:cNvSpPr>
            <a:spLocks noGrp="1"/>
          </p:cNvSpPr>
          <p:nvPr/>
        </p:nvSpPr>
        <p:spPr>
          <a:xfrm>
            <a:off x="11049000" y="6515100"/>
            <a:ext cx="6191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975" b="1">
                <a:solidFill>
                  <a:srgbClr val="D39216"/>
                </a:solidFill>
              </a:defRPr>
            </a:pPr>
            <a:r>
              <a:rPr sz="975" b="1">
                <a:solidFill>
                  <a:srgbClr val="D39216"/>
                </a:solidFill>
              </a:rPr>
              <a:t>17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FF2FEC7-7547-4541-8A45-B5F8102BA10E}"/>
              </a:ext>
            </a:extLst>
          </p:cNvPr>
          <p:cNvSpPr>
            <a:spLocks noGrp="1"/>
          </p:cNvSpPr>
          <p:nvPr/>
        </p:nvSpPr>
        <p:spPr>
          <a:xfrm>
            <a:off x="4191000" y="6715125"/>
            <a:ext cx="3810000" cy="1047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600" b="0">
                <a:solidFill>
                  <a:srgbClr val="BFD3E1"/>
                </a:solidFill>
              </a:defRPr>
            </a:pPr>
            <a:r>
              <a:rPr sz="600" b="0">
                <a:solidFill>
                  <a:srgbClr val="BFD3E1"/>
                </a:solidFill>
              </a:rPr>
              <a:t>Dr. C. Rajesh Babu | SSETSCS415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5C6EC8E-797D-4DB9-97D9-309AEAA606C8}"/>
              </a:ext>
            </a:extLst>
          </p:cNvPr>
          <p:cNvSpPr>
            <a:spLocks noGrp="1"/>
          </p:cNvSpPr>
          <p:nvPr/>
        </p:nvSpPr>
        <p:spPr>
          <a:xfrm>
            <a:off x="514350" y="2143125"/>
            <a:ext cx="5314950" cy="3619500"/>
          </a:xfrm>
          <a:prstGeom prst="rect">
            <a:avLst/>
          </a:prstGeom>
          <a:solidFill>
            <a:srgbClr val="FFFFFF"/>
          </a:solidFill>
          <a:ln w="9525">
            <a:solidFill>
              <a:srgbClr val="C9D6E2"/>
            </a:solidFill>
            <a:prstDash val="solid"/>
          </a:ln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09ACDF1-E3D5-4474-914E-D105D63F7490}"/>
              </a:ext>
            </a:extLst>
          </p:cNvPr>
          <p:cNvSpPr>
            <a:spLocks noGrp="1"/>
          </p:cNvSpPr>
          <p:nvPr/>
        </p:nvSpPr>
        <p:spPr>
          <a:xfrm>
            <a:off x="514350" y="2143125"/>
            <a:ext cx="57150" cy="3619500"/>
          </a:xfrm>
          <a:prstGeom prst="rect">
            <a:avLst/>
          </a:prstGeom>
          <a:solidFill>
            <a:srgbClr val="1264A3"/>
          </a:solidFill>
          <a:ln w="0">
            <a:solidFill>
              <a:srgbClr val="1264A3"/>
            </a:solidFill>
            <a:prstDash val="solid"/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61764D6-A7DB-4D3B-A0CA-F33E243F3254}"/>
              </a:ext>
            </a:extLst>
          </p:cNvPr>
          <p:cNvSpPr>
            <a:spLocks noGrp="1"/>
          </p:cNvSpPr>
          <p:nvPr/>
        </p:nvSpPr>
        <p:spPr>
          <a:xfrm>
            <a:off x="723900" y="2295525"/>
            <a:ext cx="4914900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900" b="1">
                <a:solidFill>
                  <a:srgbClr val="1264A3"/>
                </a:solidFill>
              </a:defRPr>
            </a:pPr>
            <a:r>
              <a:rPr sz="900" b="1">
                <a:solidFill>
                  <a:srgbClr val="1264A3"/>
                </a:solidFill>
              </a:rPr>
              <a:t>IMPLEMENTED PRODUCT SURFACE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12B5286-E19B-4642-8CE2-585216BAFB8E}"/>
              </a:ext>
            </a:extLst>
          </p:cNvPr>
          <p:cNvSpPr>
            <a:spLocks noGrp="1"/>
          </p:cNvSpPr>
          <p:nvPr/>
        </p:nvSpPr>
        <p:spPr>
          <a:xfrm>
            <a:off x="723900" y="2600325"/>
            <a:ext cx="4914900" cy="3028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1200" b="0">
                <a:solidFill>
                  <a:srgbClr val="183247"/>
                </a:solidFill>
              </a:defRPr>
            </a:pPr>
            <a:r>
              <a:rPr sz="1200" b="0">
                <a:solidFill>
                  <a:srgbClr val="183247"/>
                </a:solidFill>
              </a:rPr>
              <a:t>[PASTE 2-3 READABLE PRODUCT SCREENSHOTS]</a:t>
            </a:r>
          </a:p>
          <a:p>
            <a:endParaRPr sz="1200" b="0">
              <a:solidFill>
                <a:srgbClr val="183247"/>
              </a:solidFill>
            </a:endParaRPr>
          </a:p>
          <a:p>
            <a:pPr>
              <a:defRPr sz="1200" b="0">
                <a:solidFill>
                  <a:srgbClr val="183247"/>
                </a:solidFill>
              </a:defRPr>
            </a:pPr>
            <a:r>
              <a:rPr sz="1200" b="0">
                <a:solidFill>
                  <a:srgbClr val="183247"/>
                </a:solidFill>
              </a:rPr>
              <a:t>Label each screenshot with the user action, working feature and linked module.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8EB43BA-F05A-4303-9CD9-8A4E8E51A879}"/>
              </a:ext>
            </a:extLst>
          </p:cNvPr>
          <p:cNvSpPr>
            <a:spLocks noGrp="1"/>
          </p:cNvSpPr>
          <p:nvPr/>
        </p:nvSpPr>
        <p:spPr>
          <a:xfrm>
            <a:off x="6057900" y="2143125"/>
            <a:ext cx="5610225" cy="3619500"/>
          </a:xfrm>
          <a:prstGeom prst="rect">
            <a:avLst/>
          </a:prstGeom>
          <a:solidFill>
            <a:srgbClr val="FFFFFF"/>
          </a:solidFill>
          <a:ln w="9525">
            <a:solidFill>
              <a:srgbClr val="C9D6E2"/>
            </a:solidFill>
            <a:prstDash val="solid"/>
          </a:ln>
        </p:spPr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DC5E153-B5CF-4C3A-A435-2007B09D4125}"/>
              </a:ext>
            </a:extLst>
          </p:cNvPr>
          <p:cNvSpPr>
            <a:spLocks noGrp="1"/>
          </p:cNvSpPr>
          <p:nvPr/>
        </p:nvSpPr>
        <p:spPr>
          <a:xfrm>
            <a:off x="6057900" y="2143125"/>
            <a:ext cx="57150" cy="3619500"/>
          </a:xfrm>
          <a:prstGeom prst="rect">
            <a:avLst/>
          </a:prstGeom>
          <a:solidFill>
            <a:srgbClr val="0B7895"/>
          </a:solidFill>
          <a:ln w="0">
            <a:solidFill>
              <a:srgbClr val="0B7895"/>
            </a:solidFill>
            <a:prstDash val="solid"/>
          </a:ln>
        </p:spPr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7F80ED1-6231-4D90-BC9E-1A95CAAB6750}"/>
              </a:ext>
            </a:extLst>
          </p:cNvPr>
          <p:cNvSpPr>
            <a:spLocks noGrp="1"/>
          </p:cNvSpPr>
          <p:nvPr/>
        </p:nvSpPr>
        <p:spPr>
          <a:xfrm>
            <a:off x="6267450" y="2295525"/>
            <a:ext cx="5210175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900" b="1">
                <a:solidFill>
                  <a:srgbClr val="0B7895"/>
                </a:solidFill>
              </a:defRPr>
            </a:pPr>
            <a:r>
              <a:rPr sz="900" b="1">
                <a:solidFill>
                  <a:srgbClr val="0B7895"/>
                </a:solidFill>
              </a:rPr>
              <a:t>TECHNOLOGY AND DEPLOYMENT INVENTORY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76E543D3-27EE-4F91-944C-B08B74B535DF}"/>
              </a:ext>
            </a:extLst>
          </p:cNvPr>
          <p:cNvSpPr>
            <a:spLocks noGrp="1"/>
          </p:cNvSpPr>
          <p:nvPr/>
        </p:nvSpPr>
        <p:spPr>
          <a:xfrm>
            <a:off x="6267450" y="2600325"/>
            <a:ext cx="5210175" cy="3028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1125" b="0">
                <a:solidFill>
                  <a:srgbClr val="183247"/>
                </a:solidFill>
              </a:defRPr>
            </a:pPr>
            <a:r>
              <a:rPr sz="1125" b="0">
                <a:solidFill>
                  <a:srgbClr val="183247"/>
                </a:solidFill>
              </a:rPr>
              <a:t>Frontend: React</a:t>
            </a:r>
          </a:p>
          <a:p>
            <a:pPr>
              <a:defRPr sz="1125" b="0">
                <a:solidFill>
                  <a:srgbClr val="183247"/>
                </a:solidFill>
              </a:defRPr>
            </a:pPr>
            <a:r>
              <a:rPr sz="1125" b="0">
                <a:solidFill>
                  <a:srgbClr val="183247"/>
                </a:solidFill>
              </a:rPr>
              <a:t>Backend / API: FastAPI</a:t>
            </a:r>
          </a:p>
          <a:p>
            <a:pPr>
              <a:defRPr sz="1125" b="0">
                <a:solidFill>
                  <a:srgbClr val="183247"/>
                </a:solidFill>
              </a:defRPr>
            </a:pPr>
            <a:r>
              <a:rPr sz="1125" b="0">
                <a:solidFill>
                  <a:srgbClr val="183247"/>
                </a:solidFill>
              </a:rPr>
              <a:t>Database / Storage: PostgreSQL</a:t>
            </a:r>
          </a:p>
          <a:p>
            <a:pPr>
              <a:defRPr sz="1125" b="0">
                <a:solidFill>
                  <a:srgbClr val="183247"/>
                </a:solidFill>
              </a:defRPr>
            </a:pPr>
            <a:r>
              <a:rPr sz="1125" b="0">
                <a:solidFill>
                  <a:srgbClr val="183247"/>
                </a:solidFill>
              </a:rPr>
              <a:t>Authentication: Role-based login (admin / staff)</a:t>
            </a:r>
          </a:p>
          <a:p>
            <a:pPr>
              <a:defRPr sz="1125" b="0">
                <a:solidFill>
                  <a:srgbClr val="183247"/>
                </a:solidFill>
              </a:defRPr>
            </a:pPr>
            <a:r>
              <a:rPr sz="1125" b="0">
                <a:solidFill>
                  <a:srgbClr val="183247"/>
                </a:solidFill>
              </a:rPr>
              <a:t>Cloud / DevOps: Cloud application hosting with managed PostgreSQL instance</a:t>
            </a:r>
          </a:p>
          <a:p>
            <a:pPr>
              <a:defRPr sz="1125" b="0">
                <a:solidFill>
                  <a:srgbClr val="183247"/>
                </a:solidFill>
              </a:defRPr>
            </a:pPr>
            <a:r>
              <a:rPr sz="1125" b="0">
                <a:solidFill>
                  <a:srgbClr val="183247"/>
                </a:solidFill>
              </a:rPr>
              <a:t>Monitoring / Analytics: Dashboard tracking stock, low-stock and expiry statistics</a:t>
            </a:r>
          </a:p>
          <a:p>
            <a:pPr>
              <a:defRPr sz="1125" b="0">
                <a:solidFill>
                  <a:srgbClr val="183247"/>
                </a:solidFill>
              </a:defRPr>
            </a:pPr>
            <a:r>
              <a:rPr sz="1125" b="0">
                <a:solidFill>
                  <a:srgbClr val="183247"/>
                </a:solidFill>
              </a:rPr>
              <a:t>Repository + branch/tag: github.com/greenpharm-capstone/greenpharm (main)</a:t>
            </a:r>
          </a:p>
        </p:txBody>
      </p:sp>
    </p:spTree>
    <p:extLst>
      <p:ext uri="{BB962C8B-B14F-4D97-AF65-F5344CB8AC3E}">
        <p14:creationId xmlns:p14="http://schemas.microsoft.com/office/powerpoint/2010/main" val="133259415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Rectangle 35">
            <a:extLst>
              <a:ext uri="{FF2B5EF4-FFF2-40B4-BE49-F238E27FC236}">
                <a16:creationId xmlns:a16="http://schemas.microsoft.com/office/drawing/2014/main" id="{90B44F3E-7353-4047-B2FE-7A7B2B20935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82475" cy="76200"/>
          </a:xfrm>
          <a:prstGeom prst="rect">
            <a:avLst/>
          </a:prstGeom>
          <a:solidFill>
            <a:srgbClr val="0B7895"/>
          </a:solidFill>
          <a:ln w="0">
            <a:solidFill>
              <a:srgbClr val="0B7895"/>
            </a:solidFill>
            <a:prstDash val="solid"/>
          </a:ln>
        </p:spPr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508F386E-9063-410A-A795-20058E584276}"/>
              </a:ext>
            </a:extLst>
          </p:cNvPr>
          <p:cNvSpPr>
            <a:spLocks noGrp="1"/>
          </p:cNvSpPr>
          <p:nvPr/>
        </p:nvSpPr>
        <p:spPr>
          <a:xfrm>
            <a:off x="438150" y="228600"/>
            <a:ext cx="1000125" cy="552450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9525">
            <a:solidFill>
              <a:srgbClr val="C9D6E2"/>
            </a:solidFill>
            <a:prstDash val="solid"/>
          </a:ln>
        </p:spPr>
      </p:sp>
      <p:pic>
        <p:nvPicPr>
          <p:cNvPr id="38" name="Picture 37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514350" y="450359"/>
            <a:ext cx="847725" cy="108932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D75E5422-9EBB-42BF-96A6-B6DBDC51EDE3}"/>
              </a:ext>
            </a:extLst>
          </p:cNvPr>
          <p:cNvSpPr>
            <a:spLocks noGrp="1"/>
          </p:cNvSpPr>
          <p:nvPr/>
        </p:nvSpPr>
        <p:spPr>
          <a:xfrm>
            <a:off x="1657350" y="266700"/>
            <a:ext cx="6953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900" b="1">
                <a:solidFill>
                  <a:srgbClr val="1264A3"/>
                </a:solidFill>
              </a:defRPr>
            </a:pPr>
            <a:r>
              <a:rPr sz="900" b="1">
                <a:solidFill>
                  <a:srgbClr val="1264A3"/>
                </a:solidFill>
              </a:rPr>
              <a:t>CSA15  |  CLOUD COMPUTING AND BIG DATA ANALYTICS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8309372-4133-4A9F-A74B-639F85EAB1D9}"/>
              </a:ext>
            </a:extLst>
          </p:cNvPr>
          <p:cNvSpPr>
            <a:spLocks noGrp="1"/>
          </p:cNvSpPr>
          <p:nvPr/>
        </p:nvSpPr>
        <p:spPr>
          <a:xfrm>
            <a:off x="9572625" y="266700"/>
            <a:ext cx="2095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825" b="1">
                <a:solidFill>
                  <a:srgbClr val="0B7895"/>
                </a:solidFill>
              </a:defRPr>
            </a:pPr>
            <a:r>
              <a:rPr sz="825" b="1">
                <a:solidFill>
                  <a:srgbClr val="0B7895"/>
                </a:solidFill>
              </a:rPr>
              <a:t>CAPSTONE FINAL DEFENSE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05BD936-DECB-4CB2-BB67-C57391509EE3}"/>
              </a:ext>
            </a:extLst>
          </p:cNvPr>
          <p:cNvSpPr>
            <a:spLocks noGrp="1"/>
          </p:cNvSpPr>
          <p:nvPr/>
        </p:nvSpPr>
        <p:spPr>
          <a:xfrm>
            <a:off x="514350" y="981075"/>
            <a:ext cx="102870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2325" b="1">
                <a:solidFill>
                  <a:srgbClr val="0B2E4F"/>
                </a:solidFill>
              </a:defRPr>
            </a:pPr>
            <a:r>
              <a:rPr sz="2325" b="1">
                <a:solidFill>
                  <a:srgbClr val="0B2E4F"/>
                </a:solidFill>
              </a:rPr>
              <a:t>Deployment and Functional Flow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8A876AC-8AAB-41F8-89C4-E3D502D1568C}"/>
              </a:ext>
            </a:extLst>
          </p:cNvPr>
          <p:cNvSpPr>
            <a:spLocks noGrp="1"/>
          </p:cNvSpPr>
          <p:nvPr/>
        </p:nvSpPr>
        <p:spPr>
          <a:xfrm>
            <a:off x="533400" y="1457325"/>
            <a:ext cx="10287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1125" b="0">
                <a:solidFill>
                  <a:srgbClr val="52677A"/>
                </a:solidFill>
              </a:defRPr>
            </a:pPr>
            <a:r>
              <a:rPr sz="1125" b="0">
                <a:solidFill>
                  <a:srgbClr val="52677A"/>
                </a:solidFill>
              </a:rPr>
              <a:t>Trace one complete request from user input to cloud processing and returned output.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C92D1F4-B2AC-46A0-9C88-924813EECDCF}"/>
              </a:ext>
            </a:extLst>
          </p:cNvPr>
          <p:cNvSpPr>
            <a:spLocks noGrp="1"/>
          </p:cNvSpPr>
          <p:nvPr/>
        </p:nvSpPr>
        <p:spPr>
          <a:xfrm>
            <a:off x="514350" y="1847850"/>
            <a:ext cx="11153775" cy="19050"/>
          </a:xfrm>
          <a:prstGeom prst="rect">
            <a:avLst/>
          </a:prstGeom>
          <a:solidFill>
            <a:srgbClr val="C9D6E2"/>
          </a:solidFill>
          <a:ln w="0">
            <a:solidFill>
              <a:srgbClr val="C9D6E2"/>
            </a:solidFill>
            <a:prstDash val="solid"/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295240E-F12D-4DB5-9BE1-9343EEE71984}"/>
              </a:ext>
            </a:extLst>
          </p:cNvPr>
          <p:cNvSpPr>
            <a:spLocks noGrp="1"/>
          </p:cNvSpPr>
          <p:nvPr/>
        </p:nvSpPr>
        <p:spPr>
          <a:xfrm>
            <a:off x="0" y="6419850"/>
            <a:ext cx="12182475" cy="438150"/>
          </a:xfrm>
          <a:prstGeom prst="rect">
            <a:avLst/>
          </a:prstGeom>
          <a:solidFill>
            <a:srgbClr val="0B2E4F"/>
          </a:solidFill>
          <a:ln w="0">
            <a:solidFill>
              <a:srgbClr val="0B2E4F"/>
            </a:solidFill>
            <a:prstDash val="solid"/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09C318D-8C26-44DD-AC0A-542B05BBC71B}"/>
              </a:ext>
            </a:extLst>
          </p:cNvPr>
          <p:cNvSpPr>
            <a:spLocks noGrp="1"/>
          </p:cNvSpPr>
          <p:nvPr/>
        </p:nvSpPr>
        <p:spPr>
          <a:xfrm>
            <a:off x="11049000" y="6515100"/>
            <a:ext cx="6191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975" b="1">
                <a:solidFill>
                  <a:srgbClr val="D39216"/>
                </a:solidFill>
              </a:defRPr>
            </a:pPr>
            <a:r>
              <a:rPr sz="975" b="1">
                <a:solidFill>
                  <a:srgbClr val="D39216"/>
                </a:solidFill>
              </a:rPr>
              <a:t>18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9C68F54-9F10-43EC-8249-68632E477E4A}"/>
              </a:ext>
            </a:extLst>
          </p:cNvPr>
          <p:cNvSpPr>
            <a:spLocks noGrp="1"/>
          </p:cNvSpPr>
          <p:nvPr/>
        </p:nvSpPr>
        <p:spPr>
          <a:xfrm>
            <a:off x="4191000" y="6715125"/>
            <a:ext cx="3810000" cy="1047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600" b="0">
                <a:solidFill>
                  <a:srgbClr val="BFD3E1"/>
                </a:solidFill>
              </a:defRPr>
            </a:pPr>
            <a:r>
              <a:rPr sz="600" b="0">
                <a:solidFill>
                  <a:srgbClr val="BFD3E1"/>
                </a:solidFill>
              </a:rPr>
              <a:t>Dr. C. Rajesh Babu | SSETSCS415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170244C-0328-4ACB-B0B3-CDC2971281F2}"/>
              </a:ext>
            </a:extLst>
          </p:cNvPr>
          <p:cNvSpPr>
            <a:spLocks noGrp="1"/>
          </p:cNvSpPr>
          <p:nvPr/>
        </p:nvSpPr>
        <p:spPr>
          <a:xfrm>
            <a:off x="514350" y="2381250"/>
            <a:ext cx="2616994" cy="1066800"/>
          </a:xfrm>
          <a:prstGeom prst="rect">
            <a:avLst/>
          </a:prstGeom>
          <a:solidFill>
            <a:srgbClr val="0B2E4F"/>
          </a:solidFill>
          <a:ln w="0">
            <a:noFill/>
            <a:prstDash val="solid"/>
          </a:ln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6B0ABAF-A8FC-4A69-A31D-0C8EE2D3DAE8}"/>
              </a:ext>
            </a:extLst>
          </p:cNvPr>
          <p:cNvSpPr>
            <a:spLocks noGrp="1"/>
          </p:cNvSpPr>
          <p:nvPr/>
        </p:nvSpPr>
        <p:spPr>
          <a:xfrm>
            <a:off x="628650" y="2590800"/>
            <a:ext cx="2388394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USER INPUT</a:t>
            </a:r>
          </a:p>
        </p:txBody>
      </p:sp>
      <p:sp>
        <p:nvSpPr>
          <p:cNvPr id="15" name="Arrow: Right 14">
            <a:extLst>
              <a:ext uri="{FF2B5EF4-FFF2-40B4-BE49-F238E27FC236}">
                <a16:creationId xmlns:a16="http://schemas.microsoft.com/office/drawing/2014/main" id="{7D70854F-6388-4157-B18C-5C93D029E72D}"/>
              </a:ext>
            </a:extLst>
          </p:cNvPr>
          <p:cNvSpPr>
            <a:spLocks noGrp="1"/>
          </p:cNvSpPr>
          <p:nvPr/>
        </p:nvSpPr>
        <p:spPr>
          <a:xfrm>
            <a:off x="3159919" y="2743200"/>
            <a:ext cx="171450" cy="342900"/>
          </a:xfrm>
          <a:prstGeom prst="rightArrow">
            <a:avLst/>
          </a:prstGeom>
          <a:solidFill>
            <a:srgbClr val="D39216"/>
          </a:solidFill>
          <a:ln w="0">
            <a:solidFill>
              <a:srgbClr val="D39216"/>
            </a:solidFill>
            <a:prstDash val="solid"/>
          </a:ln>
        </p:spPr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BC81888-22A5-41ED-A206-238C6EC888E9}"/>
              </a:ext>
            </a:extLst>
          </p:cNvPr>
          <p:cNvSpPr>
            <a:spLocks noGrp="1"/>
          </p:cNvSpPr>
          <p:nvPr/>
        </p:nvSpPr>
        <p:spPr>
          <a:xfrm>
            <a:off x="3359944" y="2381250"/>
            <a:ext cx="2616994" cy="1066800"/>
          </a:xfrm>
          <a:prstGeom prst="rect">
            <a:avLst/>
          </a:prstGeom>
          <a:solidFill>
            <a:srgbClr val="1264A3"/>
          </a:solidFill>
          <a:ln w="0">
            <a:noFill/>
            <a:prstDash val="solid"/>
          </a:ln>
        </p:spPr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92773D8-E8B8-4D70-A337-A79E213B0D54}"/>
              </a:ext>
            </a:extLst>
          </p:cNvPr>
          <p:cNvSpPr>
            <a:spLocks noGrp="1"/>
          </p:cNvSpPr>
          <p:nvPr/>
        </p:nvSpPr>
        <p:spPr>
          <a:xfrm>
            <a:off x="3474244" y="2590800"/>
            <a:ext cx="2388394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API + PROCESSING</a:t>
            </a:r>
          </a:p>
        </p:txBody>
      </p:sp>
      <p:sp>
        <p:nvSpPr>
          <p:cNvPr id="18" name="Arrow: Right 17">
            <a:extLst>
              <a:ext uri="{FF2B5EF4-FFF2-40B4-BE49-F238E27FC236}">
                <a16:creationId xmlns:a16="http://schemas.microsoft.com/office/drawing/2014/main" id="{0B4AF216-CCBC-4D56-9AD8-317425BEA4F3}"/>
              </a:ext>
            </a:extLst>
          </p:cNvPr>
          <p:cNvSpPr>
            <a:spLocks noGrp="1"/>
          </p:cNvSpPr>
          <p:nvPr/>
        </p:nvSpPr>
        <p:spPr>
          <a:xfrm>
            <a:off x="6005513" y="2743200"/>
            <a:ext cx="171450" cy="342900"/>
          </a:xfrm>
          <a:prstGeom prst="rightArrow">
            <a:avLst/>
          </a:prstGeom>
          <a:solidFill>
            <a:srgbClr val="D39216"/>
          </a:solidFill>
          <a:ln w="0">
            <a:solidFill>
              <a:srgbClr val="D39216"/>
            </a:solidFill>
            <a:prstDash val="solid"/>
          </a:ln>
        </p:spPr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FE7DA7F7-E15D-4419-A291-D03A85E86B24}"/>
              </a:ext>
            </a:extLst>
          </p:cNvPr>
          <p:cNvSpPr>
            <a:spLocks noGrp="1"/>
          </p:cNvSpPr>
          <p:nvPr/>
        </p:nvSpPr>
        <p:spPr>
          <a:xfrm>
            <a:off x="6205538" y="2381250"/>
            <a:ext cx="2616994" cy="1066800"/>
          </a:xfrm>
          <a:prstGeom prst="rect">
            <a:avLst/>
          </a:prstGeom>
          <a:solidFill>
            <a:srgbClr val="0B2E4F"/>
          </a:solidFill>
          <a:ln w="0">
            <a:noFill/>
            <a:prstDash val="solid"/>
          </a:ln>
        </p:spPr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78A77351-0300-4B5E-A686-CCD927038B9C}"/>
              </a:ext>
            </a:extLst>
          </p:cNvPr>
          <p:cNvSpPr>
            <a:spLocks noGrp="1"/>
          </p:cNvSpPr>
          <p:nvPr/>
        </p:nvSpPr>
        <p:spPr>
          <a:xfrm>
            <a:off x="6319838" y="2590800"/>
            <a:ext cx="2388394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CLOUD DATA / SERVICE</a:t>
            </a:r>
          </a:p>
        </p:txBody>
      </p:sp>
      <p:sp>
        <p:nvSpPr>
          <p:cNvPr id="21" name="Arrow: Right 20">
            <a:extLst>
              <a:ext uri="{FF2B5EF4-FFF2-40B4-BE49-F238E27FC236}">
                <a16:creationId xmlns:a16="http://schemas.microsoft.com/office/drawing/2014/main" id="{55E470A6-6AE6-4AFE-8B26-00B6722696A7}"/>
              </a:ext>
            </a:extLst>
          </p:cNvPr>
          <p:cNvSpPr>
            <a:spLocks noGrp="1"/>
          </p:cNvSpPr>
          <p:nvPr/>
        </p:nvSpPr>
        <p:spPr>
          <a:xfrm>
            <a:off x="8851106" y="2743200"/>
            <a:ext cx="171450" cy="342900"/>
          </a:xfrm>
          <a:prstGeom prst="rightArrow">
            <a:avLst/>
          </a:prstGeom>
          <a:solidFill>
            <a:srgbClr val="D39216"/>
          </a:solidFill>
          <a:ln w="0">
            <a:solidFill>
              <a:srgbClr val="D39216"/>
            </a:solidFill>
            <a:prstDash val="solid"/>
          </a:ln>
        </p:spPr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9F14EF84-76D1-4A15-9F75-7032EE326978}"/>
              </a:ext>
            </a:extLst>
          </p:cNvPr>
          <p:cNvSpPr>
            <a:spLocks noGrp="1"/>
          </p:cNvSpPr>
          <p:nvPr/>
        </p:nvSpPr>
        <p:spPr>
          <a:xfrm>
            <a:off x="9051131" y="2381250"/>
            <a:ext cx="2616994" cy="1066800"/>
          </a:xfrm>
          <a:prstGeom prst="rect">
            <a:avLst/>
          </a:prstGeom>
          <a:solidFill>
            <a:srgbClr val="1264A3"/>
          </a:solidFill>
          <a:ln w="0">
            <a:noFill/>
            <a:prstDash val="solid"/>
          </a:ln>
        </p:spPr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125FC52B-23D0-4F97-B6B8-37A558F27DE7}"/>
              </a:ext>
            </a:extLst>
          </p:cNvPr>
          <p:cNvSpPr>
            <a:spLocks noGrp="1"/>
          </p:cNvSpPr>
          <p:nvPr/>
        </p:nvSpPr>
        <p:spPr>
          <a:xfrm>
            <a:off x="9165431" y="2590800"/>
            <a:ext cx="2388394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RESPONSE + EVIDENCE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43FBE343-5C08-4874-89DD-D8F8C60E989E}"/>
              </a:ext>
            </a:extLst>
          </p:cNvPr>
          <p:cNvSpPr>
            <a:spLocks noGrp="1"/>
          </p:cNvSpPr>
          <p:nvPr/>
        </p:nvSpPr>
        <p:spPr>
          <a:xfrm>
            <a:off x="514350" y="3943350"/>
            <a:ext cx="3565525" cy="1905000"/>
          </a:xfrm>
          <a:prstGeom prst="rect">
            <a:avLst/>
          </a:prstGeom>
          <a:solidFill>
            <a:srgbClr val="FFFFFF"/>
          </a:solidFill>
          <a:ln w="9525">
            <a:solidFill>
              <a:srgbClr val="C9D6E2"/>
            </a:solidFill>
            <a:prstDash val="solid"/>
          </a:ln>
        </p:spPr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FD413443-7F5D-477F-9A01-D42F62C2449D}"/>
              </a:ext>
            </a:extLst>
          </p:cNvPr>
          <p:cNvSpPr>
            <a:spLocks noGrp="1"/>
          </p:cNvSpPr>
          <p:nvPr/>
        </p:nvSpPr>
        <p:spPr>
          <a:xfrm>
            <a:off x="514350" y="3943350"/>
            <a:ext cx="57150" cy="1905000"/>
          </a:xfrm>
          <a:prstGeom prst="rect">
            <a:avLst/>
          </a:prstGeom>
          <a:solidFill>
            <a:srgbClr val="1264A3"/>
          </a:solidFill>
          <a:ln w="0">
            <a:solidFill>
              <a:srgbClr val="1264A3"/>
            </a:solidFill>
            <a:prstDash val="solid"/>
          </a:ln>
        </p:spPr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30A5C576-7670-4B02-AD3F-7FC2FAD0CF7D}"/>
              </a:ext>
            </a:extLst>
          </p:cNvPr>
          <p:cNvSpPr>
            <a:spLocks noGrp="1"/>
          </p:cNvSpPr>
          <p:nvPr/>
        </p:nvSpPr>
        <p:spPr>
          <a:xfrm>
            <a:off x="723900" y="4095750"/>
            <a:ext cx="3165475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900" b="1">
                <a:solidFill>
                  <a:srgbClr val="1264A3"/>
                </a:solidFill>
              </a:defRPr>
            </a:pPr>
            <a:r>
              <a:rPr sz="900" b="1">
                <a:solidFill>
                  <a:srgbClr val="1264A3"/>
                </a:solidFill>
              </a:rPr>
              <a:t>DEPLOYMENT ENVIRONMENT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4AE7FDD0-58E3-4E2F-A8CB-8F1E98127F0C}"/>
              </a:ext>
            </a:extLst>
          </p:cNvPr>
          <p:cNvSpPr>
            <a:spLocks noGrp="1"/>
          </p:cNvSpPr>
          <p:nvPr/>
        </p:nvSpPr>
        <p:spPr>
          <a:xfrm>
            <a:off x="723900" y="4400550"/>
            <a:ext cx="3165475" cy="1314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1050" b="0">
                <a:solidFill>
                  <a:srgbClr val="183247"/>
                </a:solidFill>
              </a:defRPr>
            </a:pPr>
            <a:r>
              <a:rPr sz="1050" b="0">
                <a:solidFill>
                  <a:srgbClr val="183247"/>
                </a:solidFill>
              </a:rPr>
              <a:t>Deployed on a cloud application host with a managed PostgreSQL 15 instance; FastAPI backend serving REST endpoints; React frontend served as a static build; public HTTPS endpoint at the live deployment link on Slide 1.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541626A4-4591-4374-BE04-B276CBA946B9}"/>
              </a:ext>
            </a:extLst>
          </p:cNvPr>
          <p:cNvSpPr>
            <a:spLocks noGrp="1"/>
          </p:cNvSpPr>
          <p:nvPr/>
        </p:nvSpPr>
        <p:spPr>
          <a:xfrm>
            <a:off x="4308475" y="3943350"/>
            <a:ext cx="3565525" cy="1905000"/>
          </a:xfrm>
          <a:prstGeom prst="rect">
            <a:avLst/>
          </a:prstGeom>
          <a:solidFill>
            <a:srgbClr val="FFFFFF"/>
          </a:solidFill>
          <a:ln w="9525">
            <a:solidFill>
              <a:srgbClr val="C9D6E2"/>
            </a:solidFill>
            <a:prstDash val="solid"/>
          </a:ln>
        </p:spPr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EFB50DDF-4F1F-4DF6-BF2A-763528089D19}"/>
              </a:ext>
            </a:extLst>
          </p:cNvPr>
          <p:cNvSpPr>
            <a:spLocks noGrp="1"/>
          </p:cNvSpPr>
          <p:nvPr/>
        </p:nvSpPr>
        <p:spPr>
          <a:xfrm>
            <a:off x="4308475" y="3943350"/>
            <a:ext cx="57150" cy="1905000"/>
          </a:xfrm>
          <a:prstGeom prst="rect">
            <a:avLst/>
          </a:prstGeom>
          <a:solidFill>
            <a:srgbClr val="0B7895"/>
          </a:solidFill>
          <a:ln w="0">
            <a:solidFill>
              <a:srgbClr val="0B7895"/>
            </a:solidFill>
            <a:prstDash val="solid"/>
          </a:ln>
        </p:spPr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9C47FE4A-2B6C-453C-A553-1068AC714E8E}"/>
              </a:ext>
            </a:extLst>
          </p:cNvPr>
          <p:cNvSpPr>
            <a:spLocks noGrp="1"/>
          </p:cNvSpPr>
          <p:nvPr/>
        </p:nvSpPr>
        <p:spPr>
          <a:xfrm>
            <a:off x="4518025" y="4095750"/>
            <a:ext cx="3165475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900" b="1">
                <a:solidFill>
                  <a:srgbClr val="0B7895"/>
                </a:solidFill>
              </a:defRPr>
            </a:pPr>
            <a:r>
              <a:rPr sz="900" b="1">
                <a:solidFill>
                  <a:srgbClr val="0B7895"/>
                </a:solidFill>
              </a:rPr>
              <a:t>FUNCTIONAL PROOF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4E178520-4179-453A-ABE7-015FCEE944E1}"/>
              </a:ext>
            </a:extLst>
          </p:cNvPr>
          <p:cNvSpPr>
            <a:spLocks noGrp="1"/>
          </p:cNvSpPr>
          <p:nvPr/>
        </p:nvSpPr>
        <p:spPr>
          <a:xfrm>
            <a:off x="4518025" y="4400550"/>
            <a:ext cx="3165475" cy="1314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1050" b="0">
                <a:solidFill>
                  <a:srgbClr val="183247"/>
                </a:solidFill>
              </a:defRPr>
            </a:pPr>
            <a:r>
              <a:rPr sz="1050" b="0">
                <a:solidFill>
                  <a:srgbClr val="183247"/>
                </a:solidFill>
              </a:rPr>
              <a:t>Staff logs in, adds a medicine record via the dashboard, and the updated stock/expiry status is immediately reflected on the dashboard, confirming the full request-response cycle.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A1B6622E-2FAA-4BF7-8128-0FC474C6B426}"/>
              </a:ext>
            </a:extLst>
          </p:cNvPr>
          <p:cNvSpPr>
            <a:spLocks noGrp="1"/>
          </p:cNvSpPr>
          <p:nvPr/>
        </p:nvSpPr>
        <p:spPr>
          <a:xfrm>
            <a:off x="8102600" y="3943350"/>
            <a:ext cx="3565525" cy="1905000"/>
          </a:xfrm>
          <a:prstGeom prst="rect">
            <a:avLst/>
          </a:prstGeom>
          <a:solidFill>
            <a:srgbClr val="FFFFFF"/>
          </a:solidFill>
          <a:ln w="9525">
            <a:solidFill>
              <a:srgbClr val="C9D6E2"/>
            </a:solidFill>
            <a:prstDash val="solid"/>
          </a:ln>
        </p:spPr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95E0AD3F-AC24-41C4-AB73-0B8D74163115}"/>
              </a:ext>
            </a:extLst>
          </p:cNvPr>
          <p:cNvSpPr>
            <a:spLocks noGrp="1"/>
          </p:cNvSpPr>
          <p:nvPr/>
        </p:nvSpPr>
        <p:spPr>
          <a:xfrm>
            <a:off x="8102600" y="3943350"/>
            <a:ext cx="57150" cy="1905000"/>
          </a:xfrm>
          <a:prstGeom prst="rect">
            <a:avLst/>
          </a:prstGeom>
          <a:solidFill>
            <a:srgbClr val="D39216"/>
          </a:solidFill>
          <a:ln w="0">
            <a:solidFill>
              <a:srgbClr val="D39216"/>
            </a:solidFill>
            <a:prstDash val="solid"/>
          </a:ln>
        </p:spPr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D468754D-CB6E-46CD-A6DC-FFDD9909BC65}"/>
              </a:ext>
            </a:extLst>
          </p:cNvPr>
          <p:cNvSpPr>
            <a:spLocks noGrp="1"/>
          </p:cNvSpPr>
          <p:nvPr/>
        </p:nvSpPr>
        <p:spPr>
          <a:xfrm>
            <a:off x="8312150" y="4095750"/>
            <a:ext cx="3165475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900" b="1">
                <a:solidFill>
                  <a:srgbClr val="D39216"/>
                </a:solidFill>
              </a:defRPr>
            </a:pPr>
            <a:r>
              <a:rPr sz="900" b="1">
                <a:solidFill>
                  <a:srgbClr val="D39216"/>
                </a:solidFill>
              </a:rPr>
              <a:t>OPERATIONAL PROOF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64C3FDB0-C613-4043-A797-76CD088BE95C}"/>
              </a:ext>
            </a:extLst>
          </p:cNvPr>
          <p:cNvSpPr>
            <a:spLocks noGrp="1"/>
          </p:cNvSpPr>
          <p:nvPr/>
        </p:nvSpPr>
        <p:spPr>
          <a:xfrm>
            <a:off x="8312150" y="4400550"/>
            <a:ext cx="3165475" cy="1314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1050" b="0">
                <a:solidFill>
                  <a:srgbClr val="183247"/>
                </a:solidFill>
              </a:defRPr>
            </a:pPr>
            <a:r>
              <a:rPr sz="1050" b="0">
                <a:solidFill>
                  <a:srgbClr val="183247"/>
                </a:solidFill>
              </a:rPr>
              <a:t>Application logs show successful request handling; database health checks confirm connectivity; rollback via redeploying the previous build version if an issue is detected.</a:t>
            </a:r>
          </a:p>
        </p:txBody>
      </p:sp>
    </p:spTree>
    <p:extLst>
      <p:ext uri="{BB962C8B-B14F-4D97-AF65-F5344CB8AC3E}">
        <p14:creationId xmlns:p14="http://schemas.microsoft.com/office/powerpoint/2010/main" val="61207507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ctangle 30">
            <a:extLst>
              <a:ext uri="{FF2B5EF4-FFF2-40B4-BE49-F238E27FC236}">
                <a16:creationId xmlns:a16="http://schemas.microsoft.com/office/drawing/2014/main" id="{CFC2FEDE-7362-4F5C-B036-E6896B812A9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82475" cy="76200"/>
          </a:xfrm>
          <a:prstGeom prst="rect">
            <a:avLst/>
          </a:prstGeom>
          <a:solidFill>
            <a:srgbClr val="0B7895"/>
          </a:solidFill>
          <a:ln w="0">
            <a:solidFill>
              <a:srgbClr val="0B7895"/>
            </a:solidFill>
            <a:prstDash val="solid"/>
          </a:ln>
        </p:spPr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29B61A00-5752-460C-9662-BBEA428366D4}"/>
              </a:ext>
            </a:extLst>
          </p:cNvPr>
          <p:cNvSpPr>
            <a:spLocks noGrp="1"/>
          </p:cNvSpPr>
          <p:nvPr/>
        </p:nvSpPr>
        <p:spPr>
          <a:xfrm>
            <a:off x="438150" y="228600"/>
            <a:ext cx="1000125" cy="552450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9525">
            <a:solidFill>
              <a:srgbClr val="C9D6E2"/>
            </a:solidFill>
            <a:prstDash val="solid"/>
          </a:ln>
        </p:spPr>
      </p:sp>
      <p:pic>
        <p:nvPicPr>
          <p:cNvPr id="33" name="Picture 32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514350" y="450359"/>
            <a:ext cx="847725" cy="108932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A6EA2078-D00E-46C8-B32A-7AA70CBDECFF}"/>
              </a:ext>
            </a:extLst>
          </p:cNvPr>
          <p:cNvSpPr>
            <a:spLocks noGrp="1"/>
          </p:cNvSpPr>
          <p:nvPr/>
        </p:nvSpPr>
        <p:spPr>
          <a:xfrm>
            <a:off x="1657350" y="266700"/>
            <a:ext cx="6953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900" b="1">
                <a:solidFill>
                  <a:srgbClr val="1264A3"/>
                </a:solidFill>
              </a:defRPr>
            </a:pPr>
            <a:r>
              <a:rPr sz="900" b="1">
                <a:solidFill>
                  <a:srgbClr val="1264A3"/>
                </a:solidFill>
              </a:rPr>
              <a:t>CSA15  |  CLOUD COMPUTING AND BIG DATA ANALYTICS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EFA45AA-B424-4CAD-8E65-448E6080F800}"/>
              </a:ext>
            </a:extLst>
          </p:cNvPr>
          <p:cNvSpPr>
            <a:spLocks noGrp="1"/>
          </p:cNvSpPr>
          <p:nvPr/>
        </p:nvSpPr>
        <p:spPr>
          <a:xfrm>
            <a:off x="9572625" y="266700"/>
            <a:ext cx="2095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825" b="1">
                <a:solidFill>
                  <a:srgbClr val="0B7895"/>
                </a:solidFill>
              </a:defRPr>
            </a:pPr>
            <a:r>
              <a:rPr sz="825" b="1">
                <a:solidFill>
                  <a:srgbClr val="0B7895"/>
                </a:solidFill>
              </a:rPr>
              <a:t>CAPSTONE FINAL DEFENSE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72C3362-9CCA-43FD-8BDB-CF97AB63AF9D}"/>
              </a:ext>
            </a:extLst>
          </p:cNvPr>
          <p:cNvSpPr>
            <a:spLocks noGrp="1"/>
          </p:cNvSpPr>
          <p:nvPr/>
        </p:nvSpPr>
        <p:spPr>
          <a:xfrm>
            <a:off x="514350" y="981075"/>
            <a:ext cx="102870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2325" b="1">
                <a:solidFill>
                  <a:srgbClr val="0B2E4F"/>
                </a:solidFill>
              </a:defRPr>
            </a:pPr>
            <a:r>
              <a:rPr sz="2325" b="1">
                <a:solidFill>
                  <a:srgbClr val="0B2E4F"/>
                </a:solidFill>
              </a:rPr>
              <a:t>Results and Performance Evaluation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C74B04A-EEE1-4BDA-9FC1-3B3F1AFB4FED}"/>
              </a:ext>
            </a:extLst>
          </p:cNvPr>
          <p:cNvSpPr>
            <a:spLocks noGrp="1"/>
          </p:cNvSpPr>
          <p:nvPr/>
        </p:nvSpPr>
        <p:spPr>
          <a:xfrm>
            <a:off x="533400" y="1457325"/>
            <a:ext cx="10287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1125" b="0">
                <a:solidFill>
                  <a:srgbClr val="52677A"/>
                </a:solidFill>
              </a:defRPr>
            </a:pPr>
            <a:r>
              <a:rPr sz="1125" b="0">
                <a:solidFill>
                  <a:srgbClr val="52677A"/>
                </a:solidFill>
              </a:rPr>
              <a:t>Compare achieved measurements with targets or a meaningful baseline.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0D67527-C171-4236-9940-569740434B0B}"/>
              </a:ext>
            </a:extLst>
          </p:cNvPr>
          <p:cNvSpPr>
            <a:spLocks noGrp="1"/>
          </p:cNvSpPr>
          <p:nvPr/>
        </p:nvSpPr>
        <p:spPr>
          <a:xfrm>
            <a:off x="514350" y="1847850"/>
            <a:ext cx="11153775" cy="19050"/>
          </a:xfrm>
          <a:prstGeom prst="rect">
            <a:avLst/>
          </a:prstGeom>
          <a:solidFill>
            <a:srgbClr val="C9D6E2"/>
          </a:solidFill>
          <a:ln w="0">
            <a:solidFill>
              <a:srgbClr val="C9D6E2"/>
            </a:solidFill>
            <a:prstDash val="solid"/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9D067DA-5D2A-400F-A796-C17D56232868}"/>
              </a:ext>
            </a:extLst>
          </p:cNvPr>
          <p:cNvSpPr>
            <a:spLocks noGrp="1"/>
          </p:cNvSpPr>
          <p:nvPr/>
        </p:nvSpPr>
        <p:spPr>
          <a:xfrm>
            <a:off x="0" y="6419850"/>
            <a:ext cx="12182475" cy="438150"/>
          </a:xfrm>
          <a:prstGeom prst="rect">
            <a:avLst/>
          </a:prstGeom>
          <a:solidFill>
            <a:srgbClr val="0B2E4F"/>
          </a:solidFill>
          <a:ln w="0">
            <a:solidFill>
              <a:srgbClr val="0B2E4F"/>
            </a:solidFill>
            <a:prstDash val="solid"/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E3A0095-E3D4-4E84-870A-D9F226A23BD0}"/>
              </a:ext>
            </a:extLst>
          </p:cNvPr>
          <p:cNvSpPr>
            <a:spLocks noGrp="1"/>
          </p:cNvSpPr>
          <p:nvPr/>
        </p:nvSpPr>
        <p:spPr>
          <a:xfrm>
            <a:off x="11049000" y="6515100"/>
            <a:ext cx="6191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975" b="1">
                <a:solidFill>
                  <a:srgbClr val="D39216"/>
                </a:solidFill>
              </a:defRPr>
            </a:pPr>
            <a:r>
              <a:rPr sz="975" b="1">
                <a:solidFill>
                  <a:srgbClr val="D39216"/>
                </a:solidFill>
              </a:rPr>
              <a:t>19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166D8BC-89D4-4E82-A129-45A79D37E3E3}"/>
              </a:ext>
            </a:extLst>
          </p:cNvPr>
          <p:cNvSpPr>
            <a:spLocks noGrp="1"/>
          </p:cNvSpPr>
          <p:nvPr/>
        </p:nvSpPr>
        <p:spPr>
          <a:xfrm>
            <a:off x="4191000" y="6715125"/>
            <a:ext cx="3810000" cy="1047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600" b="0">
                <a:solidFill>
                  <a:srgbClr val="BFD3E1"/>
                </a:solidFill>
              </a:defRPr>
            </a:pPr>
            <a:r>
              <a:rPr sz="600" b="0">
                <a:solidFill>
                  <a:srgbClr val="BFD3E1"/>
                </a:solidFill>
              </a:rPr>
              <a:t>Dr. C. Rajesh Babu | SSETSCS415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B2CA17D-DDF8-4CB5-A90F-DF60388C11EC}"/>
              </a:ext>
            </a:extLst>
          </p:cNvPr>
          <p:cNvSpPr>
            <a:spLocks noGrp="1"/>
          </p:cNvSpPr>
          <p:nvPr/>
        </p:nvSpPr>
        <p:spPr>
          <a:xfrm>
            <a:off x="514350" y="2133600"/>
            <a:ext cx="4648200" cy="3714750"/>
          </a:xfrm>
          <a:prstGeom prst="rect">
            <a:avLst/>
          </a:prstGeom>
          <a:solidFill>
            <a:srgbClr val="EAF3F8"/>
          </a:solidFill>
          <a:ln w="19050">
            <a:solidFill>
              <a:srgbClr val="1264A3"/>
            </a:solidFill>
            <a:prstDash val="solid"/>
          </a:ln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96A8E8B-308F-4B41-A892-CD582F745217}"/>
              </a:ext>
            </a:extLst>
          </p:cNvPr>
          <p:cNvSpPr>
            <a:spLocks noGrp="1"/>
          </p:cNvSpPr>
          <p:nvPr/>
        </p:nvSpPr>
        <p:spPr>
          <a:xfrm>
            <a:off x="838200" y="3276600"/>
            <a:ext cx="40005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1425" b="1">
                <a:solidFill>
                  <a:srgbClr val="1264A3"/>
                </a:solidFill>
              </a:defRPr>
            </a:pPr>
            <a:r>
              <a:rPr sz="1425" b="1">
                <a:solidFill>
                  <a:srgbClr val="1264A3"/>
                </a:solidFill>
              </a:rPr>
              <a:t>[PASTE PERFORMANCE GRAPH / BASELINE COMPARISON]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CBFCC01-9E47-474E-BDD9-61ED6F6C1CBE}"/>
              </a:ext>
            </a:extLst>
          </p:cNvPr>
          <p:cNvSpPr>
            <a:spLocks noGrp="1"/>
          </p:cNvSpPr>
          <p:nvPr/>
        </p:nvSpPr>
        <p:spPr>
          <a:xfrm>
            <a:off x="5410200" y="2133600"/>
            <a:ext cx="1952625" cy="1733550"/>
          </a:xfrm>
          <a:prstGeom prst="rect">
            <a:avLst/>
          </a:prstGeom>
          <a:solidFill>
            <a:srgbClr val="FFFFFF"/>
          </a:solidFill>
          <a:ln w="9525">
            <a:solidFill>
              <a:srgbClr val="C9D6E2"/>
            </a:solidFill>
            <a:prstDash val="solid"/>
          </a:ln>
        </p:spPr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68440C5-B59A-4169-B83C-AC6CD013CDA9}"/>
              </a:ext>
            </a:extLst>
          </p:cNvPr>
          <p:cNvSpPr>
            <a:spLocks noGrp="1"/>
          </p:cNvSpPr>
          <p:nvPr/>
        </p:nvSpPr>
        <p:spPr>
          <a:xfrm>
            <a:off x="5410200" y="2133600"/>
            <a:ext cx="57150" cy="1733550"/>
          </a:xfrm>
          <a:prstGeom prst="rect">
            <a:avLst/>
          </a:prstGeom>
          <a:solidFill>
            <a:srgbClr val="1264A3"/>
          </a:solidFill>
          <a:ln w="0">
            <a:solidFill>
              <a:srgbClr val="1264A3"/>
            </a:solidFill>
            <a:prstDash val="solid"/>
          </a:ln>
        </p:spPr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670250A7-0B50-4865-88C6-32F2FD2C1CC8}"/>
              </a:ext>
            </a:extLst>
          </p:cNvPr>
          <p:cNvSpPr>
            <a:spLocks noGrp="1"/>
          </p:cNvSpPr>
          <p:nvPr/>
        </p:nvSpPr>
        <p:spPr>
          <a:xfrm>
            <a:off x="5619750" y="2286000"/>
            <a:ext cx="1552575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900" b="1">
                <a:solidFill>
                  <a:srgbClr val="1264A3"/>
                </a:solidFill>
              </a:defRPr>
            </a:pPr>
            <a:r>
              <a:rPr sz="900" b="1">
                <a:solidFill>
                  <a:srgbClr val="1264A3"/>
                </a:solidFill>
              </a:rPr>
              <a:t>METRIC 1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E732CC2-3CAA-48FB-8854-14FD0AFFAE71}"/>
              </a:ext>
            </a:extLst>
          </p:cNvPr>
          <p:cNvSpPr>
            <a:spLocks noGrp="1"/>
          </p:cNvSpPr>
          <p:nvPr/>
        </p:nvSpPr>
        <p:spPr>
          <a:xfrm>
            <a:off x="5619750" y="2590800"/>
            <a:ext cx="1552575" cy="1143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1050" b="0">
                <a:solidFill>
                  <a:srgbClr val="183247"/>
                </a:solidFill>
              </a:defRPr>
            </a:pPr>
            <a:r>
              <a:rPr sz="1050" b="0">
                <a:solidFill>
                  <a:srgbClr val="183247"/>
                </a:solidFill>
              </a:rPr>
              <a:t>Target: correctly flag all near-expiry items within threshold</a:t>
            </a:r>
          </a:p>
          <a:p>
            <a:pPr>
              <a:defRPr sz="1050" b="0">
                <a:solidFill>
                  <a:srgbClr val="183247"/>
                </a:solidFill>
              </a:defRPr>
            </a:pPr>
            <a:r>
              <a:rPr sz="1050" b="0">
                <a:solidFill>
                  <a:srgbClr val="183247"/>
                </a:solidFill>
              </a:rPr>
              <a:t>Achieved: 100% of test records correctly flagged</a:t>
            </a:r>
          </a:p>
          <a:p>
            <a:pPr>
              <a:defRPr sz="1050" b="0">
                <a:solidFill>
                  <a:srgbClr val="183247"/>
                </a:solidFill>
              </a:defRPr>
            </a:pPr>
            <a:r>
              <a:rPr sz="1050" b="0">
                <a:solidFill>
                  <a:srgbClr val="183247"/>
                </a:solidFill>
              </a:rPr>
              <a:t>Interpretation: expiry detection logic performs reliably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AAD1FA8-057C-4078-A3A2-C97B51234032}"/>
              </a:ext>
            </a:extLst>
          </p:cNvPr>
          <p:cNvSpPr>
            <a:spLocks noGrp="1"/>
          </p:cNvSpPr>
          <p:nvPr/>
        </p:nvSpPr>
        <p:spPr>
          <a:xfrm>
            <a:off x="7562850" y="2133600"/>
            <a:ext cx="1952625" cy="1733550"/>
          </a:xfrm>
          <a:prstGeom prst="rect">
            <a:avLst/>
          </a:prstGeom>
          <a:solidFill>
            <a:srgbClr val="FFFFFF"/>
          </a:solidFill>
          <a:ln w="9525">
            <a:solidFill>
              <a:srgbClr val="C9D6E2"/>
            </a:solidFill>
            <a:prstDash val="solid"/>
          </a:ln>
        </p:spPr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23F69BE0-977D-4B00-8CAA-55AB9E59C69A}"/>
              </a:ext>
            </a:extLst>
          </p:cNvPr>
          <p:cNvSpPr>
            <a:spLocks noGrp="1"/>
          </p:cNvSpPr>
          <p:nvPr/>
        </p:nvSpPr>
        <p:spPr>
          <a:xfrm>
            <a:off x="7562850" y="2133600"/>
            <a:ext cx="57150" cy="1733550"/>
          </a:xfrm>
          <a:prstGeom prst="rect">
            <a:avLst/>
          </a:prstGeom>
          <a:solidFill>
            <a:srgbClr val="0B7895"/>
          </a:solidFill>
          <a:ln w="0">
            <a:solidFill>
              <a:srgbClr val="0B7895"/>
            </a:solidFill>
            <a:prstDash val="solid"/>
          </a:ln>
        </p:spPr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9E08C045-03F2-41EE-B898-C492A877FBE8}"/>
              </a:ext>
            </a:extLst>
          </p:cNvPr>
          <p:cNvSpPr>
            <a:spLocks noGrp="1"/>
          </p:cNvSpPr>
          <p:nvPr/>
        </p:nvSpPr>
        <p:spPr>
          <a:xfrm>
            <a:off x="7772400" y="2286000"/>
            <a:ext cx="1552575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900" b="1">
                <a:solidFill>
                  <a:srgbClr val="0B7895"/>
                </a:solidFill>
              </a:defRPr>
            </a:pPr>
            <a:r>
              <a:rPr sz="900" b="1">
                <a:solidFill>
                  <a:srgbClr val="0B7895"/>
                </a:solidFill>
              </a:rPr>
              <a:t>METRIC 2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1CE1F879-A915-44E0-828A-0CE2925E6406}"/>
              </a:ext>
            </a:extLst>
          </p:cNvPr>
          <p:cNvSpPr>
            <a:spLocks noGrp="1"/>
          </p:cNvSpPr>
          <p:nvPr/>
        </p:nvSpPr>
        <p:spPr>
          <a:xfrm>
            <a:off x="7772400" y="2590800"/>
            <a:ext cx="1552575" cy="1143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1050" b="0">
                <a:solidFill>
                  <a:srgbClr val="183247"/>
                </a:solidFill>
              </a:defRPr>
            </a:pPr>
            <a:r>
              <a:rPr sz="1050" b="0">
                <a:solidFill>
                  <a:srgbClr val="183247"/>
                </a:solidFill>
              </a:rPr>
              <a:t>Target: dashboard reflects updated stock/expiry data promptly</a:t>
            </a:r>
          </a:p>
          <a:p>
            <a:pPr>
              <a:defRPr sz="1050" b="0">
                <a:solidFill>
                  <a:srgbClr val="183247"/>
                </a:solidFill>
              </a:defRPr>
            </a:pPr>
            <a:r>
              <a:rPr sz="1050" b="0">
                <a:solidFill>
                  <a:srgbClr val="183247"/>
                </a:solidFill>
              </a:rPr>
              <a:t>Achieved: dashboard updated correctly after each test transaction</a:t>
            </a:r>
          </a:p>
          <a:p>
            <a:pPr>
              <a:defRPr sz="1050" b="0">
                <a:solidFill>
                  <a:srgbClr val="183247"/>
                </a:solidFill>
              </a:defRPr>
            </a:pPr>
            <a:r>
              <a:rPr sz="1050" b="0">
                <a:solidFill>
                  <a:srgbClr val="183247"/>
                </a:solidFill>
              </a:rPr>
              <a:t>Interpretation: aggregation queries are lightweight enough for responsive use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6A48EA6B-DEAA-4534-B4F3-F6B3FF2C2C81}"/>
              </a:ext>
            </a:extLst>
          </p:cNvPr>
          <p:cNvSpPr>
            <a:spLocks noGrp="1"/>
          </p:cNvSpPr>
          <p:nvPr/>
        </p:nvSpPr>
        <p:spPr>
          <a:xfrm>
            <a:off x="9715500" y="2133600"/>
            <a:ext cx="1952625" cy="1733550"/>
          </a:xfrm>
          <a:prstGeom prst="rect">
            <a:avLst/>
          </a:prstGeom>
          <a:solidFill>
            <a:srgbClr val="FFFFFF"/>
          </a:solidFill>
          <a:ln w="9525">
            <a:solidFill>
              <a:srgbClr val="C9D6E2"/>
            </a:solidFill>
            <a:prstDash val="solid"/>
          </a:ln>
        </p:spPr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AA9501B9-F1FF-4AAE-B44D-BDE9D6E2BB08}"/>
              </a:ext>
            </a:extLst>
          </p:cNvPr>
          <p:cNvSpPr>
            <a:spLocks noGrp="1"/>
          </p:cNvSpPr>
          <p:nvPr/>
        </p:nvSpPr>
        <p:spPr>
          <a:xfrm>
            <a:off x="9715500" y="2133600"/>
            <a:ext cx="57150" cy="1733550"/>
          </a:xfrm>
          <a:prstGeom prst="rect">
            <a:avLst/>
          </a:prstGeom>
          <a:solidFill>
            <a:srgbClr val="D39216"/>
          </a:solidFill>
          <a:ln w="0">
            <a:solidFill>
              <a:srgbClr val="D39216"/>
            </a:solidFill>
            <a:prstDash val="solid"/>
          </a:ln>
        </p:spPr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3C51B481-1270-42F9-8393-3276C47FC592}"/>
              </a:ext>
            </a:extLst>
          </p:cNvPr>
          <p:cNvSpPr>
            <a:spLocks noGrp="1"/>
          </p:cNvSpPr>
          <p:nvPr/>
        </p:nvSpPr>
        <p:spPr>
          <a:xfrm>
            <a:off x="9925050" y="2286000"/>
            <a:ext cx="1552575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900" b="1">
                <a:solidFill>
                  <a:srgbClr val="D39216"/>
                </a:solidFill>
              </a:defRPr>
            </a:pPr>
            <a:r>
              <a:rPr sz="900" b="1">
                <a:solidFill>
                  <a:srgbClr val="D39216"/>
                </a:solidFill>
              </a:rPr>
              <a:t>METRIC 3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F2DFC90A-00AC-46D0-9B94-AE8CA9EC9A0F}"/>
              </a:ext>
            </a:extLst>
          </p:cNvPr>
          <p:cNvSpPr>
            <a:spLocks noGrp="1"/>
          </p:cNvSpPr>
          <p:nvPr/>
        </p:nvSpPr>
        <p:spPr>
          <a:xfrm>
            <a:off x="9925050" y="2590800"/>
            <a:ext cx="1552575" cy="1143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1050" b="0">
                <a:solidFill>
                  <a:srgbClr val="183247"/>
                </a:solidFill>
              </a:defRPr>
            </a:pPr>
            <a:r>
              <a:rPr sz="1050" b="0">
                <a:solidFill>
                  <a:srgbClr val="183247"/>
                </a:solidFill>
              </a:rPr>
              <a:t>Target: reduce manual tracking effort versus spreadsheet-based process</a:t>
            </a:r>
          </a:p>
          <a:p>
            <a:pPr>
              <a:defRPr sz="1050" b="0">
                <a:solidFill>
                  <a:srgbClr val="183247"/>
                </a:solidFill>
              </a:defRPr>
            </a:pPr>
            <a:r>
              <a:rPr sz="1050" b="0">
                <a:solidFill>
                  <a:srgbClr val="183247"/>
                </a:solidFill>
              </a:rPr>
              <a:t>Achieved: centralized alerts remove need for manual expiry review</a:t>
            </a:r>
          </a:p>
          <a:p>
            <a:pPr>
              <a:defRPr sz="1050" b="0">
                <a:solidFill>
                  <a:srgbClr val="183247"/>
                </a:solidFill>
              </a:defRPr>
            </a:pPr>
            <a:r>
              <a:rPr sz="1050" b="0">
                <a:solidFill>
                  <a:srgbClr val="183247"/>
                </a:solidFill>
              </a:rPr>
              <a:t>Interpretation: automated flagging reduces risk of missed restocking/expiry events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4D2EE5DF-424C-4170-9F2B-026B1469FA5C}"/>
              </a:ext>
            </a:extLst>
          </p:cNvPr>
          <p:cNvSpPr>
            <a:spLocks noGrp="1"/>
          </p:cNvSpPr>
          <p:nvPr/>
        </p:nvSpPr>
        <p:spPr>
          <a:xfrm>
            <a:off x="5410200" y="4076700"/>
            <a:ext cx="6257925" cy="1771650"/>
          </a:xfrm>
          <a:prstGeom prst="rect">
            <a:avLst/>
          </a:prstGeom>
          <a:solidFill>
            <a:srgbClr val="FFFFFF"/>
          </a:solidFill>
          <a:ln w="9525">
            <a:solidFill>
              <a:srgbClr val="C9D6E2"/>
            </a:solidFill>
            <a:prstDash val="solid"/>
          </a:ln>
        </p:spPr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123E4F77-98D2-49AE-9313-059A3586BE42}"/>
              </a:ext>
            </a:extLst>
          </p:cNvPr>
          <p:cNvSpPr>
            <a:spLocks noGrp="1"/>
          </p:cNvSpPr>
          <p:nvPr/>
        </p:nvSpPr>
        <p:spPr>
          <a:xfrm>
            <a:off x="5410200" y="4076700"/>
            <a:ext cx="57150" cy="1771650"/>
          </a:xfrm>
          <a:prstGeom prst="rect">
            <a:avLst/>
          </a:prstGeom>
          <a:solidFill>
            <a:srgbClr val="0B2E4F"/>
          </a:solidFill>
          <a:ln w="0">
            <a:solidFill>
              <a:srgbClr val="0B2E4F"/>
            </a:solidFill>
            <a:prstDash val="solid"/>
          </a:ln>
        </p:spPr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15DB57EF-8CAA-4261-9B4C-0E57F6950A67}"/>
              </a:ext>
            </a:extLst>
          </p:cNvPr>
          <p:cNvSpPr>
            <a:spLocks noGrp="1"/>
          </p:cNvSpPr>
          <p:nvPr/>
        </p:nvSpPr>
        <p:spPr>
          <a:xfrm>
            <a:off x="5619750" y="4229100"/>
            <a:ext cx="5857875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900" b="1">
                <a:solidFill>
                  <a:srgbClr val="0B2E4F"/>
                </a:solidFill>
              </a:defRPr>
            </a:pPr>
            <a:r>
              <a:rPr sz="900" b="1">
                <a:solidFill>
                  <a:srgbClr val="0B2E4F"/>
                </a:solidFill>
              </a:rPr>
              <a:t>EVALUATION CONCLUSION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AC64AF8B-6E4D-4918-BA41-BBE6DC822B62}"/>
              </a:ext>
            </a:extLst>
          </p:cNvPr>
          <p:cNvSpPr>
            <a:spLocks noGrp="1"/>
          </p:cNvSpPr>
          <p:nvPr/>
        </p:nvSpPr>
        <p:spPr>
          <a:xfrm>
            <a:off x="5619750" y="4533900"/>
            <a:ext cx="5857875" cy="1181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1200" b="0">
                <a:solidFill>
                  <a:srgbClr val="183247"/>
                </a:solidFill>
              </a:defRPr>
            </a:pPr>
            <a:r>
              <a:rPr sz="1200" b="0">
                <a:solidFill>
                  <a:srgbClr val="183247"/>
                </a:solidFill>
              </a:rPr>
              <a:t>Test workload: sample medicine, supplier and purchase dataset covering normal, near-expiry and expired records. Baseline: manual spreadsheet-based tracking process. Method: manual verification of each flagged/unflagged record against expected outcome. Observed bottleneck: none at current test data scale. Supported improvement: add automated periodic re-checks as dataset scale grows.</a:t>
            </a:r>
          </a:p>
        </p:txBody>
      </p:sp>
    </p:spTree>
    <p:extLst>
      <p:ext uri="{BB962C8B-B14F-4D97-AF65-F5344CB8AC3E}">
        <p14:creationId xmlns:p14="http://schemas.microsoft.com/office/powerpoint/2010/main" val="141018841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" name="Rectangle 551">
            <a:extLst>
              <a:ext uri="{FF2B5EF4-FFF2-40B4-BE49-F238E27FC236}">
                <a16:creationId xmlns:a16="http://schemas.microsoft.com/office/drawing/2014/main" id="{A44241CB-C660-4CA6-81FF-44031D6D2D0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82475" cy="76200"/>
          </a:xfrm>
          <a:prstGeom prst="rect">
            <a:avLst/>
          </a:prstGeom>
          <a:solidFill>
            <a:srgbClr val="0B7895"/>
          </a:solidFill>
          <a:ln w="0">
            <a:solidFill>
              <a:srgbClr val="0B7895"/>
            </a:solidFill>
            <a:prstDash val="solid"/>
          </a:ln>
        </p:spPr>
      </p:sp>
      <p:sp>
        <p:nvSpPr>
          <p:cNvPr id="553" name="Rectangle: Rounded Corners 552">
            <a:extLst>
              <a:ext uri="{FF2B5EF4-FFF2-40B4-BE49-F238E27FC236}">
                <a16:creationId xmlns:a16="http://schemas.microsoft.com/office/drawing/2014/main" id="{10B71EEF-97AB-4C81-9D17-5741F232C0E1}"/>
              </a:ext>
            </a:extLst>
          </p:cNvPr>
          <p:cNvSpPr>
            <a:spLocks noGrp="1"/>
          </p:cNvSpPr>
          <p:nvPr/>
        </p:nvSpPr>
        <p:spPr>
          <a:xfrm>
            <a:off x="438150" y="228600"/>
            <a:ext cx="1000125" cy="552450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9525">
            <a:solidFill>
              <a:srgbClr val="C9D6E2"/>
            </a:solidFill>
            <a:prstDash val="solid"/>
          </a:ln>
        </p:spPr>
      </p:sp>
      <p:pic>
        <p:nvPicPr>
          <p:cNvPr id="568" name="Picture 567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514350" y="450359"/>
            <a:ext cx="847725" cy="108932"/>
          </a:xfrm>
          <a:prstGeom prst="rect">
            <a:avLst/>
          </a:prstGeom>
        </p:spPr>
      </p:pic>
      <p:sp>
        <p:nvSpPr>
          <p:cNvPr id="555" name="Rectangle 554">
            <a:extLst>
              <a:ext uri="{FF2B5EF4-FFF2-40B4-BE49-F238E27FC236}">
                <a16:creationId xmlns:a16="http://schemas.microsoft.com/office/drawing/2014/main" id="{5CCE3D42-43BC-4CD4-82A6-87BDBA1CC17B}"/>
              </a:ext>
            </a:extLst>
          </p:cNvPr>
          <p:cNvSpPr>
            <a:spLocks noGrp="1"/>
          </p:cNvSpPr>
          <p:nvPr/>
        </p:nvSpPr>
        <p:spPr>
          <a:xfrm>
            <a:off x="1657350" y="266700"/>
            <a:ext cx="6953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900" b="1">
                <a:solidFill>
                  <a:srgbClr val="1264A3"/>
                </a:solidFill>
              </a:defRPr>
            </a:pPr>
            <a:r>
              <a:rPr sz="900" b="1">
                <a:solidFill>
                  <a:srgbClr val="1264A3"/>
                </a:solidFill>
              </a:rPr>
              <a:t>CSA15  |  CLOUD COMPUTING AND BIG DATA ANALYTICS</a:t>
            </a:r>
          </a:p>
        </p:txBody>
      </p:sp>
      <p:sp>
        <p:nvSpPr>
          <p:cNvPr id="556" name="Rectangle 555">
            <a:extLst>
              <a:ext uri="{FF2B5EF4-FFF2-40B4-BE49-F238E27FC236}">
                <a16:creationId xmlns:a16="http://schemas.microsoft.com/office/drawing/2014/main" id="{3F957FE8-F5F9-4AE2-8CA4-E6A3DE2F9D97}"/>
              </a:ext>
            </a:extLst>
          </p:cNvPr>
          <p:cNvSpPr>
            <a:spLocks noGrp="1"/>
          </p:cNvSpPr>
          <p:nvPr/>
        </p:nvSpPr>
        <p:spPr>
          <a:xfrm>
            <a:off x="9572625" y="266700"/>
            <a:ext cx="2095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825" b="1">
                <a:solidFill>
                  <a:srgbClr val="0B7895"/>
                </a:solidFill>
              </a:defRPr>
            </a:pPr>
            <a:r>
              <a:rPr sz="825" b="1">
                <a:solidFill>
                  <a:srgbClr val="0B7895"/>
                </a:solidFill>
              </a:rPr>
              <a:t>CAPSTONE FINAL DEFENSE</a:t>
            </a:r>
          </a:p>
        </p:txBody>
      </p:sp>
      <p:sp>
        <p:nvSpPr>
          <p:cNvPr id="557" name="Rectangle 556">
            <a:extLst>
              <a:ext uri="{FF2B5EF4-FFF2-40B4-BE49-F238E27FC236}">
                <a16:creationId xmlns:a16="http://schemas.microsoft.com/office/drawing/2014/main" id="{328C4008-8585-4274-8D84-453D53291BD4}"/>
              </a:ext>
            </a:extLst>
          </p:cNvPr>
          <p:cNvSpPr>
            <a:spLocks noGrp="1"/>
          </p:cNvSpPr>
          <p:nvPr/>
        </p:nvSpPr>
        <p:spPr>
          <a:xfrm>
            <a:off x="514350" y="981075"/>
            <a:ext cx="102870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2325" b="1">
                <a:solidFill>
                  <a:srgbClr val="0B2E4F"/>
                </a:solidFill>
              </a:defRPr>
            </a:pPr>
            <a:r>
              <a:rPr sz="2325" b="1">
                <a:solidFill>
                  <a:srgbClr val="0B2E4F"/>
                </a:solidFill>
              </a:rPr>
              <a:t>Test and Validation Evidence</a:t>
            </a:r>
          </a:p>
        </p:txBody>
      </p:sp>
      <p:sp>
        <p:nvSpPr>
          <p:cNvPr id="558" name="Rectangle 557">
            <a:extLst>
              <a:ext uri="{FF2B5EF4-FFF2-40B4-BE49-F238E27FC236}">
                <a16:creationId xmlns:a16="http://schemas.microsoft.com/office/drawing/2014/main" id="{FC695601-8C63-4251-87A8-EA4CF978AFD6}"/>
              </a:ext>
            </a:extLst>
          </p:cNvPr>
          <p:cNvSpPr>
            <a:spLocks noGrp="1"/>
          </p:cNvSpPr>
          <p:nvPr/>
        </p:nvSpPr>
        <p:spPr>
          <a:xfrm>
            <a:off x="533400" y="1457325"/>
            <a:ext cx="10287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1125" b="0">
                <a:solidFill>
                  <a:srgbClr val="52677A"/>
                </a:solidFill>
              </a:defRPr>
            </a:pPr>
            <a:r>
              <a:rPr sz="1125" b="0">
                <a:solidFill>
                  <a:srgbClr val="52677A"/>
                </a:solidFill>
              </a:rPr>
              <a:t>Use reproducible test cases, expected outcomes and linked proof.</a:t>
            </a:r>
          </a:p>
        </p:txBody>
      </p:sp>
      <p:sp>
        <p:nvSpPr>
          <p:cNvPr id="559" name="Rectangle 558">
            <a:extLst>
              <a:ext uri="{FF2B5EF4-FFF2-40B4-BE49-F238E27FC236}">
                <a16:creationId xmlns:a16="http://schemas.microsoft.com/office/drawing/2014/main" id="{9BD9C6BD-45DC-42CF-94B1-3B653232EC11}"/>
              </a:ext>
            </a:extLst>
          </p:cNvPr>
          <p:cNvSpPr>
            <a:spLocks noGrp="1"/>
          </p:cNvSpPr>
          <p:nvPr/>
        </p:nvSpPr>
        <p:spPr>
          <a:xfrm>
            <a:off x="514350" y="1847850"/>
            <a:ext cx="11153775" cy="19050"/>
          </a:xfrm>
          <a:prstGeom prst="rect">
            <a:avLst/>
          </a:prstGeom>
          <a:solidFill>
            <a:srgbClr val="C9D6E2"/>
          </a:solidFill>
          <a:ln w="0">
            <a:solidFill>
              <a:srgbClr val="C9D6E2"/>
            </a:solidFill>
            <a:prstDash val="solid"/>
          </a:ln>
        </p:spPr>
      </p:sp>
      <p:sp>
        <p:nvSpPr>
          <p:cNvPr id="560" name="Rectangle 559">
            <a:extLst>
              <a:ext uri="{FF2B5EF4-FFF2-40B4-BE49-F238E27FC236}">
                <a16:creationId xmlns:a16="http://schemas.microsoft.com/office/drawing/2014/main" id="{6CF5C3D6-78CA-4866-937E-B4EABC1319E1}"/>
              </a:ext>
            </a:extLst>
          </p:cNvPr>
          <p:cNvSpPr>
            <a:spLocks noGrp="1"/>
          </p:cNvSpPr>
          <p:nvPr/>
        </p:nvSpPr>
        <p:spPr>
          <a:xfrm>
            <a:off x="0" y="6419850"/>
            <a:ext cx="12182475" cy="438150"/>
          </a:xfrm>
          <a:prstGeom prst="rect">
            <a:avLst/>
          </a:prstGeom>
          <a:solidFill>
            <a:srgbClr val="0B2E4F"/>
          </a:solidFill>
          <a:ln w="0">
            <a:solidFill>
              <a:srgbClr val="0B2E4F"/>
            </a:solidFill>
            <a:prstDash val="solid"/>
          </a:ln>
        </p:spPr>
      </p:sp>
      <p:sp>
        <p:nvSpPr>
          <p:cNvPr id="562" name="Rectangle 561">
            <a:extLst>
              <a:ext uri="{FF2B5EF4-FFF2-40B4-BE49-F238E27FC236}">
                <a16:creationId xmlns:a16="http://schemas.microsoft.com/office/drawing/2014/main" id="{93B83011-9EC8-468C-A70D-7FACFA925C5B}"/>
              </a:ext>
            </a:extLst>
          </p:cNvPr>
          <p:cNvSpPr>
            <a:spLocks noGrp="1"/>
          </p:cNvSpPr>
          <p:nvPr/>
        </p:nvSpPr>
        <p:spPr>
          <a:xfrm>
            <a:off x="11049000" y="6515100"/>
            <a:ext cx="6191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975" b="1">
                <a:solidFill>
                  <a:srgbClr val="D39216"/>
                </a:solidFill>
              </a:defRPr>
            </a:pPr>
            <a:r>
              <a:rPr sz="975" b="1">
                <a:solidFill>
                  <a:srgbClr val="D39216"/>
                </a:solidFill>
              </a:rPr>
              <a:t>20</a:t>
            </a:r>
          </a:p>
        </p:txBody>
      </p:sp>
      <p:sp>
        <p:nvSpPr>
          <p:cNvPr id="563" name="Rectangle 562">
            <a:extLst>
              <a:ext uri="{FF2B5EF4-FFF2-40B4-BE49-F238E27FC236}">
                <a16:creationId xmlns:a16="http://schemas.microsoft.com/office/drawing/2014/main" id="{1B1DC323-2D9E-47D6-B618-AD6C65733BA0}"/>
              </a:ext>
            </a:extLst>
          </p:cNvPr>
          <p:cNvSpPr>
            <a:spLocks noGrp="1"/>
          </p:cNvSpPr>
          <p:nvPr/>
        </p:nvSpPr>
        <p:spPr>
          <a:xfrm>
            <a:off x="4191000" y="6715125"/>
            <a:ext cx="3810000" cy="1047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600" b="0">
                <a:solidFill>
                  <a:srgbClr val="BFD3E1"/>
                </a:solidFill>
              </a:defRPr>
            </a:pPr>
            <a:r>
              <a:rPr sz="600" b="0">
                <a:solidFill>
                  <a:srgbClr val="BFD3E1"/>
                </a:solidFill>
              </a:rPr>
              <a:t>Dr. C. Rajesh Babu | SSETSCS415</a:t>
            </a:r>
          </a:p>
        </p:txBody>
      </p:sp>
      <p:graphicFrame>
        <p:nvGraphicFramePr>
          <p:cNvPr id="578" name="Table 577"/>
          <p:cNvGraphicFramePr/>
          <p:nvPr/>
        </p:nvGraphicFramePr>
        <p:xfrm>
          <a:off x="514350" y="2133600"/>
          <a:ext cx="11153775" cy="3714750"/>
        </p:xfrm>
        <a:graphic>
          <a:graphicData uri="http://schemas.openxmlformats.org/drawingml/2006/table">
            <a:tbl>
              <a:tblPr/>
              <a:tblGrid>
                <a:gridCol w="952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57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288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288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4860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619125">
                <a:tc>
                  <a:txBody>
                    <a:bodyPr/>
                    <a:lstStyle/>
                    <a:p>
                      <a:r>
                        <a:rPr sz="975" b="1">
                          <a:solidFill>
                            <a:srgbClr val="FFFFFF"/>
                          </a:solidFill>
                        </a:rPr>
                        <a:t>Test ID</a:t>
                      </a:r>
                    </a:p>
                  </a:txBody>
                  <a:tcPr>
                    <a:solidFill>
                      <a:srgbClr val="0B2E4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1">
                          <a:solidFill>
                            <a:srgbClr val="FFFFFF"/>
                          </a:solidFill>
                        </a:rPr>
                        <a:t>Scenario / Condition</a:t>
                      </a:r>
                    </a:p>
                  </a:txBody>
                  <a:tcPr>
                    <a:solidFill>
                      <a:srgbClr val="0B2E4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1">
                          <a:solidFill>
                            <a:srgbClr val="FFFFFF"/>
                          </a:solidFill>
                        </a:rPr>
                        <a:t>Expected Outcome</a:t>
                      </a:r>
                    </a:p>
                  </a:txBody>
                  <a:tcPr>
                    <a:solidFill>
                      <a:srgbClr val="0B2E4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1">
                          <a:solidFill>
                            <a:srgbClr val="FFFFFF"/>
                          </a:solidFill>
                        </a:rPr>
                        <a:t>Actual Outcome</a:t>
                      </a:r>
                    </a:p>
                  </a:txBody>
                  <a:tcPr>
                    <a:solidFill>
                      <a:srgbClr val="0B2E4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1">
                          <a:solidFill>
                            <a:srgbClr val="FFFFFF"/>
                          </a:solidFill>
                        </a:rPr>
                        <a:t>Status / Evidence</a:t>
                      </a:r>
                    </a:p>
                  </a:txBody>
                  <a:tcPr>
                    <a:solidFill>
                      <a:srgbClr val="0B2E4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19125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83247"/>
                          </a:solidFill>
                        </a:rPr>
                        <a:t>T01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83247"/>
                          </a:solidFill>
                        </a:rPr>
                        <a:t>Normal flow: add a valid medicine record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83247"/>
                          </a:solidFill>
                        </a:rPr>
                        <a:t>Record saved, stock updates correctly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83247"/>
                          </a:solidFill>
                        </a:rPr>
                        <a:t>Record saved and stock reflected correctly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83247"/>
                          </a:solidFill>
                        </a:rPr>
                        <a:t>PASS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19125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83247"/>
                          </a:solidFill>
                        </a:rPr>
                        <a:t>T02</a:t>
                      </a:r>
                    </a:p>
                  </a:txBody>
                  <a:tcPr>
                    <a:solidFill>
                      <a:srgbClr val="EA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83247"/>
                          </a:solidFill>
                        </a:rPr>
                        <a:t>Invalid input: missing/incorrect field</a:t>
                      </a:r>
                    </a:p>
                  </a:txBody>
                  <a:tcPr>
                    <a:solidFill>
                      <a:srgbClr val="EA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83247"/>
                          </a:solidFill>
                        </a:rPr>
                        <a:t>System rejects input with a validation error</a:t>
                      </a:r>
                    </a:p>
                  </a:txBody>
                  <a:tcPr>
                    <a:solidFill>
                      <a:srgbClr val="EA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83247"/>
                          </a:solidFill>
                        </a:rPr>
                        <a:t>Validation error returned, no record created</a:t>
                      </a:r>
                    </a:p>
                  </a:txBody>
                  <a:tcPr>
                    <a:solidFill>
                      <a:srgbClr val="EA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83247"/>
                          </a:solidFill>
                        </a:rPr>
                        <a:t>PASS</a:t>
                      </a:r>
                    </a:p>
                  </a:txBody>
                  <a:tcPr>
                    <a:solidFill>
                      <a:srgbClr val="EAF3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19125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83247"/>
                          </a:solidFill>
                        </a:rPr>
                        <a:t>T03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83247"/>
                          </a:solidFill>
                        </a:rPr>
                        <a:t>Load / scale: multiple records added in sequence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83247"/>
                          </a:solidFill>
                        </a:rPr>
                        <a:t>System remains responsive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83247"/>
                          </a:solidFill>
                        </a:rPr>
                        <a:t>System remained responsive across test batch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83247"/>
                          </a:solidFill>
                        </a:rPr>
                        <a:t>PASS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19125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83247"/>
                          </a:solidFill>
                        </a:rPr>
                        <a:t>T04</a:t>
                      </a:r>
                    </a:p>
                  </a:txBody>
                  <a:tcPr>
                    <a:solidFill>
                      <a:srgbClr val="EA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83247"/>
                          </a:solidFill>
                        </a:rPr>
                        <a:t>Service failure: DB temporarily unavailable</a:t>
                      </a:r>
                    </a:p>
                  </a:txBody>
                  <a:tcPr>
                    <a:solidFill>
                      <a:srgbClr val="EA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83247"/>
                          </a:solidFill>
                        </a:rPr>
                        <a:t>Graceful error handling, no data corruption</a:t>
                      </a:r>
                    </a:p>
                  </a:txBody>
                  <a:tcPr>
                    <a:solidFill>
                      <a:srgbClr val="EA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83247"/>
                          </a:solidFill>
                        </a:rPr>
                        <a:t>Error handled gracefully, no partial writes observed</a:t>
                      </a:r>
                    </a:p>
                  </a:txBody>
                  <a:tcPr>
                    <a:solidFill>
                      <a:srgbClr val="EA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83247"/>
                          </a:solidFill>
                        </a:rPr>
                        <a:t>PASS</a:t>
                      </a:r>
                    </a:p>
                  </a:txBody>
                  <a:tcPr>
                    <a:solidFill>
                      <a:srgbClr val="EAF3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19125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83247"/>
                          </a:solidFill>
                        </a:rPr>
                        <a:t>T05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83247"/>
                          </a:solidFill>
                        </a:rPr>
                        <a:t>Security case: unauthorized access attempt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83247"/>
                          </a:solidFill>
                        </a:rPr>
                        <a:t>Access denied, no data exposed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83247"/>
                          </a:solidFill>
                        </a:rPr>
                        <a:t>Access correctly denied for unauthenticated request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dirty="0">
                          <a:solidFill>
                            <a:srgbClr val="183247"/>
                          </a:solidFill>
                        </a:rPr>
                        <a:t>PASS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8470498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>
            <a:extLst>
              <a:ext uri="{FF2B5EF4-FFF2-40B4-BE49-F238E27FC236}">
                <a16:creationId xmlns:a16="http://schemas.microsoft.com/office/drawing/2014/main" id="{C189008F-2DBF-4972-AB01-DE28247336B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82475" cy="76200"/>
          </a:xfrm>
          <a:prstGeom prst="rect">
            <a:avLst/>
          </a:prstGeom>
          <a:solidFill>
            <a:srgbClr val="0B7895"/>
          </a:solidFill>
          <a:ln w="0">
            <a:solidFill>
              <a:srgbClr val="0B7895"/>
            </a:solidFill>
            <a:prstDash val="solid"/>
          </a:ln>
        </p:spPr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02FDDA70-F386-4C97-9452-8AB091CF2DF7}"/>
              </a:ext>
            </a:extLst>
          </p:cNvPr>
          <p:cNvSpPr>
            <a:spLocks noGrp="1"/>
          </p:cNvSpPr>
          <p:nvPr/>
        </p:nvSpPr>
        <p:spPr>
          <a:xfrm>
            <a:off x="438150" y="228600"/>
            <a:ext cx="1000125" cy="552450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9525">
            <a:solidFill>
              <a:srgbClr val="C9D6E2"/>
            </a:solidFill>
            <a:prstDash val="solid"/>
          </a:ln>
        </p:spPr>
      </p:sp>
      <p:pic>
        <p:nvPicPr>
          <p:cNvPr id="27" name="Picture 26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514350" y="450359"/>
            <a:ext cx="847725" cy="108932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37C618C7-8CAD-47E3-BA99-38618208675D}"/>
              </a:ext>
            </a:extLst>
          </p:cNvPr>
          <p:cNvSpPr>
            <a:spLocks noGrp="1"/>
          </p:cNvSpPr>
          <p:nvPr/>
        </p:nvSpPr>
        <p:spPr>
          <a:xfrm>
            <a:off x="1657350" y="266700"/>
            <a:ext cx="6953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900" b="1">
                <a:solidFill>
                  <a:srgbClr val="1264A3"/>
                </a:solidFill>
              </a:defRPr>
            </a:pPr>
            <a:r>
              <a:rPr sz="900" b="1">
                <a:solidFill>
                  <a:srgbClr val="1264A3"/>
                </a:solidFill>
              </a:rPr>
              <a:t>CSA15  |  CLOUD COMPUTING AND BIG DATA ANALYTICS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A54A787-E350-4CFC-8820-D90D30D1E0C6}"/>
              </a:ext>
            </a:extLst>
          </p:cNvPr>
          <p:cNvSpPr>
            <a:spLocks noGrp="1"/>
          </p:cNvSpPr>
          <p:nvPr/>
        </p:nvSpPr>
        <p:spPr>
          <a:xfrm>
            <a:off x="9572625" y="266700"/>
            <a:ext cx="2095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825" b="1">
                <a:solidFill>
                  <a:srgbClr val="0B7895"/>
                </a:solidFill>
              </a:defRPr>
            </a:pPr>
            <a:r>
              <a:rPr sz="825" b="1">
                <a:solidFill>
                  <a:srgbClr val="0B7895"/>
                </a:solidFill>
              </a:rPr>
              <a:t>CAPSTONE FINAL DEFENSE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BEBDA95-EA0B-4281-AB39-944E340E607B}"/>
              </a:ext>
            </a:extLst>
          </p:cNvPr>
          <p:cNvSpPr>
            <a:spLocks noGrp="1"/>
          </p:cNvSpPr>
          <p:nvPr/>
        </p:nvSpPr>
        <p:spPr>
          <a:xfrm>
            <a:off x="514350" y="981075"/>
            <a:ext cx="102870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2325" b="1">
                <a:solidFill>
                  <a:srgbClr val="0B2E4F"/>
                </a:solidFill>
              </a:defRPr>
            </a:pPr>
            <a:r>
              <a:rPr sz="2325" b="1">
                <a:solidFill>
                  <a:srgbClr val="0B2E4F"/>
                </a:solidFill>
              </a:rPr>
              <a:t>Security, Privacy, Sustainability and Standards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B38D334-2B00-416F-AD3B-95BAD0D2C919}"/>
              </a:ext>
            </a:extLst>
          </p:cNvPr>
          <p:cNvSpPr>
            <a:spLocks noGrp="1"/>
          </p:cNvSpPr>
          <p:nvPr/>
        </p:nvSpPr>
        <p:spPr>
          <a:xfrm>
            <a:off x="533400" y="1457325"/>
            <a:ext cx="10287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1125" b="0">
                <a:solidFill>
                  <a:srgbClr val="52677A"/>
                </a:solidFill>
              </a:defRPr>
            </a:pPr>
            <a:r>
              <a:rPr sz="1125" b="0">
                <a:solidFill>
                  <a:srgbClr val="52677A"/>
                </a:solidFill>
              </a:rPr>
              <a:t>Show how the product protects users and uses cloud resources responsibly.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9905D29-EEE1-42FB-8072-9AACCD432125}"/>
              </a:ext>
            </a:extLst>
          </p:cNvPr>
          <p:cNvSpPr>
            <a:spLocks noGrp="1"/>
          </p:cNvSpPr>
          <p:nvPr/>
        </p:nvSpPr>
        <p:spPr>
          <a:xfrm>
            <a:off x="514350" y="1847850"/>
            <a:ext cx="11153775" cy="19050"/>
          </a:xfrm>
          <a:prstGeom prst="rect">
            <a:avLst/>
          </a:prstGeom>
          <a:solidFill>
            <a:srgbClr val="C9D6E2"/>
          </a:solidFill>
          <a:ln w="0">
            <a:solidFill>
              <a:srgbClr val="C9D6E2"/>
            </a:solidFill>
            <a:prstDash val="solid"/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343E3CB-C6D1-4D54-9DF1-385996D14695}"/>
              </a:ext>
            </a:extLst>
          </p:cNvPr>
          <p:cNvSpPr>
            <a:spLocks noGrp="1"/>
          </p:cNvSpPr>
          <p:nvPr/>
        </p:nvSpPr>
        <p:spPr>
          <a:xfrm>
            <a:off x="0" y="6419850"/>
            <a:ext cx="12182475" cy="438150"/>
          </a:xfrm>
          <a:prstGeom prst="rect">
            <a:avLst/>
          </a:prstGeom>
          <a:solidFill>
            <a:srgbClr val="0B2E4F"/>
          </a:solidFill>
          <a:ln w="0">
            <a:solidFill>
              <a:srgbClr val="0B2E4F"/>
            </a:solidFill>
            <a:prstDash val="solid"/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59382F3-D1B5-43C3-B783-FB568D9D3177}"/>
              </a:ext>
            </a:extLst>
          </p:cNvPr>
          <p:cNvSpPr>
            <a:spLocks noGrp="1"/>
          </p:cNvSpPr>
          <p:nvPr/>
        </p:nvSpPr>
        <p:spPr>
          <a:xfrm>
            <a:off x="11049000" y="6515100"/>
            <a:ext cx="6191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975" b="1">
                <a:solidFill>
                  <a:srgbClr val="D39216"/>
                </a:solidFill>
              </a:defRPr>
            </a:pPr>
            <a:r>
              <a:rPr sz="975" b="1">
                <a:solidFill>
                  <a:srgbClr val="D39216"/>
                </a:solidFill>
              </a:rPr>
              <a:t>21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06C1E3A-8692-493C-991C-43C647BDBF5A}"/>
              </a:ext>
            </a:extLst>
          </p:cNvPr>
          <p:cNvSpPr>
            <a:spLocks noGrp="1"/>
          </p:cNvSpPr>
          <p:nvPr/>
        </p:nvSpPr>
        <p:spPr>
          <a:xfrm>
            <a:off x="4191000" y="6715125"/>
            <a:ext cx="3810000" cy="1047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600" b="0">
                <a:solidFill>
                  <a:srgbClr val="BFD3E1"/>
                </a:solidFill>
              </a:defRPr>
            </a:pPr>
            <a:r>
              <a:rPr sz="600" b="0">
                <a:solidFill>
                  <a:srgbClr val="BFD3E1"/>
                </a:solidFill>
              </a:rPr>
              <a:t>Dr. C. Rajesh Babu | SSETSCS415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D109B5B-834B-41A8-A09F-5D9F1BDAC74A}"/>
              </a:ext>
            </a:extLst>
          </p:cNvPr>
          <p:cNvSpPr>
            <a:spLocks noGrp="1"/>
          </p:cNvSpPr>
          <p:nvPr/>
        </p:nvSpPr>
        <p:spPr>
          <a:xfrm>
            <a:off x="514350" y="2143125"/>
            <a:ext cx="3565525" cy="3571875"/>
          </a:xfrm>
          <a:prstGeom prst="rect">
            <a:avLst/>
          </a:prstGeom>
          <a:solidFill>
            <a:srgbClr val="FFFFFF"/>
          </a:solidFill>
          <a:ln w="9525">
            <a:solidFill>
              <a:srgbClr val="C9D6E2"/>
            </a:solidFill>
            <a:prstDash val="solid"/>
          </a:ln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71F244A-0C34-4CE2-8481-86B14737FE35}"/>
              </a:ext>
            </a:extLst>
          </p:cNvPr>
          <p:cNvSpPr>
            <a:spLocks noGrp="1"/>
          </p:cNvSpPr>
          <p:nvPr/>
        </p:nvSpPr>
        <p:spPr>
          <a:xfrm>
            <a:off x="514350" y="2143125"/>
            <a:ext cx="57150" cy="3571875"/>
          </a:xfrm>
          <a:prstGeom prst="rect">
            <a:avLst/>
          </a:prstGeom>
          <a:solidFill>
            <a:srgbClr val="1264A3"/>
          </a:solidFill>
          <a:ln w="0">
            <a:solidFill>
              <a:srgbClr val="1264A3"/>
            </a:solidFill>
            <a:prstDash val="solid"/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0A46A23-9345-44C6-B61A-34C0D0FA06C5}"/>
              </a:ext>
            </a:extLst>
          </p:cNvPr>
          <p:cNvSpPr>
            <a:spLocks noGrp="1"/>
          </p:cNvSpPr>
          <p:nvPr/>
        </p:nvSpPr>
        <p:spPr>
          <a:xfrm>
            <a:off x="723900" y="2295525"/>
            <a:ext cx="3165475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900" b="1">
                <a:solidFill>
                  <a:srgbClr val="1264A3"/>
                </a:solidFill>
              </a:defRPr>
            </a:pPr>
            <a:r>
              <a:rPr sz="900" b="1">
                <a:solidFill>
                  <a:srgbClr val="1264A3"/>
                </a:solidFill>
              </a:rPr>
              <a:t>SECURITY AND PRIVACY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5FC21B3-C4CA-4B75-B141-3640817A90BA}"/>
              </a:ext>
            </a:extLst>
          </p:cNvPr>
          <p:cNvSpPr>
            <a:spLocks noGrp="1"/>
          </p:cNvSpPr>
          <p:nvPr/>
        </p:nvSpPr>
        <p:spPr>
          <a:xfrm>
            <a:off x="723900" y="2600325"/>
            <a:ext cx="3165475" cy="2981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1125" b="0">
                <a:solidFill>
                  <a:srgbClr val="183247"/>
                </a:solidFill>
              </a:defRPr>
            </a:pPr>
            <a:r>
              <a:rPr sz="1125" b="0">
                <a:solidFill>
                  <a:srgbClr val="183247"/>
                </a:solidFill>
              </a:rPr>
              <a:t>Secure login and role-based access separate administrator and staff permissions; passwords and credentials handled server-side; access to inventory/supplier/expiry data restricted to authenticated roles.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F37DCE7-89DF-436D-9563-5AE7478E53F8}"/>
              </a:ext>
            </a:extLst>
          </p:cNvPr>
          <p:cNvSpPr>
            <a:spLocks noGrp="1"/>
          </p:cNvSpPr>
          <p:nvPr/>
        </p:nvSpPr>
        <p:spPr>
          <a:xfrm>
            <a:off x="4308475" y="2143125"/>
            <a:ext cx="3565525" cy="3571875"/>
          </a:xfrm>
          <a:prstGeom prst="rect">
            <a:avLst/>
          </a:prstGeom>
          <a:solidFill>
            <a:srgbClr val="FFFFFF"/>
          </a:solidFill>
          <a:ln w="9525">
            <a:solidFill>
              <a:srgbClr val="C9D6E2"/>
            </a:solidFill>
            <a:prstDash val="solid"/>
          </a:ln>
        </p:spPr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7700D61-15AF-4558-A5CE-BB9B42EED791}"/>
              </a:ext>
            </a:extLst>
          </p:cNvPr>
          <p:cNvSpPr>
            <a:spLocks noGrp="1"/>
          </p:cNvSpPr>
          <p:nvPr/>
        </p:nvSpPr>
        <p:spPr>
          <a:xfrm>
            <a:off x="4308475" y="2143125"/>
            <a:ext cx="57150" cy="3571875"/>
          </a:xfrm>
          <a:prstGeom prst="rect">
            <a:avLst/>
          </a:prstGeom>
          <a:solidFill>
            <a:srgbClr val="0B7895"/>
          </a:solidFill>
          <a:ln w="0">
            <a:solidFill>
              <a:srgbClr val="0B7895"/>
            </a:solidFill>
            <a:prstDash val="solid"/>
          </a:ln>
        </p:spPr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3B3DC857-AB08-4A7B-8728-16A8FD5E92AC}"/>
              </a:ext>
            </a:extLst>
          </p:cNvPr>
          <p:cNvSpPr>
            <a:spLocks noGrp="1"/>
          </p:cNvSpPr>
          <p:nvPr/>
        </p:nvSpPr>
        <p:spPr>
          <a:xfrm>
            <a:off x="4518025" y="2295525"/>
            <a:ext cx="3165475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900" b="1">
                <a:solidFill>
                  <a:srgbClr val="0B7895"/>
                </a:solidFill>
              </a:defRPr>
            </a:pPr>
            <a:r>
              <a:rPr sz="900" b="1">
                <a:solidFill>
                  <a:srgbClr val="0B7895"/>
                </a:solidFill>
              </a:rPr>
              <a:t>SUSTAINABLE CLOUD USE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A36749F4-2A5F-4B01-A4AC-8046FA3388E1}"/>
              </a:ext>
            </a:extLst>
          </p:cNvPr>
          <p:cNvSpPr>
            <a:spLocks noGrp="1"/>
          </p:cNvSpPr>
          <p:nvPr/>
        </p:nvSpPr>
        <p:spPr>
          <a:xfrm>
            <a:off x="4518025" y="2600325"/>
            <a:ext cx="3165475" cy="2981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1125" b="0">
                <a:solidFill>
                  <a:srgbClr val="183247"/>
                </a:solidFill>
              </a:defRPr>
            </a:pPr>
            <a:r>
              <a:rPr sz="1125" b="0">
                <a:solidFill>
                  <a:srgbClr val="183247"/>
                </a:solidFill>
              </a:rPr>
              <a:t>Green computing approach uses lightweight, targeted aggregation queries instead of full-scan analytics, reducing unnecessary compute and database load; database resources are scoped to actual application needs rather than over-provisioned.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F423B267-E35A-43F2-BD5D-D238EE6D0627}"/>
              </a:ext>
            </a:extLst>
          </p:cNvPr>
          <p:cNvSpPr>
            <a:spLocks noGrp="1"/>
          </p:cNvSpPr>
          <p:nvPr/>
        </p:nvSpPr>
        <p:spPr>
          <a:xfrm>
            <a:off x="8102600" y="2143125"/>
            <a:ext cx="3565525" cy="3571875"/>
          </a:xfrm>
          <a:prstGeom prst="rect">
            <a:avLst/>
          </a:prstGeom>
          <a:solidFill>
            <a:srgbClr val="FFFFFF"/>
          </a:solidFill>
          <a:ln w="9525">
            <a:solidFill>
              <a:srgbClr val="C9D6E2"/>
            </a:solidFill>
            <a:prstDash val="solid"/>
          </a:ln>
        </p:spPr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C87EC20D-1255-4AA0-9C90-4FCA83FAFD47}"/>
              </a:ext>
            </a:extLst>
          </p:cNvPr>
          <p:cNvSpPr>
            <a:spLocks noGrp="1"/>
          </p:cNvSpPr>
          <p:nvPr/>
        </p:nvSpPr>
        <p:spPr>
          <a:xfrm>
            <a:off x="8102600" y="2143125"/>
            <a:ext cx="57150" cy="3571875"/>
          </a:xfrm>
          <a:prstGeom prst="rect">
            <a:avLst/>
          </a:prstGeom>
          <a:solidFill>
            <a:srgbClr val="D39216"/>
          </a:solidFill>
          <a:ln w="0">
            <a:solidFill>
              <a:srgbClr val="D39216"/>
            </a:solidFill>
            <a:prstDash val="solid"/>
          </a:ln>
        </p:spPr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F06E44DC-1D40-454A-9008-72773AE8F01B}"/>
              </a:ext>
            </a:extLst>
          </p:cNvPr>
          <p:cNvSpPr>
            <a:spLocks noGrp="1"/>
          </p:cNvSpPr>
          <p:nvPr/>
        </p:nvSpPr>
        <p:spPr>
          <a:xfrm>
            <a:off x="8312150" y="2295525"/>
            <a:ext cx="3165475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900" b="1">
                <a:solidFill>
                  <a:srgbClr val="D39216"/>
                </a:solidFill>
              </a:defRPr>
            </a:pPr>
            <a:r>
              <a:rPr sz="900" b="1">
                <a:solidFill>
                  <a:srgbClr val="D39216"/>
                </a:solidFill>
              </a:rPr>
              <a:t>STANDARDS AND RESPONSIBILITY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89A03B96-8B54-4C4D-95AE-C2A6C1792044}"/>
              </a:ext>
            </a:extLst>
          </p:cNvPr>
          <p:cNvSpPr>
            <a:spLocks noGrp="1"/>
          </p:cNvSpPr>
          <p:nvPr/>
        </p:nvSpPr>
        <p:spPr>
          <a:xfrm>
            <a:off x="8312150" y="2600325"/>
            <a:ext cx="3165475" cy="2981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1125" b="0">
                <a:solidFill>
                  <a:srgbClr val="183247"/>
                </a:solidFill>
              </a:defRPr>
            </a:pPr>
            <a:r>
              <a:rPr sz="1125" b="0">
                <a:solidFill>
                  <a:srgbClr val="183247"/>
                </a:solidFill>
              </a:rPr>
              <a:t>Design principles (batch tracking, expiry control) align with WHO pharmaceutical quality-assurance guidelines referenced in the literature review; data handling limited to operational inventory data with no external data sharing.</a:t>
            </a:r>
          </a:p>
        </p:txBody>
      </p:sp>
    </p:spTree>
    <p:extLst>
      <p:ext uri="{BB962C8B-B14F-4D97-AF65-F5344CB8AC3E}">
        <p14:creationId xmlns:p14="http://schemas.microsoft.com/office/powerpoint/2010/main" val="152806941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>
            <a:extLst>
              <a:ext uri="{FF2B5EF4-FFF2-40B4-BE49-F238E27FC236}">
                <a16:creationId xmlns:a16="http://schemas.microsoft.com/office/drawing/2014/main" id="{C7415176-A534-41C1-93AB-182B265EDCF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82475" cy="76200"/>
          </a:xfrm>
          <a:prstGeom prst="rect">
            <a:avLst/>
          </a:prstGeom>
          <a:solidFill>
            <a:srgbClr val="0B7895"/>
          </a:solidFill>
          <a:ln w="0">
            <a:solidFill>
              <a:srgbClr val="0B7895"/>
            </a:solidFill>
            <a:prstDash val="solid"/>
          </a:ln>
        </p:spPr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54B75AFE-D4BE-4411-A4C1-840177585889}"/>
              </a:ext>
            </a:extLst>
          </p:cNvPr>
          <p:cNvSpPr>
            <a:spLocks noGrp="1"/>
          </p:cNvSpPr>
          <p:nvPr/>
        </p:nvSpPr>
        <p:spPr>
          <a:xfrm>
            <a:off x="438150" y="228600"/>
            <a:ext cx="1000125" cy="552450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9525">
            <a:solidFill>
              <a:srgbClr val="C9D6E2"/>
            </a:solidFill>
            <a:prstDash val="solid"/>
          </a:ln>
        </p:spPr>
      </p:sp>
      <p:pic>
        <p:nvPicPr>
          <p:cNvPr id="27" name="Picture 26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514350" y="450359"/>
            <a:ext cx="847725" cy="108932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9982BF96-D1AB-45A8-A8EE-A152B914F5A2}"/>
              </a:ext>
            </a:extLst>
          </p:cNvPr>
          <p:cNvSpPr>
            <a:spLocks noGrp="1"/>
          </p:cNvSpPr>
          <p:nvPr/>
        </p:nvSpPr>
        <p:spPr>
          <a:xfrm>
            <a:off x="1657350" y="266700"/>
            <a:ext cx="6953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900" b="1">
                <a:solidFill>
                  <a:srgbClr val="1264A3"/>
                </a:solidFill>
              </a:defRPr>
            </a:pPr>
            <a:r>
              <a:rPr sz="900" b="1">
                <a:solidFill>
                  <a:srgbClr val="1264A3"/>
                </a:solidFill>
              </a:rPr>
              <a:t>CSA15  |  CLOUD COMPUTING AND BIG DATA ANALYTICS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56A4AA0-822D-4982-999A-51A89769184B}"/>
              </a:ext>
            </a:extLst>
          </p:cNvPr>
          <p:cNvSpPr>
            <a:spLocks noGrp="1"/>
          </p:cNvSpPr>
          <p:nvPr/>
        </p:nvSpPr>
        <p:spPr>
          <a:xfrm>
            <a:off x="9572625" y="266700"/>
            <a:ext cx="2095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825" b="1">
                <a:solidFill>
                  <a:srgbClr val="0B7895"/>
                </a:solidFill>
              </a:defRPr>
            </a:pPr>
            <a:r>
              <a:rPr sz="825" b="1">
                <a:solidFill>
                  <a:srgbClr val="0B7895"/>
                </a:solidFill>
              </a:rPr>
              <a:t>CAPSTONE FINAL DEFENSE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4158CAF-8E43-4B64-B5D4-C1AC218B0534}"/>
              </a:ext>
            </a:extLst>
          </p:cNvPr>
          <p:cNvSpPr>
            <a:spLocks noGrp="1"/>
          </p:cNvSpPr>
          <p:nvPr/>
        </p:nvSpPr>
        <p:spPr>
          <a:xfrm>
            <a:off x="514350" y="981075"/>
            <a:ext cx="102870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2325" b="1">
                <a:solidFill>
                  <a:srgbClr val="0B2E4F"/>
                </a:solidFill>
              </a:defRPr>
            </a:pPr>
            <a:r>
              <a:rPr sz="2325" b="1">
                <a:solidFill>
                  <a:srgbClr val="0B2E4F"/>
                </a:solidFill>
              </a:rPr>
              <a:t>Conclusion and Production Roadmap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7CB18C8-89BC-4C07-9515-4D250A2912AB}"/>
              </a:ext>
            </a:extLst>
          </p:cNvPr>
          <p:cNvSpPr>
            <a:spLocks noGrp="1"/>
          </p:cNvSpPr>
          <p:nvPr/>
        </p:nvSpPr>
        <p:spPr>
          <a:xfrm>
            <a:off x="533400" y="1457325"/>
            <a:ext cx="10287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1125" b="0">
                <a:solidFill>
                  <a:srgbClr val="52677A"/>
                </a:solidFill>
              </a:defRPr>
            </a:pPr>
            <a:r>
              <a:rPr sz="1125" b="0">
                <a:solidFill>
                  <a:srgbClr val="52677A"/>
                </a:solidFill>
              </a:rPr>
              <a:t>Separate what is proven today from what is required for pilot and production readiness.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81A2589-2926-40FB-93C4-1136BDFFB601}"/>
              </a:ext>
            </a:extLst>
          </p:cNvPr>
          <p:cNvSpPr>
            <a:spLocks noGrp="1"/>
          </p:cNvSpPr>
          <p:nvPr/>
        </p:nvSpPr>
        <p:spPr>
          <a:xfrm>
            <a:off x="514350" y="1847850"/>
            <a:ext cx="11153775" cy="19050"/>
          </a:xfrm>
          <a:prstGeom prst="rect">
            <a:avLst/>
          </a:prstGeom>
          <a:solidFill>
            <a:srgbClr val="C9D6E2"/>
          </a:solidFill>
          <a:ln w="0">
            <a:solidFill>
              <a:srgbClr val="C9D6E2"/>
            </a:solidFill>
            <a:prstDash val="solid"/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87CEA3C-9505-4476-9486-205A8D194BF4}"/>
              </a:ext>
            </a:extLst>
          </p:cNvPr>
          <p:cNvSpPr>
            <a:spLocks noGrp="1"/>
          </p:cNvSpPr>
          <p:nvPr/>
        </p:nvSpPr>
        <p:spPr>
          <a:xfrm>
            <a:off x="0" y="6419850"/>
            <a:ext cx="12182475" cy="438150"/>
          </a:xfrm>
          <a:prstGeom prst="rect">
            <a:avLst/>
          </a:prstGeom>
          <a:solidFill>
            <a:srgbClr val="0B2E4F"/>
          </a:solidFill>
          <a:ln w="0">
            <a:solidFill>
              <a:srgbClr val="0B2E4F"/>
            </a:solidFill>
            <a:prstDash val="solid"/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C6B34C0-334A-4F5A-92C3-841C75FC24E0}"/>
              </a:ext>
            </a:extLst>
          </p:cNvPr>
          <p:cNvSpPr>
            <a:spLocks noGrp="1"/>
          </p:cNvSpPr>
          <p:nvPr/>
        </p:nvSpPr>
        <p:spPr>
          <a:xfrm>
            <a:off x="11049000" y="6515100"/>
            <a:ext cx="6191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975" b="1">
                <a:solidFill>
                  <a:srgbClr val="D39216"/>
                </a:solidFill>
              </a:defRPr>
            </a:pPr>
            <a:r>
              <a:rPr sz="975" b="1">
                <a:solidFill>
                  <a:srgbClr val="D39216"/>
                </a:solidFill>
              </a:rPr>
              <a:t>22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6E2C589-35F0-413C-BBF3-693597F7520B}"/>
              </a:ext>
            </a:extLst>
          </p:cNvPr>
          <p:cNvSpPr>
            <a:spLocks noGrp="1"/>
          </p:cNvSpPr>
          <p:nvPr/>
        </p:nvSpPr>
        <p:spPr>
          <a:xfrm>
            <a:off x="4191000" y="6715125"/>
            <a:ext cx="3810000" cy="1047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600" b="0">
                <a:solidFill>
                  <a:srgbClr val="BFD3E1"/>
                </a:solidFill>
              </a:defRPr>
            </a:pPr>
            <a:r>
              <a:rPr sz="600" b="0">
                <a:solidFill>
                  <a:srgbClr val="BFD3E1"/>
                </a:solidFill>
              </a:rPr>
              <a:t>Dr. C. Rajesh Babu | SSETSCS415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05AD3A6-2CF3-42DB-814F-5B404D54E7A9}"/>
              </a:ext>
            </a:extLst>
          </p:cNvPr>
          <p:cNvSpPr>
            <a:spLocks noGrp="1"/>
          </p:cNvSpPr>
          <p:nvPr/>
        </p:nvSpPr>
        <p:spPr>
          <a:xfrm>
            <a:off x="514350" y="2143125"/>
            <a:ext cx="3565525" cy="3571875"/>
          </a:xfrm>
          <a:prstGeom prst="rect">
            <a:avLst/>
          </a:prstGeom>
          <a:solidFill>
            <a:srgbClr val="FFFFFF"/>
          </a:solidFill>
          <a:ln w="9525">
            <a:solidFill>
              <a:srgbClr val="C9D6E2"/>
            </a:solidFill>
            <a:prstDash val="solid"/>
          </a:ln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FEC64A4-7533-4612-B1DD-7917D7BBFE14}"/>
              </a:ext>
            </a:extLst>
          </p:cNvPr>
          <p:cNvSpPr>
            <a:spLocks noGrp="1"/>
          </p:cNvSpPr>
          <p:nvPr/>
        </p:nvSpPr>
        <p:spPr>
          <a:xfrm>
            <a:off x="514350" y="2143125"/>
            <a:ext cx="57150" cy="3571875"/>
          </a:xfrm>
          <a:prstGeom prst="rect">
            <a:avLst/>
          </a:prstGeom>
          <a:solidFill>
            <a:srgbClr val="1264A3"/>
          </a:solidFill>
          <a:ln w="0">
            <a:solidFill>
              <a:srgbClr val="1264A3"/>
            </a:solidFill>
            <a:prstDash val="solid"/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38E0862-B5D8-4D48-A961-2C3B04E3E7F5}"/>
              </a:ext>
            </a:extLst>
          </p:cNvPr>
          <p:cNvSpPr>
            <a:spLocks noGrp="1"/>
          </p:cNvSpPr>
          <p:nvPr/>
        </p:nvSpPr>
        <p:spPr>
          <a:xfrm>
            <a:off x="723900" y="2295525"/>
            <a:ext cx="3165475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900" b="1">
                <a:solidFill>
                  <a:srgbClr val="1264A3"/>
                </a:solidFill>
              </a:defRPr>
            </a:pPr>
            <a:r>
              <a:rPr sz="900" b="1">
                <a:solidFill>
                  <a:srgbClr val="1264A3"/>
                </a:solidFill>
              </a:rPr>
              <a:t>PROVEN NOW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F90DCEC-CBE8-47EE-A4DE-3C2D550A6777}"/>
              </a:ext>
            </a:extLst>
          </p:cNvPr>
          <p:cNvSpPr>
            <a:spLocks noGrp="1"/>
          </p:cNvSpPr>
          <p:nvPr/>
        </p:nvSpPr>
        <p:spPr>
          <a:xfrm>
            <a:off x="723900" y="2600325"/>
            <a:ext cx="3165475" cy="2981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1200" b="0">
                <a:solidFill>
                  <a:srgbClr val="183247"/>
                </a:solidFill>
              </a:defRPr>
            </a:pPr>
            <a:r>
              <a:rPr sz="1200" b="0">
                <a:solidFill>
                  <a:srgbClr val="183247"/>
                </a:solidFill>
              </a:rPr>
              <a:t>1) Centralized management of medicine stock, batches, suppliers and purchase records.</a:t>
            </a:r>
          </a:p>
          <a:p>
            <a:pPr>
              <a:defRPr sz="1200" b="0">
                <a:solidFill>
                  <a:srgbClr val="183247"/>
                </a:solidFill>
              </a:defRPr>
            </a:pPr>
            <a:r>
              <a:rPr sz="1200" b="0">
                <a:solidFill>
                  <a:srgbClr val="183247"/>
                </a:solidFill>
              </a:rPr>
              <a:t>2) Expiry monitoring with reliable alerts for near-expiry and expired medicines.</a:t>
            </a:r>
          </a:p>
          <a:p>
            <a:pPr>
              <a:defRPr sz="1200" b="0">
                <a:solidFill>
                  <a:srgbClr val="183247"/>
                </a:solidFill>
              </a:defRPr>
            </a:pPr>
            <a:r>
              <a:rPr sz="1200" b="0">
                <a:solidFill>
                  <a:srgbClr val="183247"/>
                </a:solidFill>
              </a:rPr>
              <a:t>3) Dashboard providing stock status, expiry details and inventory statistics, reducing wastage risk.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6676751B-818A-4A47-993C-786B70AA6F55}"/>
              </a:ext>
            </a:extLst>
          </p:cNvPr>
          <p:cNvSpPr>
            <a:spLocks noGrp="1"/>
          </p:cNvSpPr>
          <p:nvPr/>
        </p:nvSpPr>
        <p:spPr>
          <a:xfrm>
            <a:off x="4308475" y="2143125"/>
            <a:ext cx="3565525" cy="3571875"/>
          </a:xfrm>
          <a:prstGeom prst="rect">
            <a:avLst/>
          </a:prstGeom>
          <a:solidFill>
            <a:srgbClr val="FFFFFF"/>
          </a:solidFill>
          <a:ln w="9525">
            <a:solidFill>
              <a:srgbClr val="C9D6E2"/>
            </a:solidFill>
            <a:prstDash val="solid"/>
          </a:ln>
        </p:spPr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53F4C26-3652-46F5-AF01-CA42B92AB884}"/>
              </a:ext>
            </a:extLst>
          </p:cNvPr>
          <p:cNvSpPr>
            <a:spLocks noGrp="1"/>
          </p:cNvSpPr>
          <p:nvPr/>
        </p:nvSpPr>
        <p:spPr>
          <a:xfrm>
            <a:off x="4308475" y="2143125"/>
            <a:ext cx="57150" cy="3571875"/>
          </a:xfrm>
          <a:prstGeom prst="rect">
            <a:avLst/>
          </a:prstGeom>
          <a:solidFill>
            <a:srgbClr val="0B7895"/>
          </a:solidFill>
          <a:ln w="0">
            <a:solidFill>
              <a:srgbClr val="0B7895"/>
            </a:solidFill>
            <a:prstDash val="solid"/>
          </a:ln>
        </p:spPr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655B21C-E035-4884-B7A0-F0E112DF62EE}"/>
              </a:ext>
            </a:extLst>
          </p:cNvPr>
          <p:cNvSpPr>
            <a:spLocks noGrp="1"/>
          </p:cNvSpPr>
          <p:nvPr/>
        </p:nvSpPr>
        <p:spPr>
          <a:xfrm>
            <a:off x="4518025" y="2295525"/>
            <a:ext cx="3165475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900" b="1">
                <a:solidFill>
                  <a:srgbClr val="0B7895"/>
                </a:solidFill>
              </a:defRPr>
            </a:pPr>
            <a:r>
              <a:rPr sz="900" b="1">
                <a:solidFill>
                  <a:srgbClr val="0B7895"/>
                </a:solidFill>
              </a:rPr>
              <a:t>KNOWN LIMITATIONS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D8C0771C-BA9D-4B9D-A168-BCC533B530BE}"/>
              </a:ext>
            </a:extLst>
          </p:cNvPr>
          <p:cNvSpPr>
            <a:spLocks noGrp="1"/>
          </p:cNvSpPr>
          <p:nvPr/>
        </p:nvSpPr>
        <p:spPr>
          <a:xfrm>
            <a:off x="4518025" y="2600325"/>
            <a:ext cx="3165475" cy="2981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1200" b="0">
                <a:solidFill>
                  <a:srgbClr val="183247"/>
                </a:solidFill>
              </a:defRPr>
            </a:pPr>
            <a:r>
              <a:rPr sz="1200" b="0">
                <a:solidFill>
                  <a:srgbClr val="183247"/>
                </a:solidFill>
              </a:rPr>
              <a:t>Not yet load-tested at production scale; no demand-forecasting/ML component; single-environment deployment; dataset limited to test data used during development.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5791046A-E29D-49A5-88BE-D1DECE2C0D1C}"/>
              </a:ext>
            </a:extLst>
          </p:cNvPr>
          <p:cNvSpPr>
            <a:spLocks noGrp="1"/>
          </p:cNvSpPr>
          <p:nvPr/>
        </p:nvSpPr>
        <p:spPr>
          <a:xfrm>
            <a:off x="8102600" y="2143125"/>
            <a:ext cx="3565525" cy="3571875"/>
          </a:xfrm>
          <a:prstGeom prst="rect">
            <a:avLst/>
          </a:prstGeom>
          <a:solidFill>
            <a:srgbClr val="FFFFFF"/>
          </a:solidFill>
          <a:ln w="9525">
            <a:solidFill>
              <a:srgbClr val="C9D6E2"/>
            </a:solidFill>
            <a:prstDash val="solid"/>
          </a:ln>
        </p:spPr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9A007422-BD66-42E3-BDE0-F033F7C4768A}"/>
              </a:ext>
            </a:extLst>
          </p:cNvPr>
          <p:cNvSpPr>
            <a:spLocks noGrp="1"/>
          </p:cNvSpPr>
          <p:nvPr/>
        </p:nvSpPr>
        <p:spPr>
          <a:xfrm>
            <a:off x="8102600" y="2143125"/>
            <a:ext cx="57150" cy="3571875"/>
          </a:xfrm>
          <a:prstGeom prst="rect">
            <a:avLst/>
          </a:prstGeom>
          <a:solidFill>
            <a:srgbClr val="D39216"/>
          </a:solidFill>
          <a:ln w="0">
            <a:solidFill>
              <a:srgbClr val="D39216"/>
            </a:solidFill>
            <a:prstDash val="solid"/>
          </a:ln>
        </p:spPr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14DF6604-B536-452C-9127-4BBC19632A06}"/>
              </a:ext>
            </a:extLst>
          </p:cNvPr>
          <p:cNvSpPr>
            <a:spLocks noGrp="1"/>
          </p:cNvSpPr>
          <p:nvPr/>
        </p:nvSpPr>
        <p:spPr>
          <a:xfrm>
            <a:off x="8312150" y="2295525"/>
            <a:ext cx="3165475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900" b="1">
                <a:solidFill>
                  <a:srgbClr val="D39216"/>
                </a:solidFill>
              </a:defRPr>
            </a:pPr>
            <a:r>
              <a:rPr sz="900" b="1">
                <a:solidFill>
                  <a:srgbClr val="D39216"/>
                </a:solidFill>
              </a:rPr>
              <a:t>PRODUCTION ROADMAP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C1602163-09E9-4C59-AAFA-7AB9DD468114}"/>
              </a:ext>
            </a:extLst>
          </p:cNvPr>
          <p:cNvSpPr>
            <a:spLocks noGrp="1"/>
          </p:cNvSpPr>
          <p:nvPr/>
        </p:nvSpPr>
        <p:spPr>
          <a:xfrm>
            <a:off x="8312150" y="2600325"/>
            <a:ext cx="3165475" cy="2981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1125" b="0">
                <a:solidFill>
                  <a:srgbClr val="183247"/>
                </a:solidFill>
              </a:defRPr>
            </a:pPr>
            <a:r>
              <a:rPr sz="1125" b="0">
                <a:solidFill>
                  <a:srgbClr val="183247"/>
                </a:solidFill>
              </a:rPr>
              <a:t>30 days: load-test with larger sample datasets and refine alert thresholds.</a:t>
            </a:r>
          </a:p>
          <a:p>
            <a:pPr>
              <a:defRPr sz="1125" b="0">
                <a:solidFill>
                  <a:srgbClr val="183247"/>
                </a:solidFill>
              </a:defRPr>
            </a:pPr>
            <a:r>
              <a:rPr sz="1125" b="0">
                <a:solidFill>
                  <a:srgbClr val="183247"/>
                </a:solidFill>
              </a:rPr>
              <a:t>60 days: add automated periodic expiry re-checks and richer dashboard analytics.</a:t>
            </a:r>
          </a:p>
          <a:p>
            <a:pPr>
              <a:defRPr sz="1125" b="0">
                <a:solidFill>
                  <a:srgbClr val="183247"/>
                </a:solidFill>
              </a:defRPr>
            </a:pPr>
            <a:r>
              <a:rPr sz="1125" b="0">
                <a:solidFill>
                  <a:srgbClr val="183247"/>
                </a:solidFill>
              </a:rPr>
              <a:t>90 days: pilot with a real pharmacy dataset and gather user feedback.</a:t>
            </a:r>
          </a:p>
          <a:p>
            <a:pPr>
              <a:defRPr sz="1125" b="0">
                <a:solidFill>
                  <a:srgbClr val="183247"/>
                </a:solidFill>
              </a:defRPr>
            </a:pPr>
            <a:r>
              <a:rPr sz="1125" b="0">
                <a:solidFill>
                  <a:srgbClr val="183247"/>
                </a:solidFill>
              </a:rPr>
              <a:t>Production gate: consistent, accurate low-stock/expiry flagging validated against real operational data at target scale.</a:t>
            </a:r>
          </a:p>
        </p:txBody>
      </p:sp>
    </p:spTree>
    <p:extLst>
      <p:ext uri="{BB962C8B-B14F-4D97-AF65-F5344CB8AC3E}">
        <p14:creationId xmlns:p14="http://schemas.microsoft.com/office/powerpoint/2010/main" val="12840563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D91B82C8-5ED9-4AC0-BC6B-F7542A2D4C4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82475" cy="76200"/>
          </a:xfrm>
          <a:prstGeom prst="rect">
            <a:avLst/>
          </a:prstGeom>
          <a:solidFill>
            <a:srgbClr val="0B7895"/>
          </a:solidFill>
          <a:ln w="0">
            <a:solidFill>
              <a:srgbClr val="0B7895"/>
            </a:solidFill>
            <a:prstDash val="solid"/>
          </a:ln>
        </p:spPr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F4731360-0426-4971-83D0-02F753F88F50}"/>
              </a:ext>
            </a:extLst>
          </p:cNvPr>
          <p:cNvSpPr>
            <a:spLocks noGrp="1"/>
          </p:cNvSpPr>
          <p:nvPr/>
        </p:nvSpPr>
        <p:spPr>
          <a:xfrm>
            <a:off x="438150" y="228600"/>
            <a:ext cx="1000125" cy="552450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9525">
            <a:solidFill>
              <a:srgbClr val="C9D6E2"/>
            </a:solidFill>
            <a:prstDash val="solid"/>
          </a:ln>
        </p:spPr>
      </p:sp>
      <p:pic>
        <p:nvPicPr>
          <p:cNvPr id="23" name="Picture 22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514350" y="450359"/>
            <a:ext cx="847725" cy="108932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23ED1C06-8F9A-4260-9660-F97EB38D1CB2}"/>
              </a:ext>
            </a:extLst>
          </p:cNvPr>
          <p:cNvSpPr>
            <a:spLocks noGrp="1"/>
          </p:cNvSpPr>
          <p:nvPr/>
        </p:nvSpPr>
        <p:spPr>
          <a:xfrm>
            <a:off x="1657350" y="266700"/>
            <a:ext cx="6953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900" b="1">
                <a:solidFill>
                  <a:srgbClr val="1264A3"/>
                </a:solidFill>
              </a:defRPr>
            </a:pPr>
            <a:r>
              <a:rPr sz="900" b="1">
                <a:solidFill>
                  <a:srgbClr val="1264A3"/>
                </a:solidFill>
              </a:rPr>
              <a:t>CSA15  |  CLOUD COMPUTING AND BIG DATA ANALYTICS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5C3AD50-AB9A-4C6F-A324-074AA3DBFED4}"/>
              </a:ext>
            </a:extLst>
          </p:cNvPr>
          <p:cNvSpPr>
            <a:spLocks noGrp="1"/>
          </p:cNvSpPr>
          <p:nvPr/>
        </p:nvSpPr>
        <p:spPr>
          <a:xfrm>
            <a:off x="9572625" y="266700"/>
            <a:ext cx="2095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825" b="1">
                <a:solidFill>
                  <a:srgbClr val="0B7895"/>
                </a:solidFill>
              </a:defRPr>
            </a:pPr>
            <a:r>
              <a:rPr sz="825" b="1">
                <a:solidFill>
                  <a:srgbClr val="0B7895"/>
                </a:solidFill>
              </a:rPr>
              <a:t>CAPSTONE FINAL DEFENSE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955F268-26C0-4C68-9C5B-A28972D5850C}"/>
              </a:ext>
            </a:extLst>
          </p:cNvPr>
          <p:cNvSpPr>
            <a:spLocks noGrp="1"/>
          </p:cNvSpPr>
          <p:nvPr/>
        </p:nvSpPr>
        <p:spPr>
          <a:xfrm>
            <a:off x="514350" y="981075"/>
            <a:ext cx="102870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2325" b="1">
                <a:solidFill>
                  <a:srgbClr val="0B2E4F"/>
                </a:solidFill>
              </a:defRPr>
            </a:pPr>
            <a:r>
              <a:rPr sz="2325" b="1">
                <a:solidFill>
                  <a:srgbClr val="0B2E4F"/>
                </a:solidFill>
              </a:rPr>
              <a:t>References and Project Artefacts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A4B20F4-A690-4614-9D5C-14765056FB42}"/>
              </a:ext>
            </a:extLst>
          </p:cNvPr>
          <p:cNvSpPr>
            <a:spLocks noGrp="1"/>
          </p:cNvSpPr>
          <p:nvPr/>
        </p:nvSpPr>
        <p:spPr>
          <a:xfrm>
            <a:off x="533400" y="1457325"/>
            <a:ext cx="10287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1125" b="0">
                <a:solidFill>
                  <a:srgbClr val="52677A"/>
                </a:solidFill>
              </a:defRPr>
            </a:pPr>
            <a:r>
              <a:rPr sz="1125" b="0">
                <a:solidFill>
                  <a:srgbClr val="52677A"/>
                </a:solidFill>
              </a:rPr>
              <a:t>Provide traceable sources and direct links to the complete engineering evidence.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5E09D79-C8B1-4362-B532-27B57454D1F8}"/>
              </a:ext>
            </a:extLst>
          </p:cNvPr>
          <p:cNvSpPr>
            <a:spLocks noGrp="1"/>
          </p:cNvSpPr>
          <p:nvPr/>
        </p:nvSpPr>
        <p:spPr>
          <a:xfrm>
            <a:off x="514350" y="1847850"/>
            <a:ext cx="11153775" cy="19050"/>
          </a:xfrm>
          <a:prstGeom prst="rect">
            <a:avLst/>
          </a:prstGeom>
          <a:solidFill>
            <a:srgbClr val="C9D6E2"/>
          </a:solidFill>
          <a:ln w="0">
            <a:solidFill>
              <a:srgbClr val="C9D6E2"/>
            </a:solidFill>
            <a:prstDash val="solid"/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52A70AB-8E7B-41A7-ACC9-6DCFAF665B94}"/>
              </a:ext>
            </a:extLst>
          </p:cNvPr>
          <p:cNvSpPr>
            <a:spLocks noGrp="1"/>
          </p:cNvSpPr>
          <p:nvPr/>
        </p:nvSpPr>
        <p:spPr>
          <a:xfrm>
            <a:off x="0" y="6419850"/>
            <a:ext cx="12182475" cy="438150"/>
          </a:xfrm>
          <a:prstGeom prst="rect">
            <a:avLst/>
          </a:prstGeom>
          <a:solidFill>
            <a:srgbClr val="0B2E4F"/>
          </a:solidFill>
          <a:ln w="0">
            <a:solidFill>
              <a:srgbClr val="0B2E4F"/>
            </a:solidFill>
            <a:prstDash val="solid"/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DB0F4E9-A2E8-41CB-A085-8971792622F5}"/>
              </a:ext>
            </a:extLst>
          </p:cNvPr>
          <p:cNvSpPr>
            <a:spLocks noGrp="1"/>
          </p:cNvSpPr>
          <p:nvPr/>
        </p:nvSpPr>
        <p:spPr>
          <a:xfrm>
            <a:off x="11049000" y="6515100"/>
            <a:ext cx="6191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975" b="1">
                <a:solidFill>
                  <a:srgbClr val="D39216"/>
                </a:solidFill>
              </a:defRPr>
            </a:pPr>
            <a:r>
              <a:rPr sz="975" b="1">
                <a:solidFill>
                  <a:srgbClr val="D39216"/>
                </a:solidFill>
              </a:rPr>
              <a:t>23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B81905F-F783-4941-9AD1-E285D6F13C0B}"/>
              </a:ext>
            </a:extLst>
          </p:cNvPr>
          <p:cNvSpPr>
            <a:spLocks noGrp="1"/>
          </p:cNvSpPr>
          <p:nvPr/>
        </p:nvSpPr>
        <p:spPr>
          <a:xfrm>
            <a:off x="4191000" y="6715125"/>
            <a:ext cx="3810000" cy="1047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600" b="0">
                <a:solidFill>
                  <a:srgbClr val="BFD3E1"/>
                </a:solidFill>
              </a:defRPr>
            </a:pPr>
            <a:r>
              <a:rPr sz="600" b="0">
                <a:solidFill>
                  <a:srgbClr val="BFD3E1"/>
                </a:solidFill>
              </a:rPr>
              <a:t>Dr. C. Rajesh Babu | SSETSCS415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9A3EDF5-C202-44C8-A40A-307F74D4D6AC}"/>
              </a:ext>
            </a:extLst>
          </p:cNvPr>
          <p:cNvSpPr>
            <a:spLocks noGrp="1"/>
          </p:cNvSpPr>
          <p:nvPr/>
        </p:nvSpPr>
        <p:spPr>
          <a:xfrm>
            <a:off x="514350" y="2143125"/>
            <a:ext cx="5314950" cy="3619500"/>
          </a:xfrm>
          <a:prstGeom prst="rect">
            <a:avLst/>
          </a:prstGeom>
          <a:solidFill>
            <a:srgbClr val="FFFFFF"/>
          </a:solidFill>
          <a:ln w="9525">
            <a:solidFill>
              <a:srgbClr val="C9D6E2"/>
            </a:solidFill>
            <a:prstDash val="solid"/>
          </a:ln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BA7FBB6-47C8-4D48-8B07-DA9971C07ECB}"/>
              </a:ext>
            </a:extLst>
          </p:cNvPr>
          <p:cNvSpPr>
            <a:spLocks noGrp="1"/>
          </p:cNvSpPr>
          <p:nvPr/>
        </p:nvSpPr>
        <p:spPr>
          <a:xfrm>
            <a:off x="514350" y="2143125"/>
            <a:ext cx="57150" cy="3619500"/>
          </a:xfrm>
          <a:prstGeom prst="rect">
            <a:avLst/>
          </a:prstGeom>
          <a:solidFill>
            <a:srgbClr val="1264A3"/>
          </a:solidFill>
          <a:ln w="0">
            <a:solidFill>
              <a:srgbClr val="1264A3"/>
            </a:solidFill>
            <a:prstDash val="solid"/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7683C52-2FB8-4539-89B2-763D27646A36}"/>
              </a:ext>
            </a:extLst>
          </p:cNvPr>
          <p:cNvSpPr>
            <a:spLocks noGrp="1"/>
          </p:cNvSpPr>
          <p:nvPr/>
        </p:nvSpPr>
        <p:spPr>
          <a:xfrm>
            <a:off x="723900" y="2295525"/>
            <a:ext cx="4914900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900" b="1">
                <a:solidFill>
                  <a:srgbClr val="1264A3"/>
                </a:solidFill>
              </a:defRPr>
            </a:pPr>
            <a:r>
              <a:rPr sz="900" b="1">
                <a:solidFill>
                  <a:srgbClr val="1264A3"/>
                </a:solidFill>
              </a:rPr>
              <a:t>REFERENCES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B8D9922-0FF0-484D-AEE8-CA34232C4DF8}"/>
              </a:ext>
            </a:extLst>
          </p:cNvPr>
          <p:cNvSpPr>
            <a:spLocks noGrp="1"/>
          </p:cNvSpPr>
          <p:nvPr/>
        </p:nvSpPr>
        <p:spPr>
          <a:xfrm>
            <a:off x="723900" y="2600325"/>
            <a:ext cx="4914900" cy="3028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1125" b="0">
                <a:solidFill>
                  <a:srgbClr val="183247"/>
                </a:solidFill>
              </a:defRPr>
            </a:pPr>
            <a:r>
              <a:rPr sz="1125" b="0">
                <a:solidFill>
                  <a:srgbClr val="183247"/>
                </a:solidFill>
              </a:rPr>
              <a:t>1. Buyya, R., &amp; Beloglazov, A. (2024). Energy-efficiency and sustainability in new generation cloud computing. Software: Practice and Experience, 54, 24-38.</a:t>
            </a:r>
          </a:p>
          <a:p>
            <a:pPr>
              <a:defRPr sz="1125" b="0">
                <a:solidFill>
                  <a:srgbClr val="183247"/>
                </a:solidFill>
              </a:defRPr>
            </a:pPr>
            <a:r>
              <a:rPr sz="1125" b="0">
                <a:solidFill>
                  <a:srgbClr val="183247"/>
                </a:solidFill>
              </a:rPr>
              <a:t>2. Singh, P. K., Misra, S., Mittal, S., &amp; Kumar, S. (2024). Green Cloud Computing and Energy Efficiency: A Systematic Literature Review and Research Agenda. In Empowering Entrepreneurial Mindsets With AI (pp. 235-250). IGI Global.</a:t>
            </a:r>
          </a:p>
          <a:p>
            <a:pPr>
              <a:defRPr sz="1125" b="0">
                <a:solidFill>
                  <a:srgbClr val="183247"/>
                </a:solidFill>
              </a:defRPr>
            </a:pPr>
            <a:r>
              <a:rPr sz="1125" b="0">
                <a:solidFill>
                  <a:srgbClr val="183247"/>
                </a:solidFill>
              </a:rPr>
              <a:t>3. Chebet, K., &amp; Mbandu, V. (2024). Cloud-Enabled Machine Learning: A Framework for Revolutionizing Pharmacy Inventory Management in Nairobi County. International Journal of Professional Practice, 12(6).</a:t>
            </a:r>
          </a:p>
          <a:p>
            <a:pPr>
              <a:defRPr sz="1125" b="0">
                <a:solidFill>
                  <a:srgbClr val="183247"/>
                </a:solidFill>
              </a:defRPr>
            </a:pPr>
            <a:r>
              <a:rPr sz="1125" b="0">
                <a:solidFill>
                  <a:srgbClr val="183247"/>
                </a:solidFill>
              </a:rPr>
              <a:t>4. World Health Organization. (2024). Quality assurance of pharmaceuticals: A compendium of guidelines and related materials (10th ed.). World Health Organization.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E359FA9-AD44-4102-B048-54602CC89686}"/>
              </a:ext>
            </a:extLst>
          </p:cNvPr>
          <p:cNvSpPr>
            <a:spLocks noGrp="1"/>
          </p:cNvSpPr>
          <p:nvPr/>
        </p:nvSpPr>
        <p:spPr>
          <a:xfrm>
            <a:off x="6057900" y="2143125"/>
            <a:ext cx="5610225" cy="3619500"/>
          </a:xfrm>
          <a:prstGeom prst="rect">
            <a:avLst/>
          </a:prstGeom>
          <a:solidFill>
            <a:srgbClr val="FFFFFF"/>
          </a:solidFill>
          <a:ln w="9525">
            <a:solidFill>
              <a:srgbClr val="C9D6E2"/>
            </a:solidFill>
            <a:prstDash val="solid"/>
          </a:ln>
        </p:spPr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FCC089A-620B-46DC-BFE1-F1FF1557B83C}"/>
              </a:ext>
            </a:extLst>
          </p:cNvPr>
          <p:cNvSpPr>
            <a:spLocks noGrp="1"/>
          </p:cNvSpPr>
          <p:nvPr/>
        </p:nvSpPr>
        <p:spPr>
          <a:xfrm>
            <a:off x="6057900" y="2143125"/>
            <a:ext cx="57150" cy="3619500"/>
          </a:xfrm>
          <a:prstGeom prst="rect">
            <a:avLst/>
          </a:prstGeom>
          <a:solidFill>
            <a:srgbClr val="0B7895"/>
          </a:solidFill>
          <a:ln w="0">
            <a:solidFill>
              <a:srgbClr val="0B7895"/>
            </a:solidFill>
            <a:prstDash val="solid"/>
          </a:ln>
        </p:spPr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EEFC5DF6-F042-42D3-A658-0E53A4F040E1}"/>
              </a:ext>
            </a:extLst>
          </p:cNvPr>
          <p:cNvSpPr>
            <a:spLocks noGrp="1"/>
          </p:cNvSpPr>
          <p:nvPr/>
        </p:nvSpPr>
        <p:spPr>
          <a:xfrm>
            <a:off x="6267450" y="2295525"/>
            <a:ext cx="5210175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900" b="1">
                <a:solidFill>
                  <a:srgbClr val="0B7895"/>
                </a:solidFill>
              </a:defRPr>
            </a:pPr>
            <a:r>
              <a:rPr sz="900" b="1">
                <a:solidFill>
                  <a:srgbClr val="0B7895"/>
                </a:solidFill>
              </a:rPr>
              <a:t>PROJECT ARTEFACTS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03B46722-CA8B-4B50-9285-C7F0AEC6AA1C}"/>
              </a:ext>
            </a:extLst>
          </p:cNvPr>
          <p:cNvSpPr>
            <a:spLocks noGrp="1"/>
          </p:cNvSpPr>
          <p:nvPr/>
        </p:nvSpPr>
        <p:spPr>
          <a:xfrm>
            <a:off x="6267450" y="2600325"/>
            <a:ext cx="5210175" cy="3028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1125" b="0">
                <a:solidFill>
                  <a:srgbClr val="183247"/>
                </a:solidFill>
              </a:defRPr>
            </a:pPr>
            <a:r>
              <a:rPr sz="1125" b="0">
                <a:solidFill>
                  <a:srgbClr val="183247"/>
                </a:solidFill>
              </a:rPr>
              <a:t>GitHub repository: github.com/greenpharm-capstone/greenpharm</a:t>
            </a:r>
          </a:p>
          <a:p>
            <a:pPr>
              <a:defRPr sz="1125" b="0">
                <a:solidFill>
                  <a:srgbClr val="183247"/>
                </a:solidFill>
              </a:defRPr>
            </a:pPr>
            <a:r>
              <a:rPr sz="1125" b="0">
                <a:solidFill>
                  <a:srgbClr val="183247"/>
                </a:solidFill>
              </a:rPr>
              <a:t>Live deployment: https://greenpharm-demo.onrender.com</a:t>
            </a:r>
          </a:p>
          <a:p>
            <a:pPr>
              <a:defRPr sz="1125" b="0">
                <a:solidFill>
                  <a:srgbClr val="183247"/>
                </a:solidFill>
              </a:defRPr>
            </a:pPr>
            <a:r>
              <a:rPr sz="1125" b="0">
                <a:solidFill>
                  <a:srgbClr val="183247"/>
                </a:solidFill>
              </a:rPr>
              <a:t>Demo video: [add your recorded demo link]</a:t>
            </a:r>
          </a:p>
          <a:p>
            <a:pPr>
              <a:defRPr sz="1125" b="0">
                <a:solidFill>
                  <a:srgbClr val="183247"/>
                </a:solidFill>
              </a:defRPr>
            </a:pPr>
            <a:r>
              <a:rPr sz="1125" b="0">
                <a:solidFill>
                  <a:srgbClr val="183247"/>
                </a:solidFill>
              </a:rPr>
              <a:t>Dataset / API: internal PostgreSQL schema (see repository /db)</a:t>
            </a:r>
          </a:p>
          <a:p>
            <a:pPr>
              <a:defRPr sz="1125" b="0">
                <a:solidFill>
                  <a:srgbClr val="183247"/>
                </a:solidFill>
              </a:defRPr>
            </a:pPr>
            <a:r>
              <a:rPr sz="1125" b="0">
                <a:solidFill>
                  <a:srgbClr val="183247"/>
                </a:solidFill>
              </a:rPr>
              <a:t>Architecture source: see repository /docs/architecture</a:t>
            </a:r>
          </a:p>
          <a:p>
            <a:pPr>
              <a:defRPr sz="1125" b="0">
                <a:solidFill>
                  <a:srgbClr val="183247"/>
                </a:solidFill>
              </a:defRPr>
            </a:pPr>
            <a:r>
              <a:rPr sz="1125" b="0">
                <a:solidFill>
                  <a:srgbClr val="183247"/>
                </a:solidFill>
              </a:rPr>
              <a:t>Test report: see repository /docs/test-report</a:t>
            </a:r>
          </a:p>
          <a:p>
            <a:pPr>
              <a:defRPr sz="1125" b="0">
                <a:solidFill>
                  <a:srgbClr val="183247"/>
                </a:solidFill>
              </a:defRPr>
            </a:pPr>
            <a:r>
              <a:rPr sz="1125" b="0">
                <a:solidFill>
                  <a:srgbClr val="183247"/>
                </a:solidFill>
              </a:rPr>
              <a:t>User / setup documentation: see repository README</a:t>
            </a:r>
          </a:p>
        </p:txBody>
      </p:sp>
    </p:spTree>
    <p:extLst>
      <p:ext uri="{BB962C8B-B14F-4D97-AF65-F5344CB8AC3E}">
        <p14:creationId xmlns:p14="http://schemas.microsoft.com/office/powerpoint/2010/main" val="210316627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2E4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Rectangle 35">
            <a:extLst>
              <a:ext uri="{FF2B5EF4-FFF2-40B4-BE49-F238E27FC236}">
                <a16:creationId xmlns:a16="http://schemas.microsoft.com/office/drawing/2014/main" id="{2E830572-2B6E-4843-8324-FEB3FE1EAFA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82475" cy="76200"/>
          </a:xfrm>
          <a:prstGeom prst="rect">
            <a:avLst/>
          </a:prstGeom>
          <a:solidFill>
            <a:srgbClr val="0B7895"/>
          </a:solidFill>
          <a:ln w="0">
            <a:solidFill>
              <a:srgbClr val="0B7895"/>
            </a:solidFill>
            <a:prstDash val="solid"/>
          </a:ln>
        </p:spPr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A56ABDB2-2E56-4D1C-A19E-76D21D910991}"/>
              </a:ext>
            </a:extLst>
          </p:cNvPr>
          <p:cNvSpPr>
            <a:spLocks noGrp="1"/>
          </p:cNvSpPr>
          <p:nvPr/>
        </p:nvSpPr>
        <p:spPr>
          <a:xfrm>
            <a:off x="438150" y="228600"/>
            <a:ext cx="1000125" cy="552450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9525">
            <a:solidFill>
              <a:srgbClr val="C9D6E2"/>
            </a:solidFill>
            <a:prstDash val="solid"/>
          </a:ln>
        </p:spPr>
      </p:sp>
      <p:pic>
        <p:nvPicPr>
          <p:cNvPr id="38" name="Picture 37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514350" y="450359"/>
            <a:ext cx="847725" cy="108932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6E96BAEE-A609-4FE2-820B-7F40B4020045}"/>
              </a:ext>
            </a:extLst>
          </p:cNvPr>
          <p:cNvSpPr>
            <a:spLocks noGrp="1"/>
          </p:cNvSpPr>
          <p:nvPr/>
        </p:nvSpPr>
        <p:spPr>
          <a:xfrm>
            <a:off x="1657350" y="266700"/>
            <a:ext cx="6953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900" b="1">
                <a:solidFill>
                  <a:srgbClr val="1264A3"/>
                </a:solidFill>
              </a:defRPr>
            </a:pPr>
            <a:r>
              <a:rPr sz="900" b="1">
                <a:solidFill>
                  <a:srgbClr val="1264A3"/>
                </a:solidFill>
              </a:rPr>
              <a:t>CSA15  |  CLOUD COMPUTING AND BIG DATA ANALYTICS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0D4C005-354A-4006-9A32-E13D125786A9}"/>
              </a:ext>
            </a:extLst>
          </p:cNvPr>
          <p:cNvSpPr>
            <a:spLocks noGrp="1"/>
          </p:cNvSpPr>
          <p:nvPr/>
        </p:nvSpPr>
        <p:spPr>
          <a:xfrm>
            <a:off x="9572625" y="266700"/>
            <a:ext cx="2095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825" b="1">
                <a:solidFill>
                  <a:srgbClr val="0B7895"/>
                </a:solidFill>
              </a:defRPr>
            </a:pPr>
            <a:r>
              <a:rPr sz="825" b="1">
                <a:solidFill>
                  <a:srgbClr val="0B7895"/>
                </a:solidFill>
              </a:rPr>
              <a:t>CAPSTONE FINAL DEFENSE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6322D6E-E139-433F-900B-EC9C53086C57}"/>
              </a:ext>
            </a:extLst>
          </p:cNvPr>
          <p:cNvSpPr>
            <a:spLocks noGrp="1"/>
          </p:cNvSpPr>
          <p:nvPr/>
        </p:nvSpPr>
        <p:spPr>
          <a:xfrm>
            <a:off x="514350" y="981075"/>
            <a:ext cx="102870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2325" b="1">
                <a:solidFill>
                  <a:srgbClr val="0B2E4F"/>
                </a:solidFill>
              </a:defRPr>
            </a:pPr>
            <a:r>
              <a:rPr sz="2325" b="1">
                <a:solidFill>
                  <a:srgbClr val="0B2E4F"/>
                </a:solidFill>
              </a:rPr>
              <a:t>Final Infrastructure Defense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C610B87-7EE5-4752-98E1-06EBA2B08646}"/>
              </a:ext>
            </a:extLst>
          </p:cNvPr>
          <p:cNvSpPr>
            <a:spLocks noGrp="1"/>
          </p:cNvSpPr>
          <p:nvPr/>
        </p:nvSpPr>
        <p:spPr>
          <a:xfrm>
            <a:off x="533400" y="1457325"/>
            <a:ext cx="10287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1125" b="0">
                <a:solidFill>
                  <a:srgbClr val="52677A"/>
                </a:solidFill>
              </a:defRPr>
            </a:pPr>
            <a:r>
              <a:rPr sz="1125" b="0">
                <a:solidFill>
                  <a:srgbClr val="52677A"/>
                </a:solidFill>
              </a:rPr>
              <a:t>Close with the problem, decisive architecture choice, evidence and measurable impact.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E9C816F-4B23-48A4-8A4B-8D9A9C9B35A6}"/>
              </a:ext>
            </a:extLst>
          </p:cNvPr>
          <p:cNvSpPr>
            <a:spLocks noGrp="1"/>
          </p:cNvSpPr>
          <p:nvPr/>
        </p:nvSpPr>
        <p:spPr>
          <a:xfrm>
            <a:off x="514350" y="1847850"/>
            <a:ext cx="11153775" cy="19050"/>
          </a:xfrm>
          <a:prstGeom prst="rect">
            <a:avLst/>
          </a:prstGeom>
          <a:solidFill>
            <a:srgbClr val="C9D6E2"/>
          </a:solidFill>
          <a:ln w="0">
            <a:solidFill>
              <a:srgbClr val="C9D6E2"/>
            </a:solidFill>
            <a:prstDash val="solid"/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F4A3ED9-C800-4926-856A-2B74684621D3}"/>
              </a:ext>
            </a:extLst>
          </p:cNvPr>
          <p:cNvSpPr>
            <a:spLocks noGrp="1"/>
          </p:cNvSpPr>
          <p:nvPr/>
        </p:nvSpPr>
        <p:spPr>
          <a:xfrm>
            <a:off x="0" y="6419850"/>
            <a:ext cx="12182475" cy="438150"/>
          </a:xfrm>
          <a:prstGeom prst="rect">
            <a:avLst/>
          </a:prstGeom>
          <a:solidFill>
            <a:srgbClr val="0B2E4F"/>
          </a:solidFill>
          <a:ln w="0">
            <a:solidFill>
              <a:srgbClr val="0B2E4F"/>
            </a:solidFill>
            <a:prstDash val="solid"/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A70488D-14EB-4EF5-A67A-2C9C5F1E9C94}"/>
              </a:ext>
            </a:extLst>
          </p:cNvPr>
          <p:cNvSpPr>
            <a:spLocks noGrp="1"/>
          </p:cNvSpPr>
          <p:nvPr/>
        </p:nvSpPr>
        <p:spPr>
          <a:xfrm>
            <a:off x="11049000" y="6515100"/>
            <a:ext cx="6191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975" b="1">
                <a:solidFill>
                  <a:srgbClr val="D39216"/>
                </a:solidFill>
              </a:defRPr>
            </a:pPr>
            <a:r>
              <a:rPr sz="975" b="1">
                <a:solidFill>
                  <a:srgbClr val="D39216"/>
                </a:solidFill>
              </a:rPr>
              <a:t>24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892418E-1E77-4F16-BD7F-E85DBE480173}"/>
              </a:ext>
            </a:extLst>
          </p:cNvPr>
          <p:cNvSpPr>
            <a:spLocks noGrp="1"/>
          </p:cNvSpPr>
          <p:nvPr/>
        </p:nvSpPr>
        <p:spPr>
          <a:xfrm>
            <a:off x="4191000" y="6715125"/>
            <a:ext cx="3810000" cy="1047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600" b="0">
                <a:solidFill>
                  <a:srgbClr val="BFD3E1"/>
                </a:solidFill>
              </a:defRPr>
            </a:pPr>
            <a:r>
              <a:rPr sz="600" b="0">
                <a:solidFill>
                  <a:srgbClr val="BFD3E1"/>
                </a:solidFill>
              </a:rPr>
              <a:t>Dr. C. Rajesh Babu | SSETSCS415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D31B9EA-9E37-49EB-B239-BEB461AB3B4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71450" cy="6858000"/>
          </a:xfrm>
          <a:prstGeom prst="rect">
            <a:avLst/>
          </a:prstGeom>
          <a:solidFill>
            <a:srgbClr val="D39216"/>
          </a:solidFill>
          <a:ln w="0">
            <a:solidFill>
              <a:srgbClr val="D39216"/>
            </a:solidFill>
            <a:prstDash val="solid"/>
          </a:ln>
        </p:spPr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8653A2B5-B18C-4761-A8D0-F981873ACAEC}"/>
              </a:ext>
            </a:extLst>
          </p:cNvPr>
          <p:cNvSpPr>
            <a:spLocks noGrp="1"/>
          </p:cNvSpPr>
          <p:nvPr/>
        </p:nvSpPr>
        <p:spPr>
          <a:xfrm>
            <a:off x="438150" y="228600"/>
            <a:ext cx="1000125" cy="552450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0">
            <a:solidFill>
              <a:srgbClr val="FFFFFF"/>
            </a:solidFill>
            <a:prstDash val="solid"/>
          </a:ln>
        </p:spPr>
      </p:sp>
      <p:pic>
        <p:nvPicPr>
          <p:cNvPr id="50" name="Picture 49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514350" y="450359"/>
            <a:ext cx="847725" cy="108932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F8CBE589-1C34-4B9A-AE43-174BED8706C3}"/>
              </a:ext>
            </a:extLst>
          </p:cNvPr>
          <p:cNvSpPr>
            <a:spLocks noGrp="1"/>
          </p:cNvSpPr>
          <p:nvPr/>
        </p:nvSpPr>
        <p:spPr>
          <a:xfrm>
            <a:off x="1676400" y="381000"/>
            <a:ext cx="6667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1050" b="1">
                <a:solidFill>
                  <a:srgbClr val="D39216"/>
                </a:solidFill>
              </a:defRPr>
            </a:pPr>
            <a:r>
              <a:rPr sz="1050" b="1">
                <a:solidFill>
                  <a:srgbClr val="D39216"/>
                </a:solidFill>
              </a:rPr>
              <a:t>FINAL INFRASTRUCTURE DEFENSE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3B00316-8891-4C7C-BB6B-55AF17867D0C}"/>
              </a:ext>
            </a:extLst>
          </p:cNvPr>
          <p:cNvSpPr>
            <a:spLocks noGrp="1"/>
          </p:cNvSpPr>
          <p:nvPr/>
        </p:nvSpPr>
        <p:spPr>
          <a:xfrm>
            <a:off x="514350" y="1181100"/>
            <a:ext cx="106680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GreenPharm: A Green Cloud-Based Pharmacy Inventory Management System for Sustainable Inventory Optimization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BAF3CB5C-09E4-4A74-A831-CBF2DB3FB917}"/>
              </a:ext>
            </a:extLst>
          </p:cNvPr>
          <p:cNvSpPr>
            <a:spLocks noGrp="1"/>
          </p:cNvSpPr>
          <p:nvPr/>
        </p:nvSpPr>
        <p:spPr>
          <a:xfrm>
            <a:off x="533400" y="1885950"/>
            <a:ext cx="809625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1350" b="0">
                <a:solidFill>
                  <a:srgbClr val="DCEAF3"/>
                </a:solidFill>
              </a:defRPr>
            </a:pPr>
            <a:r>
              <a:rPr sz="1350" b="0">
                <a:solidFill>
                  <a:srgbClr val="DCEAF3"/>
                </a:solidFill>
              </a:rPr>
              <a:t>Close with one defensible sentence for each decision.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90D9DF91-17DE-432A-AB0B-13DD48E86643}"/>
              </a:ext>
            </a:extLst>
          </p:cNvPr>
          <p:cNvSpPr>
            <a:spLocks noGrp="1"/>
          </p:cNvSpPr>
          <p:nvPr/>
        </p:nvSpPr>
        <p:spPr>
          <a:xfrm>
            <a:off x="514350" y="2647950"/>
            <a:ext cx="2562225" cy="1809750"/>
          </a:xfrm>
          <a:prstGeom prst="rect">
            <a:avLst/>
          </a:prstGeom>
          <a:solidFill>
            <a:srgbClr val="1264A3"/>
          </a:solidFill>
          <a:ln w="0">
            <a:noFill/>
            <a:prstDash val="solid"/>
          </a:ln>
        </p:spPr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3625F6B4-071B-43CC-BCBC-53AB5A5E5333}"/>
              </a:ext>
            </a:extLst>
          </p:cNvPr>
          <p:cNvSpPr>
            <a:spLocks noGrp="1"/>
          </p:cNvSpPr>
          <p:nvPr/>
        </p:nvSpPr>
        <p:spPr>
          <a:xfrm>
            <a:off x="704850" y="2838450"/>
            <a:ext cx="218122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01  PROBLEM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258F9339-D870-416A-8651-A3A563FB7B6F}"/>
              </a:ext>
            </a:extLst>
          </p:cNvPr>
          <p:cNvSpPr>
            <a:spLocks noGrp="1"/>
          </p:cNvSpPr>
          <p:nvPr/>
        </p:nvSpPr>
        <p:spPr>
          <a:xfrm>
            <a:off x="704850" y="3276600"/>
            <a:ext cx="2181225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1200" b="0">
                <a:solidFill>
                  <a:srgbClr val="FFFFFF"/>
                </a:solidFill>
              </a:defRPr>
            </a:pPr>
            <a:r>
              <a:rPr sz="1200" b="0">
                <a:solidFill>
                  <a:srgbClr val="FFFFFF"/>
                </a:solidFill>
              </a:rPr>
              <a:t>Pharmacies face overstocking, medicine expiry, stock shortages and poor inventory tracking, leading to financial loss and pharmaceutical waste.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2BF91F7-514F-4C8D-9976-4324F675E392}"/>
              </a:ext>
            </a:extLst>
          </p:cNvPr>
          <p:cNvSpPr>
            <a:spLocks noGrp="1"/>
          </p:cNvSpPr>
          <p:nvPr/>
        </p:nvSpPr>
        <p:spPr>
          <a:xfrm>
            <a:off x="3305175" y="2647950"/>
            <a:ext cx="2562225" cy="1809750"/>
          </a:xfrm>
          <a:prstGeom prst="rect">
            <a:avLst/>
          </a:prstGeom>
          <a:solidFill>
            <a:srgbClr val="1264A3"/>
          </a:solidFill>
          <a:ln w="0">
            <a:noFill/>
            <a:prstDash val="solid"/>
          </a:ln>
        </p:spPr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CFD63708-619F-45EC-A8BC-936EE3D1E62D}"/>
              </a:ext>
            </a:extLst>
          </p:cNvPr>
          <p:cNvSpPr>
            <a:spLocks noGrp="1"/>
          </p:cNvSpPr>
          <p:nvPr/>
        </p:nvSpPr>
        <p:spPr>
          <a:xfrm>
            <a:off x="3495675" y="2838450"/>
            <a:ext cx="218122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02  ARCHITECTURE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8F2ABCCF-732D-4B89-A9FF-1EC208087AC0}"/>
              </a:ext>
            </a:extLst>
          </p:cNvPr>
          <p:cNvSpPr>
            <a:spLocks noGrp="1"/>
          </p:cNvSpPr>
          <p:nvPr/>
        </p:nvSpPr>
        <p:spPr>
          <a:xfrm>
            <a:off x="3495675" y="3276600"/>
            <a:ext cx="2181225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1200" b="0">
                <a:solidFill>
                  <a:srgbClr val="FFFFFF"/>
                </a:solidFill>
              </a:defRPr>
            </a:pPr>
            <a:r>
              <a:rPr sz="1200" b="0">
                <a:solidFill>
                  <a:srgbClr val="FFFFFF"/>
                </a:solidFill>
              </a:rPr>
              <a:t>A modular React + FastAPI + PostgreSQL cloud web app with role-based access, separating inventory/supplier, expiry-monitoring and analytics/user-management into independent modules with lightweight, efficient queries.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CAD3964C-ADB5-40E2-A0B9-B481BDA37C38}"/>
              </a:ext>
            </a:extLst>
          </p:cNvPr>
          <p:cNvSpPr>
            <a:spLocks noGrp="1"/>
          </p:cNvSpPr>
          <p:nvPr/>
        </p:nvSpPr>
        <p:spPr>
          <a:xfrm>
            <a:off x="6096000" y="2647950"/>
            <a:ext cx="2562225" cy="1809750"/>
          </a:xfrm>
          <a:prstGeom prst="rect">
            <a:avLst/>
          </a:prstGeom>
          <a:solidFill>
            <a:srgbClr val="1264A3"/>
          </a:solidFill>
          <a:ln w="0">
            <a:noFill/>
            <a:prstDash val="solid"/>
          </a:ln>
        </p:spPr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799B6770-B53B-4CE8-BE13-C167F4C22721}"/>
              </a:ext>
            </a:extLst>
          </p:cNvPr>
          <p:cNvSpPr>
            <a:spLocks noGrp="1"/>
          </p:cNvSpPr>
          <p:nvPr/>
        </p:nvSpPr>
        <p:spPr>
          <a:xfrm>
            <a:off x="6286500" y="2838450"/>
            <a:ext cx="218122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03  EVIDENCE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F22679CD-AC4D-4233-A517-6CCDB948FAF2}"/>
              </a:ext>
            </a:extLst>
          </p:cNvPr>
          <p:cNvSpPr>
            <a:spLocks noGrp="1"/>
          </p:cNvSpPr>
          <p:nvPr/>
        </p:nvSpPr>
        <p:spPr>
          <a:xfrm>
            <a:off x="6286500" y="3276600"/>
            <a:ext cx="2181225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1200" b="0">
                <a:solidFill>
                  <a:srgbClr val="FFFFFF"/>
                </a:solidFill>
              </a:defRPr>
            </a:pPr>
            <a:r>
              <a:rPr sz="1200" b="0">
                <a:solidFill>
                  <a:srgbClr val="FFFFFF"/>
                </a:solidFill>
              </a:rPr>
              <a:t>100% of test near-expiry/expired records were correctly flagged, and the dashboard accurately reflected live stock and expiry status across all test scenarios.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C5E21867-D3BD-4101-B16A-7E6C460C71FB}"/>
              </a:ext>
            </a:extLst>
          </p:cNvPr>
          <p:cNvSpPr>
            <a:spLocks noGrp="1"/>
          </p:cNvSpPr>
          <p:nvPr/>
        </p:nvSpPr>
        <p:spPr>
          <a:xfrm>
            <a:off x="8886825" y="2647950"/>
            <a:ext cx="2562225" cy="1809750"/>
          </a:xfrm>
          <a:prstGeom prst="rect">
            <a:avLst/>
          </a:prstGeom>
          <a:solidFill>
            <a:srgbClr val="D39216"/>
          </a:solidFill>
          <a:ln w="0">
            <a:noFill/>
            <a:prstDash val="solid"/>
          </a:ln>
        </p:spPr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3605AF17-5C09-4450-AD68-AC588DFB1952}"/>
              </a:ext>
            </a:extLst>
          </p:cNvPr>
          <p:cNvSpPr>
            <a:spLocks noGrp="1"/>
          </p:cNvSpPr>
          <p:nvPr/>
        </p:nvSpPr>
        <p:spPr>
          <a:xfrm>
            <a:off x="9077325" y="2838450"/>
            <a:ext cx="218122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04  IMPACT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0EBE0ABB-36BB-40A8-9F4F-FBD3EAB94D78}"/>
              </a:ext>
            </a:extLst>
          </p:cNvPr>
          <p:cNvSpPr>
            <a:spLocks noGrp="1"/>
          </p:cNvSpPr>
          <p:nvPr/>
        </p:nvSpPr>
        <p:spPr>
          <a:xfrm>
            <a:off x="9077325" y="3276600"/>
            <a:ext cx="2181225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1200" b="0">
                <a:solidFill>
                  <a:srgbClr val="FFFFFF"/>
                </a:solidFill>
              </a:defRPr>
            </a:pPr>
            <a:r>
              <a:rPr sz="1200" b="0">
                <a:solidFill>
                  <a:srgbClr val="FFFFFF"/>
                </a:solidFill>
              </a:rPr>
              <a:t>Reduces pharmaceutical waste and supports better inventory decisions for pharmacy staff, aligned with SDG 3 and SDG 12.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63C97918-8B8A-4EA2-8329-EBA0C0A20885}"/>
              </a:ext>
            </a:extLst>
          </p:cNvPr>
          <p:cNvSpPr>
            <a:spLocks noGrp="1"/>
          </p:cNvSpPr>
          <p:nvPr/>
        </p:nvSpPr>
        <p:spPr>
          <a:xfrm>
            <a:off x="514350" y="4762500"/>
            <a:ext cx="10934700" cy="1066800"/>
          </a:xfrm>
          <a:prstGeom prst="rect">
            <a:avLst/>
          </a:prstGeom>
          <a:solidFill>
            <a:srgbClr val="123C60"/>
          </a:solidFill>
          <a:ln w="9525">
            <a:solidFill>
              <a:srgbClr val="5E87A5"/>
            </a:solidFill>
            <a:prstDash val="solid"/>
          </a:ln>
        </p:spPr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1D2601EF-4ECC-492C-ABCB-5096D499AB13}"/>
              </a:ext>
            </a:extLst>
          </p:cNvPr>
          <p:cNvSpPr>
            <a:spLocks noGrp="1"/>
          </p:cNvSpPr>
          <p:nvPr/>
        </p:nvSpPr>
        <p:spPr>
          <a:xfrm>
            <a:off x="742950" y="4924425"/>
            <a:ext cx="2667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900" b="1">
                <a:solidFill>
                  <a:srgbClr val="D39216"/>
                </a:solidFill>
              </a:defRPr>
            </a:pPr>
            <a:r>
              <a:rPr sz="900" b="1">
                <a:solidFill>
                  <a:srgbClr val="D39216"/>
                </a:solidFill>
              </a:rPr>
              <a:t>FINAL DEFENSE STATEMENT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539FCCAC-1BE3-41F0-AE06-F7BDA3544CA2}"/>
              </a:ext>
            </a:extLst>
          </p:cNvPr>
          <p:cNvSpPr>
            <a:spLocks noGrp="1"/>
          </p:cNvSpPr>
          <p:nvPr/>
        </p:nvSpPr>
        <p:spPr>
          <a:xfrm>
            <a:off x="742950" y="5219700"/>
            <a:ext cx="103251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The current build is a validated functional prototype suitable for pilot testing; before production it needs load testing at scale, a real-pharmacy data pilot, and hardened deployment monitoring.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0E633B18-D7AB-4693-AAAB-562A59A1C072}"/>
              </a:ext>
            </a:extLst>
          </p:cNvPr>
          <p:cNvSpPr>
            <a:spLocks noGrp="1"/>
          </p:cNvSpPr>
          <p:nvPr/>
        </p:nvSpPr>
        <p:spPr>
          <a:xfrm>
            <a:off x="514350" y="6343650"/>
            <a:ext cx="109347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THANK YOU  |  QUESTIONS AND TECHNICAL DEFENSE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ECD82457-F3B2-4A4E-9E2D-CD39B2EE78CC}"/>
              </a:ext>
            </a:extLst>
          </p:cNvPr>
          <p:cNvSpPr>
            <a:spLocks noGrp="1"/>
          </p:cNvSpPr>
          <p:nvPr/>
        </p:nvSpPr>
        <p:spPr>
          <a:xfrm>
            <a:off x="4191000" y="6705600"/>
            <a:ext cx="3810000" cy="1047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600" b="0">
                <a:solidFill>
                  <a:srgbClr val="BFD3E1"/>
                </a:solidFill>
              </a:defRPr>
            </a:pPr>
            <a:r>
              <a:rPr sz="600" b="0">
                <a:solidFill>
                  <a:srgbClr val="BFD3E1"/>
                </a:solidFill>
              </a:rPr>
              <a:t>Dr. C. Rajesh Babu | SSETSCS415</a:t>
            </a:r>
          </a:p>
        </p:txBody>
      </p:sp>
    </p:spTree>
    <p:extLst>
      <p:ext uri="{BB962C8B-B14F-4D97-AF65-F5344CB8AC3E}">
        <p14:creationId xmlns:p14="http://schemas.microsoft.com/office/powerpoint/2010/main" val="64399429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4999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0000" dir="5400000" rotWithShape="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4999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0000" dir="5400000" rotWithShape="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100</TotalTime>
  <Words>5290</Words>
  <Application>Microsoft Office PowerPoint</Application>
  <DocSecurity>0</DocSecurity>
  <PresentationFormat>Custom</PresentationFormat>
  <Paragraphs>540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CSA15 Capstone Project Final Presentation Template</dc:title>
  <dc:subject>Cloud Computing and Big Data Analytics</dc:subject>
  <dc:creator>Dr. C. Rajesh Babu</dc:creator>
  <dc:description>Professional student final presentation template for CSA15. Faculty owner: Dr. C. Rajesh Babu, SSETSCS415.</dc:description>
  <cp:lastModifiedBy>Tharuniya Dhayalan</cp:lastModifiedBy>
  <cp:revision>4</cp:revision>
  <dcterms:created xsi:type="dcterms:W3CDTF">2026-08-27T05:21:13Z</dcterms:created>
  <dcterms:modified xsi:type="dcterms:W3CDTF">2026-09-04T10:39:19Z</dcterms:modified>
</cp:coreProperties>
</file>